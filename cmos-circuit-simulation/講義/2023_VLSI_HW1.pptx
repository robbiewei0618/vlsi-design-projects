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media/image35.jpg" ContentType="image/jpeg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97" r:id="rId1"/>
  </p:sldMasterIdLst>
  <p:notesMasterIdLst>
    <p:notesMasterId r:id="rId42"/>
  </p:notesMasterIdLst>
  <p:handoutMasterIdLst>
    <p:handoutMasterId r:id="rId43"/>
  </p:handoutMasterIdLst>
  <p:sldIdLst>
    <p:sldId id="2775" r:id="rId2"/>
    <p:sldId id="2840" r:id="rId3"/>
    <p:sldId id="2841" r:id="rId4"/>
    <p:sldId id="2842" r:id="rId5"/>
    <p:sldId id="2843" r:id="rId6"/>
    <p:sldId id="2844" r:id="rId7"/>
    <p:sldId id="2845" r:id="rId8"/>
    <p:sldId id="2846" r:id="rId9"/>
    <p:sldId id="2847" r:id="rId10"/>
    <p:sldId id="2848" r:id="rId11"/>
    <p:sldId id="2849" r:id="rId12"/>
    <p:sldId id="2850" r:id="rId13"/>
    <p:sldId id="2851" r:id="rId14"/>
    <p:sldId id="2852" r:id="rId15"/>
    <p:sldId id="2853" r:id="rId16"/>
    <p:sldId id="2854" r:id="rId17"/>
    <p:sldId id="2855" r:id="rId18"/>
    <p:sldId id="2856" r:id="rId19"/>
    <p:sldId id="2857" r:id="rId20"/>
    <p:sldId id="2858" r:id="rId21"/>
    <p:sldId id="2862" r:id="rId22"/>
    <p:sldId id="2868" r:id="rId23"/>
    <p:sldId id="2859" r:id="rId24"/>
    <p:sldId id="2861" r:id="rId25"/>
    <p:sldId id="2863" r:id="rId26"/>
    <p:sldId id="2869" r:id="rId27"/>
    <p:sldId id="2865" r:id="rId28"/>
    <p:sldId id="2864" r:id="rId29"/>
    <p:sldId id="2866" r:id="rId30"/>
    <p:sldId id="2867" r:id="rId31"/>
    <p:sldId id="2873" r:id="rId32"/>
    <p:sldId id="2871" r:id="rId33"/>
    <p:sldId id="2872" r:id="rId34"/>
    <p:sldId id="2874" r:id="rId35"/>
    <p:sldId id="2875" r:id="rId36"/>
    <p:sldId id="2876" r:id="rId37"/>
    <p:sldId id="2878" r:id="rId38"/>
    <p:sldId id="2877" r:id="rId39"/>
    <p:sldId id="2860" r:id="rId40"/>
    <p:sldId id="2794" r:id="rId41"/>
  </p:sldIdLst>
  <p:sldSz cx="12858750" cy="7232650"/>
  <p:notesSz cx="6858000" cy="9144000"/>
  <p:custDataLst>
    <p:tags r:id="rId44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639763" indent="-182563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925638" indent="-554038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8" userDrawn="1">
          <p15:clr>
            <a:srgbClr val="A4A3A4"/>
          </p15:clr>
        </p15:guide>
        <p15:guide id="2" pos="4050" userDrawn="1">
          <p15:clr>
            <a:srgbClr val="A4A3A4"/>
          </p15:clr>
        </p15:guide>
        <p15:guide id="3" pos="557" userDrawn="1">
          <p15:clr>
            <a:srgbClr val="A4A3A4"/>
          </p15:clr>
        </p15:guide>
        <p15:guide id="5" orient="horz" pos="4183" userDrawn="1">
          <p15:clr>
            <a:srgbClr val="A4A3A4"/>
          </p15:clr>
        </p15:guide>
        <p15:guide id="6" pos="7497" userDrawn="1">
          <p15:clr>
            <a:srgbClr val="A4A3A4"/>
          </p15:clr>
        </p15:guide>
        <p15:guide id="7" pos="69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0099"/>
    <a:srgbClr val="99FF66"/>
    <a:srgbClr val="2DDE45"/>
    <a:srgbClr val="003366"/>
    <a:srgbClr val="009999"/>
    <a:srgbClr val="058D2A"/>
    <a:srgbClr val="FFFFFF"/>
    <a:srgbClr val="1F4C6B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48" autoAdjust="0"/>
    <p:restoredTop sz="95394" autoAdjust="0"/>
  </p:normalViewPr>
  <p:slideViewPr>
    <p:cSldViewPr>
      <p:cViewPr varScale="1">
        <p:scale>
          <a:sx n="100" d="100"/>
          <a:sy n="100" d="100"/>
        </p:scale>
        <p:origin x="912" y="84"/>
      </p:cViewPr>
      <p:guideLst>
        <p:guide orient="horz" pos="328"/>
        <p:guide pos="4050"/>
        <p:guide pos="557"/>
        <p:guide orient="horz" pos="4183"/>
        <p:guide pos="7497"/>
        <p:guide pos="6908"/>
      </p:guideLst>
    </p:cSldViewPr>
  </p:slideViewPr>
  <p:outlineViewPr>
    <p:cViewPr>
      <p:scale>
        <a:sx n="100" d="100"/>
        <a:sy n="100" d="100"/>
      </p:scale>
      <p:origin x="0" y="-2055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6" d="100"/>
        <a:sy n="86" d="100"/>
      </p:scale>
      <p:origin x="0" y="0"/>
    </p:cViewPr>
  </p:sorterViewPr>
  <p:notesViewPr>
    <p:cSldViewPr>
      <p:cViewPr varScale="1">
        <p:scale>
          <a:sx n="65" d="100"/>
          <a:sy n="65" d="100"/>
        </p:scale>
        <p:origin x="2796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30DBF-D010-4114-9DE3-41E342A27C18}" type="datetimeFigureOut">
              <a:rPr lang="zh-CN" altLang="en-US" smtClean="0"/>
              <a:t>2023/3/9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1D107-4CC9-43CA-8CA8-36E1DF70D5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66600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6024D97-E667-405D-B634-E583E2108D71}" type="datetimeFigureOut">
              <a:rPr lang="zh-CN" altLang="en-US"/>
              <a:pPr>
                <a:defRPr/>
              </a:pPr>
              <a:t>2023/3/9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18F03C3-53C1-4F10-8DAF-D1F318E96C6E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05404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455613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912813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370013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1827213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285493" algn="l" defTabSz="914197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92" algn="l" defTabSz="914197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692" algn="l" defTabSz="914197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788" algn="l" defTabSz="914197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B02EC-97C0-4E19-AA45-E904FCC1D11E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14979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B02EC-97C0-4E19-AA45-E904FCC1D11E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21816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B02EC-97C0-4E19-AA45-E904FCC1D11E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59541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B02EC-97C0-4E19-AA45-E904FCC1D11E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34070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B02EC-97C0-4E19-AA45-E904FCC1D11E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2679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B02EC-97C0-4E19-AA45-E904FCC1D11E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95065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B02EC-97C0-4E19-AA45-E904FCC1D11E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57945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B02EC-97C0-4E19-AA45-E904FCC1D11E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08715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B02EC-97C0-4E19-AA45-E904FCC1D11E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98093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B02EC-97C0-4E19-AA45-E904FCC1D11E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84864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B02EC-97C0-4E19-AA45-E904FCC1D11E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8657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B02EC-97C0-4E19-AA45-E904FCC1D11E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98916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B02EC-97C0-4E19-AA45-E904FCC1D11E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92428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B02EC-97C0-4E19-AA45-E904FCC1D11E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39785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B02EC-97C0-4E19-AA45-E904FCC1D11E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21513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B02EC-97C0-4E19-AA45-E904FCC1D11E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4658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B02EC-97C0-4E19-AA45-E904FCC1D11E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95489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B02EC-97C0-4E19-AA45-E904FCC1D11E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78969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B02EC-97C0-4E19-AA45-E904FCC1D11E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52114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B02EC-97C0-4E19-AA45-E904FCC1D11E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59028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B02EC-97C0-4E19-AA45-E904FCC1D11E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86592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B02EC-97C0-4E19-AA45-E904FCC1D11E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829097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B02EC-97C0-4E19-AA45-E904FCC1D11E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700864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B02EC-97C0-4E19-AA45-E904FCC1D11E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23690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B02EC-97C0-4E19-AA45-E904FCC1D11E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23882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B02EC-97C0-4E19-AA45-E904FCC1D11E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254750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B02EC-97C0-4E19-AA45-E904FCC1D11E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607664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B02EC-97C0-4E19-AA45-E904FCC1D11E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290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B02EC-97C0-4E19-AA45-E904FCC1D11E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55399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B02EC-97C0-4E19-AA45-E904FCC1D11E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405750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B02EC-97C0-4E19-AA45-E904FCC1D11E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866053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B02EC-97C0-4E19-AA45-E904FCC1D11E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804544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B02EC-97C0-4E19-AA45-E904FCC1D11E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539147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B02EC-97C0-4E19-AA45-E904FCC1D11E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94012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B02EC-97C0-4E19-AA45-E904FCC1D11E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323343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B02EC-97C0-4E19-AA45-E904FCC1D11E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243986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B02EC-97C0-4E19-AA45-E904FCC1D11E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4539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B02EC-97C0-4E19-AA45-E904FCC1D11E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3274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  <a:t>2023/3/9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3288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  <a:t>2023/3/9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1656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84238" y="385763"/>
            <a:ext cx="11090275" cy="1397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4238" y="1925638"/>
            <a:ext cx="11090275" cy="45894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84238" y="6704013"/>
            <a:ext cx="2892425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BF82D2-7A68-459D-A996-9BDDA2518FA4}" type="datetimeFigureOut">
              <a:rPr lang="zh-CN" altLang="en-US" smtClean="0"/>
              <a:t>2023/3/9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259263" y="6704013"/>
            <a:ext cx="4340225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082088" y="6704013"/>
            <a:ext cx="2892425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01EE5D-26FB-46D5-A381-ECFB35BF1D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5056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obaxterm.mobatek.net/download-home-edition.htm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7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>
            <a:spLocks/>
          </p:cNvSpPr>
          <p:nvPr/>
        </p:nvSpPr>
        <p:spPr bwMode="auto">
          <a:xfrm>
            <a:off x="354" y="5187510"/>
            <a:ext cx="9453357" cy="2045141"/>
          </a:xfrm>
          <a:custGeom>
            <a:avLst/>
            <a:gdLst>
              <a:gd name="T0" fmla="*/ 2 w 4183"/>
              <a:gd name="T1" fmla="*/ 0 h 904"/>
              <a:gd name="T2" fmla="*/ 4183 w 4183"/>
              <a:gd name="T3" fmla="*/ 902 h 904"/>
              <a:gd name="T4" fmla="*/ 0 w 4183"/>
              <a:gd name="T5" fmla="*/ 904 h 904"/>
              <a:gd name="T6" fmla="*/ 2 w 4183"/>
              <a:gd name="T7" fmla="*/ 0 h 9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183" h="904">
                <a:moveTo>
                  <a:pt x="2" y="0"/>
                </a:moveTo>
                <a:lnTo>
                  <a:pt x="4183" y="902"/>
                </a:lnTo>
                <a:lnTo>
                  <a:pt x="0" y="904"/>
                </a:lnTo>
                <a:lnTo>
                  <a:pt x="2" y="0"/>
                </a:lnTo>
                <a:close/>
              </a:path>
            </a:pathLst>
          </a:custGeom>
          <a:solidFill>
            <a:srgbClr val="1F4C6B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8580" tIns="64290" rIns="128580" bIns="6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Freeform 7"/>
          <p:cNvSpPr>
            <a:spLocks/>
          </p:cNvSpPr>
          <p:nvPr/>
        </p:nvSpPr>
        <p:spPr bwMode="auto">
          <a:xfrm>
            <a:off x="354" y="1"/>
            <a:ext cx="12858043" cy="2081338"/>
          </a:xfrm>
          <a:custGeom>
            <a:avLst/>
            <a:gdLst>
              <a:gd name="T0" fmla="*/ 0 w 5687"/>
              <a:gd name="T1" fmla="*/ 0 h 920"/>
              <a:gd name="T2" fmla="*/ 5687 w 5687"/>
              <a:gd name="T3" fmla="*/ 0 h 920"/>
              <a:gd name="T4" fmla="*/ 5687 w 5687"/>
              <a:gd name="T5" fmla="*/ 920 h 920"/>
              <a:gd name="T6" fmla="*/ 0 w 5687"/>
              <a:gd name="T7" fmla="*/ 0 h 9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687" h="920">
                <a:moveTo>
                  <a:pt x="0" y="0"/>
                </a:moveTo>
                <a:lnTo>
                  <a:pt x="5687" y="0"/>
                </a:lnTo>
                <a:lnTo>
                  <a:pt x="5687" y="920"/>
                </a:lnTo>
                <a:lnTo>
                  <a:pt x="0" y="0"/>
                </a:lnTo>
                <a:close/>
              </a:path>
            </a:pathLst>
          </a:custGeom>
          <a:solidFill>
            <a:srgbClr val="1F4C6B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8580" tIns="64290" rIns="128580" bIns="6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Freeform 8"/>
          <p:cNvSpPr>
            <a:spLocks/>
          </p:cNvSpPr>
          <p:nvPr/>
        </p:nvSpPr>
        <p:spPr bwMode="auto">
          <a:xfrm>
            <a:off x="354" y="1"/>
            <a:ext cx="12858043" cy="2081338"/>
          </a:xfrm>
          <a:custGeom>
            <a:avLst/>
            <a:gdLst>
              <a:gd name="T0" fmla="*/ 0 w 5687"/>
              <a:gd name="T1" fmla="*/ 0 h 920"/>
              <a:gd name="T2" fmla="*/ 5687 w 5687"/>
              <a:gd name="T3" fmla="*/ 920 h 920"/>
              <a:gd name="T4" fmla="*/ 0 w 5687"/>
              <a:gd name="T5" fmla="*/ 320 h 920"/>
              <a:gd name="T6" fmla="*/ 0 w 5687"/>
              <a:gd name="T7" fmla="*/ 0 h 9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687" h="920">
                <a:moveTo>
                  <a:pt x="0" y="0"/>
                </a:moveTo>
                <a:lnTo>
                  <a:pt x="5687" y="920"/>
                </a:lnTo>
                <a:lnTo>
                  <a:pt x="0" y="32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8580" tIns="64290" rIns="128580" bIns="6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1" name="矩形 259"/>
          <p:cNvSpPr>
            <a:spLocks noChangeArrowheads="1"/>
          </p:cNvSpPr>
          <p:nvPr/>
        </p:nvSpPr>
        <p:spPr bwMode="auto">
          <a:xfrm>
            <a:off x="645565" y="2079093"/>
            <a:ext cx="11567617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en-US" altLang="zh-CN" sz="40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Homework1</a:t>
            </a:r>
            <a:endParaRPr lang="zh-CN" altLang="en-US" sz="40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FE96ED2-E3AA-4D8E-97BF-EDBDB66CABE3}"/>
              </a:ext>
            </a:extLst>
          </p:cNvPr>
          <p:cNvSpPr/>
          <p:nvPr/>
        </p:nvSpPr>
        <p:spPr>
          <a:xfrm>
            <a:off x="9957767" y="6496645"/>
            <a:ext cx="28083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+mn-lt"/>
              </a:rPr>
              <a:t>Date : 2023.03.02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AD12F47-9B4A-C702-7E34-5BF221F047E8}"/>
              </a:ext>
            </a:extLst>
          </p:cNvPr>
          <p:cNvSpPr/>
          <p:nvPr/>
        </p:nvSpPr>
        <p:spPr>
          <a:xfrm>
            <a:off x="3513050" y="5175038"/>
            <a:ext cx="58326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+mn-lt"/>
              </a:rPr>
              <a:t>TA1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+mn-lt"/>
              </a:rPr>
              <a:t>：何堡棋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+mn-lt"/>
              </a:rPr>
              <a:t>email: pokeyisgod@gmail.com</a:t>
            </a:r>
          </a:p>
          <a:p>
            <a:pPr defTabSz="609585"/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+mn-lt"/>
              </a:rPr>
              <a:t>TA2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+mn-lt"/>
              </a:rPr>
              <a:t>：郭厚均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+mn-lt"/>
              </a:rPr>
              <a:t>email: tim84611@gmail.com</a:t>
            </a:r>
          </a:p>
        </p:txBody>
      </p:sp>
      <p:sp>
        <p:nvSpPr>
          <p:cNvPr id="3" name="矩形 259">
            <a:extLst>
              <a:ext uri="{FF2B5EF4-FFF2-40B4-BE49-F238E27FC236}">
                <a16:creationId xmlns:a16="http://schemas.microsoft.com/office/drawing/2014/main" id="{A3BFDC13-539B-8016-EAD8-C4DA11643E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565" y="2957316"/>
            <a:ext cx="11567617" cy="13542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en-US" altLang="zh-CN" sz="40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Circuit Simulation of Basic CMOS Circuits</a:t>
            </a:r>
          </a:p>
          <a:p>
            <a:pPr algn="ctr">
              <a:buNone/>
            </a:pPr>
            <a:r>
              <a:rPr lang="en-US" altLang="zh-CN" sz="40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(EDA Server and H</a:t>
            </a:r>
            <a:r>
              <a:rPr lang="en-US" altLang="zh-TW" sz="40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SPICE</a:t>
            </a:r>
            <a:r>
              <a:rPr lang="en-US" altLang="zh-CN" sz="40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CN" altLang="en-US" sz="40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169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8"/>
          <p:cNvSpPr txBox="1"/>
          <p:nvPr/>
        </p:nvSpPr>
        <p:spPr>
          <a:xfrm>
            <a:off x="273695" y="242796"/>
            <a:ext cx="400937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CN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X</a:t>
            </a:r>
            <a:r>
              <a:rPr lang="zh-TW" altLang="en-US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TW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Tools</a:t>
            </a:r>
            <a:endParaRPr lang="zh-CN" altLang="en-US" sz="3200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" name="內容版面配置區 3">
            <a:extLst>
              <a:ext uri="{FF2B5EF4-FFF2-40B4-BE49-F238E27FC236}">
                <a16:creationId xmlns:a16="http://schemas.microsoft.com/office/drawing/2014/main" id="{A18F46DB-5C0B-6E5E-97D2-BDB534E64E99}"/>
              </a:ext>
            </a:extLst>
          </p:cNvPr>
          <p:cNvSpPr>
            <a:spLocks noGrp="1"/>
          </p:cNvSpPr>
          <p:nvPr/>
        </p:nvSpPr>
        <p:spPr>
          <a:xfrm>
            <a:off x="92671" y="1096045"/>
            <a:ext cx="12677761" cy="5863031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zh-TW" altLang="en-US" sz="3200" dirty="0">
                <a:ea typeface="標楷體" panose="03000509000000000000" pitchFamily="65" charset="-120"/>
              </a:rPr>
              <a:t>請使用遠端程式 </a:t>
            </a:r>
            <a:r>
              <a:rPr lang="en-US" altLang="zh-TW" sz="3200" dirty="0">
                <a:ea typeface="標楷體" panose="03000509000000000000" pitchFamily="65" charset="-120"/>
              </a:rPr>
              <a:t>(</a:t>
            </a:r>
            <a:r>
              <a:rPr lang="en-US" altLang="zh-TW" sz="3200" dirty="0" err="1">
                <a:ea typeface="標楷體" panose="03000509000000000000" pitchFamily="65" charset="-120"/>
              </a:rPr>
              <a:t>MobaXterm</a:t>
            </a:r>
            <a:r>
              <a:rPr lang="en-US" altLang="zh-TW" sz="3200" dirty="0">
                <a:ea typeface="標楷體" panose="03000509000000000000" pitchFamily="65" charset="-120"/>
              </a:rPr>
              <a:t>) </a:t>
            </a:r>
            <a:r>
              <a:rPr lang="zh-TW" altLang="en-US" sz="3200" dirty="0">
                <a:ea typeface="標楷體" panose="03000509000000000000" pitchFamily="65" charset="-120"/>
              </a:rPr>
              <a:t>連入伺服器</a:t>
            </a:r>
            <a:endParaRPr lang="en-US" altLang="zh-TW" sz="3200" dirty="0">
              <a:ea typeface="標楷體" panose="03000509000000000000" pitchFamily="65" charset="-120"/>
            </a:endParaRPr>
          </a:p>
          <a:p>
            <a:pPr algn="just"/>
            <a:r>
              <a:rPr lang="zh-TW" altLang="en-US" sz="3200" dirty="0">
                <a:ea typeface="標楷體" panose="03000509000000000000" pitchFamily="65" charset="-120"/>
              </a:rPr>
              <a:t>下載網址：</a:t>
            </a:r>
            <a:r>
              <a:rPr lang="en-US" altLang="zh-TW" sz="3200" dirty="0">
                <a:ea typeface="標楷體" panose="03000509000000000000" pitchFamily="65" charset="-120"/>
                <a:hlinkClick r:id="rId3"/>
              </a:rPr>
              <a:t>https://mobaxterm.mobatek.net/download-home-edition.html</a:t>
            </a:r>
            <a:endParaRPr lang="en-US" altLang="zh-TW" sz="3200" dirty="0">
              <a:ea typeface="標楷體" panose="03000509000000000000" pitchFamily="65" charset="-120"/>
            </a:endParaRPr>
          </a:p>
          <a:p>
            <a:pPr algn="just"/>
            <a:r>
              <a:rPr lang="zh-TW" altLang="en-US" sz="3200" dirty="0">
                <a:ea typeface="標楷體" panose="03000509000000000000" pitchFamily="65" charset="-120"/>
              </a:rPr>
              <a:t>請勿再使用 </a:t>
            </a:r>
            <a:r>
              <a:rPr lang="en-US" altLang="zh-TW" sz="3200" dirty="0" err="1">
                <a:ea typeface="標楷體" panose="03000509000000000000" pitchFamily="65" charset="-120"/>
              </a:rPr>
              <a:t>Xmanager</a:t>
            </a:r>
            <a:r>
              <a:rPr lang="zh-TW" altLang="en-US" sz="3200" dirty="0">
                <a:ea typeface="標楷體" panose="03000509000000000000" pitchFamily="65" charset="-120"/>
              </a:rPr>
              <a:t> 或 </a:t>
            </a:r>
            <a:r>
              <a:rPr lang="en-US" altLang="zh-TW" sz="3200" dirty="0" err="1">
                <a:ea typeface="標楷體" panose="03000509000000000000" pitchFamily="65" charset="-120"/>
              </a:rPr>
              <a:t>MobaXterm</a:t>
            </a:r>
            <a:r>
              <a:rPr lang="zh-TW" altLang="en-US" sz="3200" dirty="0">
                <a:ea typeface="標楷體" panose="03000509000000000000" pitchFamily="65" charset="-120"/>
              </a:rPr>
              <a:t> 的 </a:t>
            </a:r>
            <a:r>
              <a:rPr lang="en-US" altLang="zh-TW" sz="3200" dirty="0">
                <a:ea typeface="標楷體" panose="03000509000000000000" pitchFamily="65" charset="-120"/>
              </a:rPr>
              <a:t>XDMCP</a:t>
            </a:r>
            <a:r>
              <a:rPr lang="zh-TW" altLang="en-US" sz="3200" dirty="0">
                <a:ea typeface="標楷體" panose="03000509000000000000" pitchFamily="65" charset="-120"/>
              </a:rPr>
              <a:t> 連入伺服器</a:t>
            </a:r>
            <a:endParaRPr lang="en-US" altLang="zh-TW" sz="3200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44277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8"/>
          <p:cNvSpPr txBox="1"/>
          <p:nvPr/>
        </p:nvSpPr>
        <p:spPr>
          <a:xfrm>
            <a:off x="273695" y="242796"/>
            <a:ext cx="400937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TW" sz="3200" b="1" dirty="0" err="1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MobaXterm</a:t>
            </a:r>
            <a:endParaRPr lang="zh-CN" altLang="en-US" sz="3200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BE170212-4AD3-59F4-EF33-5B5594274678}"/>
              </a:ext>
            </a:extLst>
          </p:cNvPr>
          <p:cNvSpPr txBox="1"/>
          <p:nvPr/>
        </p:nvSpPr>
        <p:spPr>
          <a:xfrm>
            <a:off x="3945099" y="248013"/>
            <a:ext cx="4968552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zh-TW" altLang="en-US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相關設定及步驟參照下圖</a:t>
            </a:r>
            <a:endParaRPr lang="zh-CN" altLang="en-US" sz="3200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EE8C5F50-8EC0-A321-038B-2C452D0723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8730" y="828451"/>
            <a:ext cx="8001290" cy="6388274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C9483FC9-C9DB-EE1E-7BE3-6C02CE459C76}"/>
              </a:ext>
            </a:extLst>
          </p:cNvPr>
          <p:cNvSpPr/>
          <p:nvPr/>
        </p:nvSpPr>
        <p:spPr>
          <a:xfrm>
            <a:off x="2428730" y="1168053"/>
            <a:ext cx="472253" cy="43204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DC6660B-65DE-BBE2-430B-0906942428ED}"/>
              </a:ext>
            </a:extLst>
          </p:cNvPr>
          <p:cNvSpPr/>
          <p:nvPr/>
        </p:nvSpPr>
        <p:spPr>
          <a:xfrm>
            <a:off x="2828976" y="2392189"/>
            <a:ext cx="648072" cy="64807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FCF4AC8-817F-AEB9-A37D-6C96922958A4}"/>
              </a:ext>
            </a:extLst>
          </p:cNvPr>
          <p:cNvSpPr/>
          <p:nvPr/>
        </p:nvSpPr>
        <p:spPr>
          <a:xfrm>
            <a:off x="3117007" y="3544317"/>
            <a:ext cx="2232248" cy="3600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10B4367-771D-EAA4-47CD-2AD15715AD56}"/>
              </a:ext>
            </a:extLst>
          </p:cNvPr>
          <p:cNvSpPr/>
          <p:nvPr/>
        </p:nvSpPr>
        <p:spPr>
          <a:xfrm>
            <a:off x="9093671" y="3544317"/>
            <a:ext cx="1152128" cy="3600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1539724-C6EA-0F2D-B07C-AAE55323AC65}"/>
              </a:ext>
            </a:extLst>
          </p:cNvPr>
          <p:cNvSpPr/>
          <p:nvPr/>
        </p:nvSpPr>
        <p:spPr>
          <a:xfrm>
            <a:off x="2912115" y="4156385"/>
            <a:ext cx="1645052" cy="3600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33B9EF5-19F7-7911-AEC9-B11284FF6810}"/>
              </a:ext>
            </a:extLst>
          </p:cNvPr>
          <p:cNvSpPr/>
          <p:nvPr/>
        </p:nvSpPr>
        <p:spPr>
          <a:xfrm>
            <a:off x="3189015" y="4840461"/>
            <a:ext cx="1645052" cy="2880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E9BB865-1373-58B4-9AA4-BA84B93A900D}"/>
              </a:ext>
            </a:extLst>
          </p:cNvPr>
          <p:cNvSpPr/>
          <p:nvPr/>
        </p:nvSpPr>
        <p:spPr>
          <a:xfrm>
            <a:off x="5349255" y="6696605"/>
            <a:ext cx="1008112" cy="2880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TextBox 8">
            <a:extLst>
              <a:ext uri="{FF2B5EF4-FFF2-40B4-BE49-F238E27FC236}">
                <a16:creationId xmlns:a16="http://schemas.microsoft.com/office/drawing/2014/main" id="{14517BE3-A7B1-C9CA-C2AB-6B393D7C3602}"/>
              </a:ext>
            </a:extLst>
          </p:cNvPr>
          <p:cNvSpPr txBox="1"/>
          <p:nvPr/>
        </p:nvSpPr>
        <p:spPr>
          <a:xfrm>
            <a:off x="2036887" y="1107658"/>
            <a:ext cx="339377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TW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1.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6" name="TextBox 8">
            <a:extLst>
              <a:ext uri="{FF2B5EF4-FFF2-40B4-BE49-F238E27FC236}">
                <a16:creationId xmlns:a16="http://schemas.microsoft.com/office/drawing/2014/main" id="{7B499800-E724-6A3F-8A12-0993ED5D3410}"/>
              </a:ext>
            </a:extLst>
          </p:cNvPr>
          <p:cNvSpPr txBox="1"/>
          <p:nvPr/>
        </p:nvSpPr>
        <p:spPr>
          <a:xfrm>
            <a:off x="3605722" y="2065941"/>
            <a:ext cx="339377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TW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2.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D6E1DC7D-FFB2-8E08-D9E5-5B2BB6E15CD6}"/>
              </a:ext>
            </a:extLst>
          </p:cNvPr>
          <p:cNvSpPr txBox="1"/>
          <p:nvPr/>
        </p:nvSpPr>
        <p:spPr>
          <a:xfrm>
            <a:off x="4664378" y="3082474"/>
            <a:ext cx="339377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TW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3.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8" name="TextBox 8">
            <a:extLst>
              <a:ext uri="{FF2B5EF4-FFF2-40B4-BE49-F238E27FC236}">
                <a16:creationId xmlns:a16="http://schemas.microsoft.com/office/drawing/2014/main" id="{2036971E-885E-6404-1A54-125CBF3A51D9}"/>
              </a:ext>
            </a:extLst>
          </p:cNvPr>
          <p:cNvSpPr txBox="1"/>
          <p:nvPr/>
        </p:nvSpPr>
        <p:spPr>
          <a:xfrm>
            <a:off x="9212015" y="3005268"/>
            <a:ext cx="339377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TW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4.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9" name="TextBox 8">
            <a:extLst>
              <a:ext uri="{FF2B5EF4-FFF2-40B4-BE49-F238E27FC236}">
                <a16:creationId xmlns:a16="http://schemas.microsoft.com/office/drawing/2014/main" id="{3588EF78-D736-F6B2-BED5-BB3C8408349E}"/>
              </a:ext>
            </a:extLst>
          </p:cNvPr>
          <p:cNvSpPr txBox="1"/>
          <p:nvPr/>
        </p:nvSpPr>
        <p:spPr>
          <a:xfrm>
            <a:off x="2544386" y="4022588"/>
            <a:ext cx="339377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TW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5.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33F0128B-F452-C38E-89FF-EC59A7F69D95}"/>
              </a:ext>
            </a:extLst>
          </p:cNvPr>
          <p:cNvSpPr txBox="1"/>
          <p:nvPr/>
        </p:nvSpPr>
        <p:spPr>
          <a:xfrm>
            <a:off x="3019326" y="5127910"/>
            <a:ext cx="339377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TW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6.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21" name="TextBox 8">
            <a:extLst>
              <a:ext uri="{FF2B5EF4-FFF2-40B4-BE49-F238E27FC236}">
                <a16:creationId xmlns:a16="http://schemas.microsoft.com/office/drawing/2014/main" id="{5F658837-FF57-EF68-C94B-72CE5C9BB06B}"/>
              </a:ext>
            </a:extLst>
          </p:cNvPr>
          <p:cNvSpPr txBox="1"/>
          <p:nvPr/>
        </p:nvSpPr>
        <p:spPr>
          <a:xfrm>
            <a:off x="4983645" y="6594399"/>
            <a:ext cx="339377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TW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7.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0840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C5E83044-F064-CD93-65F5-F7266006B8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597" y="910571"/>
            <a:ext cx="12511555" cy="6228929"/>
          </a:xfrm>
          <a:prstGeom prst="rect">
            <a:avLst/>
          </a:prstGeom>
        </p:spPr>
      </p:pic>
      <p:sp>
        <p:nvSpPr>
          <p:cNvPr id="41" name="TextBox 8"/>
          <p:cNvSpPr txBox="1"/>
          <p:nvPr/>
        </p:nvSpPr>
        <p:spPr>
          <a:xfrm>
            <a:off x="273695" y="242796"/>
            <a:ext cx="400937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TW" sz="3200" b="1" dirty="0" err="1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MobaXterm</a:t>
            </a:r>
            <a:endParaRPr lang="zh-CN" altLang="en-US" sz="3200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BE170212-4AD3-59F4-EF33-5B5594274678}"/>
              </a:ext>
            </a:extLst>
          </p:cNvPr>
          <p:cNvSpPr txBox="1"/>
          <p:nvPr/>
        </p:nvSpPr>
        <p:spPr>
          <a:xfrm>
            <a:off x="3945099" y="248013"/>
            <a:ext cx="4968552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zh-TW" altLang="en-US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登入頁面</a:t>
            </a:r>
            <a:endParaRPr lang="zh-CN" altLang="en-US" sz="3200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9483FC9-C9DB-EE1E-7BE3-6C02CE459C76}"/>
              </a:ext>
            </a:extLst>
          </p:cNvPr>
          <p:cNvSpPr/>
          <p:nvPr/>
        </p:nvSpPr>
        <p:spPr>
          <a:xfrm>
            <a:off x="173597" y="910571"/>
            <a:ext cx="3231442" cy="61752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326A3721-B48C-C6E4-800E-B5F3089F46AE}"/>
              </a:ext>
            </a:extLst>
          </p:cNvPr>
          <p:cNvSpPr txBox="1"/>
          <p:nvPr/>
        </p:nvSpPr>
        <p:spPr>
          <a:xfrm>
            <a:off x="452711" y="1698208"/>
            <a:ext cx="9217024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自己的帳號密碼請參照中山網路大學公告板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6719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8"/>
          <p:cNvSpPr txBox="1"/>
          <p:nvPr/>
        </p:nvSpPr>
        <p:spPr>
          <a:xfrm>
            <a:off x="273695" y="242796"/>
            <a:ext cx="400937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TW" sz="3200" b="1" dirty="0" err="1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MobaXterm</a:t>
            </a:r>
            <a:endParaRPr lang="zh-CN" altLang="en-US" sz="3200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BE170212-4AD3-59F4-EF33-5B5594274678}"/>
              </a:ext>
            </a:extLst>
          </p:cNvPr>
          <p:cNvSpPr txBox="1"/>
          <p:nvPr/>
        </p:nvSpPr>
        <p:spPr>
          <a:xfrm>
            <a:off x="3945099" y="248013"/>
            <a:ext cx="4968552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zh-TW" altLang="en-US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登入成功頁面</a:t>
            </a:r>
            <a:endParaRPr lang="zh-CN" altLang="en-US" sz="3200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EED647B-8F78-9EC5-C142-BA0A75BB9E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9493" y="791322"/>
            <a:ext cx="6639764" cy="6353395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5C6D09E-D3DF-1F93-F332-1D22A43B8CD2}"/>
              </a:ext>
            </a:extLst>
          </p:cNvPr>
          <p:cNvSpPr/>
          <p:nvPr/>
        </p:nvSpPr>
        <p:spPr>
          <a:xfrm>
            <a:off x="3109493" y="1384077"/>
            <a:ext cx="2455786" cy="57606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D57E24-BFF3-44CD-B404-BCB655D79615}"/>
              </a:ext>
            </a:extLst>
          </p:cNvPr>
          <p:cNvSpPr txBox="1"/>
          <p:nvPr/>
        </p:nvSpPr>
        <p:spPr>
          <a:xfrm>
            <a:off x="3509294" y="5488533"/>
            <a:ext cx="1656184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檔案總管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0296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8"/>
          <p:cNvSpPr txBox="1"/>
          <p:nvPr/>
        </p:nvSpPr>
        <p:spPr>
          <a:xfrm>
            <a:off x="273695" y="242796"/>
            <a:ext cx="400937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zh-TW" altLang="en-US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事前所需相關檔案</a:t>
            </a:r>
            <a:endParaRPr lang="zh-CN" altLang="en-US" sz="3200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BE170212-4AD3-59F4-EF33-5B5594274678}"/>
              </a:ext>
            </a:extLst>
          </p:cNvPr>
          <p:cNvSpPr txBox="1"/>
          <p:nvPr/>
        </p:nvSpPr>
        <p:spPr>
          <a:xfrm>
            <a:off x="3945099" y="248013"/>
            <a:ext cx="4968552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zh-TW" altLang="en-US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確認製程檔</a:t>
            </a:r>
            <a:endParaRPr lang="zh-CN" altLang="en-US" sz="3200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779A1D5-FCFF-F7F5-83EE-0C8A2ABD3D82}"/>
              </a:ext>
            </a:extLst>
          </p:cNvPr>
          <p:cNvSpPr>
            <a:spLocks noGrp="1"/>
          </p:cNvSpPr>
          <p:nvPr/>
        </p:nvSpPr>
        <p:spPr>
          <a:xfrm>
            <a:off x="92671" y="1096045"/>
            <a:ext cx="12677761" cy="5863031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zh-TW" sz="3200" dirty="0">
                <a:ea typeface="標楷體" panose="03000509000000000000" pitchFamily="65" charset="-120"/>
              </a:rPr>
              <a:t>/</a:t>
            </a:r>
            <a:r>
              <a:rPr lang="en-US" altLang="zh-TW" sz="3200" dirty="0" err="1">
                <a:ea typeface="標楷體" panose="03000509000000000000" pitchFamily="65" charset="-120"/>
              </a:rPr>
              <a:t>EDA_Tools</a:t>
            </a:r>
            <a:r>
              <a:rPr lang="en-US" altLang="zh-TW" sz="3200" dirty="0">
                <a:ea typeface="標楷體" panose="03000509000000000000" pitchFamily="65" charset="-120"/>
              </a:rPr>
              <a:t>/CBDK/C18/</a:t>
            </a:r>
            <a:r>
              <a:rPr lang="zh-TW" altLang="en-US" sz="3200" dirty="0">
                <a:ea typeface="標楷體" panose="03000509000000000000" pitchFamily="65" charset="-120"/>
              </a:rPr>
              <a:t>  </a:t>
            </a:r>
            <a:r>
              <a:rPr lang="en-US" altLang="zh-TW" sz="3200" dirty="0">
                <a:solidFill>
                  <a:srgbClr val="FF0000"/>
                </a:solidFill>
                <a:ea typeface="標楷體" panose="03000509000000000000" pitchFamily="65" charset="-120"/>
              </a:rPr>
              <a:t>(140.117.168.158</a:t>
            </a:r>
            <a:r>
              <a:rPr lang="zh-TW" altLang="en-US" sz="3200" dirty="0">
                <a:solidFill>
                  <a:srgbClr val="FF0000"/>
                </a:solidFill>
                <a:ea typeface="標楷體" panose="03000509000000000000" pitchFamily="65" charset="-120"/>
              </a:rPr>
              <a:t> </a:t>
            </a:r>
            <a:r>
              <a:rPr lang="en-US" altLang="zh-TW" sz="3200" dirty="0">
                <a:solidFill>
                  <a:srgbClr val="FF0000"/>
                </a:solidFill>
                <a:ea typeface="標楷體" panose="03000509000000000000" pitchFamily="65" charset="-120"/>
              </a:rPr>
              <a:t>Server</a:t>
            </a:r>
            <a:r>
              <a:rPr lang="zh-TW" altLang="en-US" sz="3200" dirty="0">
                <a:solidFill>
                  <a:srgbClr val="FF0000"/>
                </a:solidFill>
                <a:ea typeface="標楷體" panose="03000509000000000000" pitchFamily="65" charset="-120"/>
              </a:rPr>
              <a:t> 之 </a:t>
            </a:r>
            <a:r>
              <a:rPr lang="en-US" altLang="zh-TW" sz="3200" dirty="0">
                <a:solidFill>
                  <a:srgbClr val="FF0000"/>
                </a:solidFill>
                <a:ea typeface="標楷體" panose="03000509000000000000" pitchFamily="65" charset="-120"/>
              </a:rPr>
              <a:t>C18</a:t>
            </a:r>
            <a:r>
              <a:rPr lang="zh-TW" altLang="en-US" sz="3200" dirty="0">
                <a:solidFill>
                  <a:srgbClr val="FF0000"/>
                </a:solidFill>
                <a:ea typeface="標楷體" panose="03000509000000000000" pitchFamily="65" charset="-120"/>
              </a:rPr>
              <a:t> 製程檔案</a:t>
            </a:r>
            <a:r>
              <a:rPr lang="en-US" altLang="zh-TW" sz="3200" dirty="0">
                <a:solidFill>
                  <a:srgbClr val="FF0000"/>
                </a:solidFill>
                <a:ea typeface="標楷體" panose="03000509000000000000" pitchFamily="65" charset="-120"/>
              </a:rPr>
              <a:t>)</a:t>
            </a:r>
          </a:p>
          <a:p>
            <a:pPr algn="just"/>
            <a:r>
              <a:rPr lang="en-US" altLang="zh-TW" sz="3200" dirty="0">
                <a:ea typeface="標楷體" panose="03000509000000000000" pitchFamily="65" charset="-120"/>
              </a:rPr>
              <a:t>/</a:t>
            </a:r>
            <a:r>
              <a:rPr lang="en-US" altLang="zh-TW" sz="3200" dirty="0" err="1">
                <a:ea typeface="標楷體" panose="03000509000000000000" pitchFamily="65" charset="-120"/>
              </a:rPr>
              <a:t>EDA_Tools</a:t>
            </a:r>
            <a:r>
              <a:rPr lang="en-US" altLang="zh-TW" sz="3200" dirty="0">
                <a:ea typeface="標楷體" panose="03000509000000000000" pitchFamily="65" charset="-120"/>
              </a:rPr>
              <a:t>/CBDK/C18/</a:t>
            </a:r>
            <a:r>
              <a:rPr lang="en-US" altLang="zh-TW" sz="3200" dirty="0" err="1">
                <a:ea typeface="標楷體" panose="03000509000000000000" pitchFamily="65" charset="-120"/>
              </a:rPr>
              <a:t>calibre</a:t>
            </a:r>
            <a:r>
              <a:rPr lang="en-US" altLang="zh-TW" sz="3200" dirty="0">
                <a:ea typeface="標楷體" panose="03000509000000000000" pitchFamily="65" charset="-120"/>
              </a:rPr>
              <a:t>/</a:t>
            </a:r>
            <a:r>
              <a:rPr lang="en-US" altLang="zh-TW" sz="3200" dirty="0" err="1">
                <a:ea typeface="標楷體" panose="03000509000000000000" pitchFamily="65" charset="-120"/>
              </a:rPr>
              <a:t>Calibre_DRC</a:t>
            </a:r>
            <a:r>
              <a:rPr lang="en-US" altLang="zh-TW" sz="3200" dirty="0">
                <a:ea typeface="標楷體" panose="03000509000000000000" pitchFamily="65" charset="-120"/>
              </a:rPr>
              <a:t>/</a:t>
            </a:r>
            <a:r>
              <a:rPr lang="en-US" altLang="zh-TW" sz="3200" dirty="0" err="1">
                <a:ea typeface="標楷體" panose="03000509000000000000" pitchFamily="65" charset="-120"/>
              </a:rPr>
              <a:t>rule.drc</a:t>
            </a:r>
            <a:endParaRPr lang="en-US" altLang="zh-TW" sz="3200" dirty="0">
              <a:ea typeface="標楷體" panose="03000509000000000000" pitchFamily="65" charset="-120"/>
            </a:endParaRPr>
          </a:p>
          <a:p>
            <a:pPr algn="just"/>
            <a:r>
              <a:rPr lang="en-US" altLang="zh-TW" sz="3200" dirty="0">
                <a:ea typeface="標楷體" panose="03000509000000000000" pitchFamily="65" charset="-120"/>
              </a:rPr>
              <a:t>/</a:t>
            </a:r>
            <a:r>
              <a:rPr lang="en-US" altLang="zh-TW" sz="3200" dirty="0" err="1">
                <a:ea typeface="標楷體" panose="03000509000000000000" pitchFamily="65" charset="-120"/>
              </a:rPr>
              <a:t>EDA_Tools</a:t>
            </a:r>
            <a:r>
              <a:rPr lang="en-US" altLang="zh-TW" sz="3200" dirty="0">
                <a:ea typeface="標楷體" panose="03000509000000000000" pitchFamily="65" charset="-120"/>
              </a:rPr>
              <a:t>/CBDK/C18/</a:t>
            </a:r>
            <a:r>
              <a:rPr lang="en-US" altLang="zh-TW" sz="3200" dirty="0" err="1">
                <a:ea typeface="標楷體" panose="03000509000000000000" pitchFamily="65" charset="-120"/>
              </a:rPr>
              <a:t>calibre</a:t>
            </a:r>
            <a:r>
              <a:rPr lang="en-US" altLang="zh-TW" sz="3200" dirty="0">
                <a:ea typeface="標楷體" panose="03000509000000000000" pitchFamily="65" charset="-120"/>
              </a:rPr>
              <a:t>/</a:t>
            </a:r>
            <a:r>
              <a:rPr lang="en-US" altLang="zh-TW" sz="3200" dirty="0" err="1">
                <a:ea typeface="標楷體" panose="03000509000000000000" pitchFamily="65" charset="-120"/>
              </a:rPr>
              <a:t>Calibre_LVS</a:t>
            </a:r>
            <a:r>
              <a:rPr lang="en-US" altLang="zh-TW" sz="3200" dirty="0">
                <a:ea typeface="標楷體" panose="03000509000000000000" pitchFamily="65" charset="-120"/>
              </a:rPr>
              <a:t>/</a:t>
            </a:r>
            <a:r>
              <a:rPr lang="en-US" altLang="zh-TW" sz="3200" dirty="0" err="1">
                <a:ea typeface="標楷體" panose="03000509000000000000" pitchFamily="65" charset="-120"/>
              </a:rPr>
              <a:t>Rule.lvs</a:t>
            </a:r>
            <a:endParaRPr lang="en-US" altLang="zh-TW" sz="3200" dirty="0">
              <a:ea typeface="標楷體" panose="03000509000000000000" pitchFamily="65" charset="-120"/>
            </a:endParaRPr>
          </a:p>
          <a:p>
            <a:pPr algn="just"/>
            <a:r>
              <a:rPr lang="en-US" altLang="zh-TW" sz="3200" dirty="0">
                <a:ea typeface="標楷體" panose="03000509000000000000" pitchFamily="65" charset="-120"/>
              </a:rPr>
              <a:t>/</a:t>
            </a:r>
            <a:r>
              <a:rPr lang="en-US" altLang="zh-TW" sz="3200" dirty="0" err="1">
                <a:ea typeface="標楷體" panose="03000509000000000000" pitchFamily="65" charset="-120"/>
              </a:rPr>
              <a:t>EDA_Tools</a:t>
            </a:r>
            <a:r>
              <a:rPr lang="en-US" altLang="zh-TW" sz="3200" dirty="0">
                <a:ea typeface="標楷體" panose="03000509000000000000" pitchFamily="65" charset="-120"/>
              </a:rPr>
              <a:t>/CBDK/C18/</a:t>
            </a:r>
            <a:r>
              <a:rPr lang="en-US" altLang="zh-TW" sz="3200" dirty="0" err="1">
                <a:ea typeface="標楷體" panose="03000509000000000000" pitchFamily="65" charset="-120"/>
              </a:rPr>
              <a:t>calibre</a:t>
            </a:r>
            <a:r>
              <a:rPr lang="en-US" altLang="zh-TW" sz="3200" dirty="0">
                <a:ea typeface="標楷體" panose="03000509000000000000" pitchFamily="65" charset="-120"/>
              </a:rPr>
              <a:t>/</a:t>
            </a:r>
            <a:r>
              <a:rPr lang="en-US" altLang="zh-TW" sz="3200" dirty="0" err="1">
                <a:ea typeface="標楷體" panose="03000509000000000000" pitchFamily="65" charset="-120"/>
              </a:rPr>
              <a:t>Calibre_PEX</a:t>
            </a:r>
            <a:r>
              <a:rPr lang="en-US" altLang="zh-TW" sz="3200" dirty="0">
                <a:ea typeface="標楷體" panose="03000509000000000000" pitchFamily="65" charset="-120"/>
              </a:rPr>
              <a:t>/</a:t>
            </a:r>
            <a:r>
              <a:rPr lang="en-US" altLang="zh-TW" sz="3200" dirty="0" err="1">
                <a:ea typeface="標楷體" panose="03000509000000000000" pitchFamily="65" charset="-120"/>
              </a:rPr>
              <a:t>Rule.rce</a:t>
            </a:r>
            <a:endParaRPr lang="en-US" altLang="zh-TW" sz="3200" dirty="0">
              <a:ea typeface="標楷體" panose="03000509000000000000" pitchFamily="65" charset="-120"/>
            </a:endParaRPr>
          </a:p>
          <a:p>
            <a:pPr algn="just"/>
            <a:r>
              <a:rPr lang="en-US" altLang="zh-TW" sz="3200" dirty="0">
                <a:ea typeface="標楷體" panose="03000509000000000000" pitchFamily="65" charset="-120"/>
              </a:rPr>
              <a:t>/</a:t>
            </a:r>
            <a:r>
              <a:rPr lang="en-US" altLang="zh-TW" sz="3200" dirty="0" err="1">
                <a:ea typeface="標楷體" panose="03000509000000000000" pitchFamily="65" charset="-120"/>
              </a:rPr>
              <a:t>EDA_Tools</a:t>
            </a:r>
            <a:r>
              <a:rPr lang="en-US" altLang="zh-TW" sz="3200" dirty="0">
                <a:ea typeface="標楷體" panose="03000509000000000000" pitchFamily="65" charset="-120"/>
              </a:rPr>
              <a:t>/CBDK/C18/</a:t>
            </a:r>
            <a:r>
              <a:rPr lang="en-US" altLang="zh-TW" sz="3200" dirty="0" err="1">
                <a:ea typeface="標楷體" panose="03000509000000000000" pitchFamily="65" charset="-120"/>
              </a:rPr>
              <a:t>calibre</a:t>
            </a:r>
            <a:r>
              <a:rPr lang="en-US" altLang="zh-TW" sz="3200" dirty="0">
                <a:ea typeface="標楷體" panose="03000509000000000000" pitchFamily="65" charset="-120"/>
              </a:rPr>
              <a:t>/</a:t>
            </a:r>
            <a:r>
              <a:rPr lang="en-US" altLang="zh-TW" sz="3200" dirty="0" err="1">
                <a:ea typeface="標楷體" panose="03000509000000000000" pitchFamily="65" charset="-120"/>
              </a:rPr>
              <a:t>Calibre_PEX</a:t>
            </a:r>
            <a:r>
              <a:rPr lang="en-US" altLang="zh-TW" sz="3200" dirty="0">
                <a:ea typeface="標楷體" panose="03000509000000000000" pitchFamily="65" charset="-120"/>
              </a:rPr>
              <a:t>/Rule_08KA.rc</a:t>
            </a:r>
          </a:p>
          <a:p>
            <a:pPr algn="just"/>
            <a:r>
              <a:rPr lang="en-US" altLang="zh-TW" sz="3200" dirty="0">
                <a:ea typeface="標楷體" panose="03000509000000000000" pitchFamily="65" charset="-120"/>
              </a:rPr>
              <a:t>/</a:t>
            </a:r>
            <a:r>
              <a:rPr lang="en-US" altLang="zh-TW" sz="3200" dirty="0" err="1">
                <a:ea typeface="標楷體" panose="03000509000000000000" pitchFamily="65" charset="-120"/>
              </a:rPr>
              <a:t>EDA_Tools</a:t>
            </a:r>
            <a:r>
              <a:rPr lang="en-US" altLang="zh-TW" sz="3200" dirty="0">
                <a:ea typeface="標楷體" panose="03000509000000000000" pitchFamily="65" charset="-120"/>
              </a:rPr>
              <a:t>/CBDK/C18/</a:t>
            </a:r>
            <a:r>
              <a:rPr lang="en-US" altLang="zh-TW" sz="3200" dirty="0" err="1">
                <a:ea typeface="標楷體" panose="03000509000000000000" pitchFamily="65" charset="-120"/>
              </a:rPr>
              <a:t>calibre</a:t>
            </a:r>
            <a:r>
              <a:rPr lang="en-US" altLang="zh-TW" sz="3200" dirty="0">
                <a:ea typeface="標楷體" panose="03000509000000000000" pitchFamily="65" charset="-120"/>
              </a:rPr>
              <a:t>/</a:t>
            </a:r>
            <a:r>
              <a:rPr lang="en-US" altLang="zh-TW" sz="3200" dirty="0" err="1">
                <a:ea typeface="標楷體" panose="03000509000000000000" pitchFamily="65" charset="-120"/>
              </a:rPr>
              <a:t>Calibre_PEX</a:t>
            </a:r>
            <a:r>
              <a:rPr lang="en-US" altLang="zh-TW" sz="3200" dirty="0">
                <a:ea typeface="標楷體" panose="03000509000000000000" pitchFamily="65" charset="-120"/>
              </a:rPr>
              <a:t>/Rule_20KA.rc</a:t>
            </a:r>
          </a:p>
          <a:p>
            <a:pPr algn="just"/>
            <a:r>
              <a:rPr lang="en-US" altLang="zh-TW" sz="3200" dirty="0">
                <a:ea typeface="標楷體" panose="03000509000000000000" pitchFamily="65" charset="-120"/>
              </a:rPr>
              <a:t>/</a:t>
            </a:r>
            <a:r>
              <a:rPr lang="en-US" altLang="zh-TW" sz="3200" dirty="0" err="1">
                <a:ea typeface="標楷體" panose="03000509000000000000" pitchFamily="65" charset="-120"/>
              </a:rPr>
              <a:t>EDA_Tools</a:t>
            </a:r>
            <a:r>
              <a:rPr lang="en-US" altLang="zh-TW" sz="3200" dirty="0">
                <a:ea typeface="標楷體" panose="03000509000000000000" pitchFamily="65" charset="-120"/>
              </a:rPr>
              <a:t>/CBDK/C18/model/cic018.l</a:t>
            </a:r>
          </a:p>
          <a:p>
            <a:pPr algn="just"/>
            <a:r>
              <a:rPr lang="en-US" altLang="zh-TW" sz="3200" dirty="0">
                <a:ea typeface="標楷體" panose="03000509000000000000" pitchFamily="65" charset="-120"/>
              </a:rPr>
              <a:t>/EDA_Tools/CBDK/C18/virtuoso/cic18_fix.tf</a:t>
            </a:r>
          </a:p>
          <a:p>
            <a:pPr algn="just"/>
            <a:r>
              <a:rPr lang="en-US" altLang="zh-TW" sz="3200" dirty="0">
                <a:ea typeface="標楷體" panose="03000509000000000000" pitchFamily="65" charset="-120"/>
              </a:rPr>
              <a:t>/</a:t>
            </a:r>
            <a:r>
              <a:rPr lang="en-US" altLang="zh-TW" sz="3200" dirty="0" err="1">
                <a:ea typeface="標楷體" panose="03000509000000000000" pitchFamily="65" charset="-120"/>
              </a:rPr>
              <a:t>EDA_Tools</a:t>
            </a:r>
            <a:r>
              <a:rPr lang="en-US" altLang="zh-TW" sz="3200" dirty="0">
                <a:ea typeface="標楷體" panose="03000509000000000000" pitchFamily="65" charset="-120"/>
              </a:rPr>
              <a:t>/CBDK/C18/virtuoso/</a:t>
            </a:r>
            <a:r>
              <a:rPr lang="en-US" altLang="zh-TW" sz="3200" dirty="0" err="1">
                <a:ea typeface="標楷體" panose="03000509000000000000" pitchFamily="65" charset="-120"/>
              </a:rPr>
              <a:t>display.drf</a:t>
            </a:r>
            <a:endParaRPr lang="en-US" altLang="zh-TW" sz="3200" dirty="0">
              <a:ea typeface="標楷體" panose="03000509000000000000" pitchFamily="65" charset="-120"/>
            </a:endParaRPr>
          </a:p>
          <a:p>
            <a:pPr algn="just"/>
            <a:r>
              <a:rPr lang="en-US" altLang="zh-TW" sz="3200" dirty="0">
                <a:ea typeface="標楷體" panose="03000509000000000000" pitchFamily="65" charset="-120"/>
              </a:rPr>
              <a:t>/</a:t>
            </a:r>
            <a:r>
              <a:rPr lang="en-US" altLang="zh-TW" sz="3200" dirty="0" err="1">
                <a:ea typeface="標楷體" panose="03000509000000000000" pitchFamily="65" charset="-120"/>
              </a:rPr>
              <a:t>EDA_Tools</a:t>
            </a:r>
            <a:r>
              <a:rPr lang="en-US" altLang="zh-TW" sz="3200" dirty="0">
                <a:ea typeface="標楷體" panose="03000509000000000000" pitchFamily="65" charset="-120"/>
              </a:rPr>
              <a:t>/CBDK/C18/.</a:t>
            </a:r>
            <a:r>
              <a:rPr lang="en-US" altLang="zh-TW" sz="3200" dirty="0" err="1">
                <a:ea typeface="標楷體" panose="03000509000000000000" pitchFamily="65" charset="-120"/>
              </a:rPr>
              <a:t>cdsinit</a:t>
            </a:r>
            <a:r>
              <a:rPr lang="en-US" altLang="zh-TW" sz="3200" dirty="0">
                <a:ea typeface="標楷體" panose="03000509000000000000" pitchFamily="65" charset="-120"/>
              </a:rPr>
              <a:t> </a:t>
            </a:r>
            <a:r>
              <a:rPr lang="en-US" altLang="zh-TW" sz="3200" dirty="0">
                <a:solidFill>
                  <a:srgbClr val="FF0000"/>
                </a:solidFill>
                <a:ea typeface="標楷體" panose="03000509000000000000" pitchFamily="65" charset="-120"/>
              </a:rPr>
              <a:t>(</a:t>
            </a:r>
            <a:r>
              <a:rPr lang="zh-TW" altLang="en-US" sz="3200" dirty="0">
                <a:solidFill>
                  <a:srgbClr val="FF0000"/>
                </a:solidFill>
                <a:ea typeface="標楷體" panose="03000509000000000000" pitchFamily="65" charset="-120"/>
              </a:rPr>
              <a:t>使用 </a:t>
            </a:r>
            <a:r>
              <a:rPr lang="en-US" altLang="zh-TW" sz="3200" dirty="0">
                <a:solidFill>
                  <a:srgbClr val="FF0000"/>
                </a:solidFill>
                <a:ea typeface="標楷體" panose="03000509000000000000" pitchFamily="65" charset="-120"/>
              </a:rPr>
              <a:t>Ctrl + H </a:t>
            </a:r>
            <a:r>
              <a:rPr lang="zh-TW" altLang="en-US" sz="3200" dirty="0">
                <a:solidFill>
                  <a:srgbClr val="FF0000"/>
                </a:solidFill>
                <a:ea typeface="標楷體" panose="03000509000000000000" pitchFamily="65" charset="-120"/>
              </a:rPr>
              <a:t>顯示隱藏檔案</a:t>
            </a:r>
            <a:r>
              <a:rPr lang="en-US" altLang="zh-TW" sz="3200" dirty="0">
                <a:solidFill>
                  <a:srgbClr val="FF0000"/>
                </a:solidFill>
                <a:ea typeface="標楷體" panose="03000509000000000000" pitchFamily="65" charset="-120"/>
              </a:rPr>
              <a:t>)</a:t>
            </a:r>
          </a:p>
          <a:p>
            <a:pPr algn="just"/>
            <a:endParaRPr lang="en-US" altLang="zh-TW" sz="3200" dirty="0">
              <a:ea typeface="標楷體" panose="03000509000000000000" pitchFamily="65" charset="-120"/>
            </a:endParaRPr>
          </a:p>
          <a:p>
            <a:pPr algn="just"/>
            <a:endParaRPr lang="en-US" altLang="zh-TW" sz="3200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49347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8"/>
          <p:cNvSpPr txBox="1"/>
          <p:nvPr/>
        </p:nvSpPr>
        <p:spPr>
          <a:xfrm>
            <a:off x="273695" y="242796"/>
            <a:ext cx="400937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TW" sz="3200" b="1" dirty="0" err="1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MobaXterm</a:t>
            </a:r>
            <a:endParaRPr lang="zh-CN" altLang="en-US" sz="3200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BE170212-4AD3-59F4-EF33-5B5594274678}"/>
              </a:ext>
            </a:extLst>
          </p:cNvPr>
          <p:cNvSpPr txBox="1"/>
          <p:nvPr/>
        </p:nvSpPr>
        <p:spPr>
          <a:xfrm>
            <a:off x="3945099" y="248013"/>
            <a:ext cx="4968552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zh-TW" altLang="en-US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登出頁面</a:t>
            </a:r>
            <a:endParaRPr lang="zh-CN" altLang="en-US" sz="3200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88DFDCA-DC49-1840-E069-1C8581C45D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74678"/>
            <a:ext cx="12858750" cy="3297116"/>
          </a:xfrm>
          <a:prstGeom prst="rect">
            <a:avLst/>
          </a:prstGeom>
        </p:spPr>
      </p:pic>
      <p:sp>
        <p:nvSpPr>
          <p:cNvPr id="6" name="TextBox 8">
            <a:extLst>
              <a:ext uri="{FF2B5EF4-FFF2-40B4-BE49-F238E27FC236}">
                <a16:creationId xmlns:a16="http://schemas.microsoft.com/office/drawing/2014/main" id="{188B2813-D4EE-6A47-F4D5-132907925106}"/>
              </a:ext>
            </a:extLst>
          </p:cNvPr>
          <p:cNvSpPr txBox="1"/>
          <p:nvPr/>
        </p:nvSpPr>
        <p:spPr>
          <a:xfrm>
            <a:off x="910431" y="1157493"/>
            <a:ext cx="11037887" cy="98488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just"/>
            <a:r>
              <a:rPr lang="zh-TW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由於此次修課同學較多，如無使用 </a:t>
            </a:r>
            <a:r>
              <a:rPr lang="en-US" altLang="zh-TW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Server </a:t>
            </a:r>
            <a:r>
              <a:rPr lang="zh-TW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請記得在 </a:t>
            </a:r>
            <a:r>
              <a:rPr lang="en-US" altLang="zh-TW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Terminal </a:t>
            </a:r>
            <a:r>
              <a:rPr lang="zh-TW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下輸入 </a:t>
            </a:r>
            <a:r>
              <a:rPr lang="en-US" altLang="zh-TW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exit </a:t>
            </a:r>
            <a:r>
              <a:rPr lang="zh-TW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並確認成功登出，避免搶佔其他同學的資源。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7484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8"/>
          <p:cNvSpPr txBox="1"/>
          <p:nvPr/>
        </p:nvSpPr>
        <p:spPr>
          <a:xfrm>
            <a:off x="273695" y="242796"/>
            <a:ext cx="400937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TW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HW1</a:t>
            </a:r>
            <a:r>
              <a:rPr lang="zh-TW" altLang="en-US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 作業流程</a:t>
            </a:r>
            <a:endParaRPr lang="zh-CN" altLang="en-US" sz="3200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" name="object 6">
            <a:extLst>
              <a:ext uri="{FF2B5EF4-FFF2-40B4-BE49-F238E27FC236}">
                <a16:creationId xmlns:a16="http://schemas.microsoft.com/office/drawing/2014/main" id="{C7367148-CB1F-57B1-FB82-F84F0B9EDA9C}"/>
              </a:ext>
            </a:extLst>
          </p:cNvPr>
          <p:cNvSpPr txBox="1"/>
          <p:nvPr/>
        </p:nvSpPr>
        <p:spPr>
          <a:xfrm>
            <a:off x="3025520" y="3499230"/>
            <a:ext cx="18669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7850" marR="5080" indent="-56578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Create Schematic</a:t>
            </a:r>
            <a:r>
              <a:rPr sz="1800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&amp;  Symbol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64D6E29C-DB30-9A59-A0C4-8CBEF21754DF}"/>
              </a:ext>
            </a:extLst>
          </p:cNvPr>
          <p:cNvSpPr txBox="1"/>
          <p:nvPr/>
        </p:nvSpPr>
        <p:spPr>
          <a:xfrm>
            <a:off x="3924427" y="5122545"/>
            <a:ext cx="20967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Export Spice File</a:t>
            </a:r>
            <a:r>
              <a:rPr sz="18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(.sp)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7" name="object 10">
            <a:extLst>
              <a:ext uri="{FF2B5EF4-FFF2-40B4-BE49-F238E27FC236}">
                <a16:creationId xmlns:a16="http://schemas.microsoft.com/office/drawing/2014/main" id="{F4AE19B6-F176-C10B-BBEB-8AAA25DA5259}"/>
              </a:ext>
            </a:extLst>
          </p:cNvPr>
          <p:cNvSpPr txBox="1"/>
          <p:nvPr/>
        </p:nvSpPr>
        <p:spPr>
          <a:xfrm>
            <a:off x="7193660" y="2012950"/>
            <a:ext cx="172021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5080" indent="-26034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Add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Measurement  Information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.sp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12">
            <a:extLst>
              <a:ext uri="{FF2B5EF4-FFF2-40B4-BE49-F238E27FC236}">
                <a16:creationId xmlns:a16="http://schemas.microsoft.com/office/drawing/2014/main" id="{91FF5983-CA12-FEA1-01E4-D3179D463227}"/>
              </a:ext>
            </a:extLst>
          </p:cNvPr>
          <p:cNvSpPr txBox="1"/>
          <p:nvPr/>
        </p:nvSpPr>
        <p:spPr>
          <a:xfrm>
            <a:off x="8155305" y="3499230"/>
            <a:ext cx="192976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2280" marR="5080" indent="-450215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HSPICE &amp;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Nanosim  Simulation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9" name="object 14">
            <a:extLst>
              <a:ext uri="{FF2B5EF4-FFF2-40B4-BE49-F238E27FC236}">
                <a16:creationId xmlns:a16="http://schemas.microsoft.com/office/drawing/2014/main" id="{14338BB6-424D-3E5D-999E-D7509BAC24AD}"/>
              </a:ext>
            </a:extLst>
          </p:cNvPr>
          <p:cNvSpPr txBox="1"/>
          <p:nvPr/>
        </p:nvSpPr>
        <p:spPr>
          <a:xfrm>
            <a:off x="9163939" y="4985384"/>
            <a:ext cx="19380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7055" marR="5080" indent="-55499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Graphical</a:t>
            </a:r>
            <a:r>
              <a:rPr sz="1800" spc="-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Waveform 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Analysis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5">
            <a:extLst>
              <a:ext uri="{FF2B5EF4-FFF2-40B4-BE49-F238E27FC236}">
                <a16:creationId xmlns:a16="http://schemas.microsoft.com/office/drawing/2014/main" id="{26658CA3-EC8C-B720-BD53-32DCA70A5DB2}"/>
              </a:ext>
            </a:extLst>
          </p:cNvPr>
          <p:cNvSpPr txBox="1">
            <a:spLocks/>
          </p:cNvSpPr>
          <p:nvPr/>
        </p:nvSpPr>
        <p:spPr>
          <a:xfrm>
            <a:off x="10788142" y="6565019"/>
            <a:ext cx="228600" cy="1943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639763" indent="-18256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282700" indent="-3683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925638" indent="-554038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568575" indent="-73977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lang="en-US" altLang="zh-TW" smtClean="0"/>
              <a:pPr marL="38100">
                <a:lnSpc>
                  <a:spcPts val="1410"/>
                </a:lnSpc>
              </a:pPr>
              <a:t>8</a:t>
            </a:fld>
            <a:endParaRPr lang="en-US" altLang="zh-TW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FC8E43CF-B637-3ABC-D1B8-19E381DE8E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9760" y="1278061"/>
            <a:ext cx="8176982" cy="5522331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3E16DB85-3607-05E3-C3FB-9F3D205285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193" y="3001901"/>
            <a:ext cx="1867847" cy="1228847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08439511-C79F-525B-88D6-9BCD2364F4CB}"/>
              </a:ext>
            </a:extLst>
          </p:cNvPr>
          <p:cNvSpPr txBox="1"/>
          <p:nvPr/>
        </p:nvSpPr>
        <p:spPr>
          <a:xfrm>
            <a:off x="9197676" y="4825298"/>
            <a:ext cx="374012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HSPICE 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→ 結果較精確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時間久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TW" sz="2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Nanosim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→ 略低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4%(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時間快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704087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8"/>
          <p:cNvSpPr txBox="1"/>
          <p:nvPr/>
        </p:nvSpPr>
        <p:spPr>
          <a:xfrm>
            <a:off x="273695" y="242796"/>
            <a:ext cx="400937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zh-TW" altLang="en-US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事前準備</a:t>
            </a:r>
            <a:endParaRPr lang="zh-CN" altLang="en-US" sz="3200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2" name="內容版面配置區 3">
            <a:extLst>
              <a:ext uri="{FF2B5EF4-FFF2-40B4-BE49-F238E27FC236}">
                <a16:creationId xmlns:a16="http://schemas.microsoft.com/office/drawing/2014/main" id="{D55641CA-3554-FDF3-4D4C-9EC8073EFC30}"/>
              </a:ext>
            </a:extLst>
          </p:cNvPr>
          <p:cNvSpPr>
            <a:spLocks noGrp="1"/>
          </p:cNvSpPr>
          <p:nvPr/>
        </p:nvSpPr>
        <p:spPr>
          <a:xfrm>
            <a:off x="92671" y="1096046"/>
            <a:ext cx="12677761" cy="1224135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zh-TW" altLang="en-US" sz="3200" dirty="0">
                <a:ea typeface="標楷體" panose="03000509000000000000" pitchFamily="65" charset="-120"/>
              </a:rPr>
              <a:t>將 </a:t>
            </a:r>
            <a:r>
              <a:rPr lang="en-US" altLang="zh-TW" sz="3200" dirty="0">
                <a:solidFill>
                  <a:srgbClr val="FF0000"/>
                </a:solidFill>
                <a:ea typeface="標楷體" panose="03000509000000000000" pitchFamily="65" charset="-120"/>
              </a:rPr>
              <a:t>cic018.l</a:t>
            </a:r>
            <a:r>
              <a:rPr lang="zh-TW" altLang="en-US" sz="3200" dirty="0">
                <a:ea typeface="標楷體" panose="03000509000000000000" pitchFamily="65" charset="-120"/>
              </a:rPr>
              <a:t>、</a:t>
            </a:r>
            <a:r>
              <a:rPr lang="en-US" altLang="zh-TW" sz="3200" dirty="0">
                <a:solidFill>
                  <a:srgbClr val="FF0000"/>
                </a:solidFill>
                <a:ea typeface="標楷體" panose="03000509000000000000" pitchFamily="65" charset="-120"/>
              </a:rPr>
              <a:t>cic18_fix.tf </a:t>
            </a:r>
            <a:r>
              <a:rPr lang="zh-TW" altLang="en-US" sz="3200" dirty="0">
                <a:ea typeface="標楷體" panose="03000509000000000000" pitchFamily="65" charset="-120"/>
              </a:rPr>
              <a:t>及 </a:t>
            </a:r>
            <a:r>
              <a:rPr lang="en-US" altLang="zh-TW" sz="3200" dirty="0" err="1">
                <a:solidFill>
                  <a:srgbClr val="FF0000"/>
                </a:solidFill>
                <a:ea typeface="標楷體" panose="03000509000000000000" pitchFamily="65" charset="-120"/>
              </a:rPr>
              <a:t>display.drf</a:t>
            </a:r>
            <a:r>
              <a:rPr lang="zh-TW" altLang="en-US" sz="3200" dirty="0">
                <a:solidFill>
                  <a:srgbClr val="FF0000"/>
                </a:solidFill>
                <a:ea typeface="標楷體" panose="03000509000000000000" pitchFamily="65" charset="-120"/>
              </a:rPr>
              <a:t> </a:t>
            </a:r>
            <a:r>
              <a:rPr lang="zh-TW" altLang="en-US" sz="3200" dirty="0">
                <a:ea typeface="標楷體" panose="03000509000000000000" pitchFamily="65" charset="-120"/>
              </a:rPr>
              <a:t>放進欲執行 </a:t>
            </a:r>
            <a:r>
              <a:rPr lang="en-US" altLang="zh-TW" sz="3200" dirty="0">
                <a:ea typeface="標楷體" panose="03000509000000000000" pitchFamily="65" charset="-120"/>
              </a:rPr>
              <a:t>virtuoso</a:t>
            </a:r>
            <a:r>
              <a:rPr lang="zh-TW" altLang="en-US" sz="3200" dirty="0">
                <a:ea typeface="標楷體" panose="03000509000000000000" pitchFamily="65" charset="-120"/>
              </a:rPr>
              <a:t> 的資料夾內</a:t>
            </a:r>
            <a:endParaRPr lang="en-US" altLang="zh-TW" sz="3200" dirty="0">
              <a:ea typeface="標楷體" panose="03000509000000000000" pitchFamily="65" charset="-120"/>
            </a:endParaRPr>
          </a:p>
          <a:p>
            <a:pPr algn="just"/>
            <a:r>
              <a:rPr lang="zh-TW" altLang="en-US" sz="3200" dirty="0">
                <a:ea typeface="標楷體" panose="03000509000000000000" pitchFamily="65" charset="-120"/>
              </a:rPr>
              <a:t>使用 </a:t>
            </a:r>
            <a:r>
              <a:rPr lang="en-US" altLang="zh-TW" sz="3200" dirty="0">
                <a:ea typeface="標楷體" panose="03000509000000000000" pitchFamily="65" charset="-120"/>
              </a:rPr>
              <a:t>EDA Tools</a:t>
            </a:r>
            <a:r>
              <a:rPr lang="zh-TW" altLang="en-US" sz="3200" dirty="0">
                <a:ea typeface="標楷體" panose="03000509000000000000" pitchFamily="65" charset="-120"/>
              </a:rPr>
              <a:t> 之前，請記得在 </a:t>
            </a:r>
            <a:r>
              <a:rPr lang="en-US" altLang="zh-TW" sz="3200" dirty="0">
                <a:ea typeface="標楷體" panose="03000509000000000000" pitchFamily="65" charset="-120"/>
              </a:rPr>
              <a:t>Terminal </a:t>
            </a:r>
            <a:r>
              <a:rPr lang="zh-TW" altLang="en-US" sz="3200" dirty="0">
                <a:ea typeface="標楷體" panose="03000509000000000000" pitchFamily="65" charset="-120"/>
              </a:rPr>
              <a:t>下輸入 </a:t>
            </a:r>
            <a:r>
              <a:rPr lang="en-US" altLang="zh-TW" sz="3200" dirty="0" err="1">
                <a:solidFill>
                  <a:srgbClr val="FF0000"/>
                </a:solidFill>
                <a:ea typeface="標楷體" panose="03000509000000000000" pitchFamily="65" charset="-120"/>
              </a:rPr>
              <a:t>tcsh</a:t>
            </a:r>
            <a:endParaRPr lang="en-US" altLang="zh-TW" sz="3200" dirty="0">
              <a:solidFill>
                <a:srgbClr val="FF0000"/>
              </a:solidFill>
              <a:ea typeface="標楷體" panose="03000509000000000000" pitchFamily="65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F3F3C6C-396C-5634-0C2B-661A898AEA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5044" y="2248173"/>
            <a:ext cx="5248662" cy="4902396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F7457749-2962-8B1B-DBB2-3EA639DF1BF4}"/>
              </a:ext>
            </a:extLst>
          </p:cNvPr>
          <p:cNvSpPr/>
          <p:nvPr/>
        </p:nvSpPr>
        <p:spPr>
          <a:xfrm>
            <a:off x="3837087" y="4070283"/>
            <a:ext cx="4519151" cy="30802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7141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8"/>
          <p:cNvSpPr txBox="1"/>
          <p:nvPr/>
        </p:nvSpPr>
        <p:spPr>
          <a:xfrm>
            <a:off x="273695" y="242796"/>
            <a:ext cx="400937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TW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Create Library</a:t>
            </a:r>
            <a:endParaRPr lang="zh-CN" altLang="en-US" sz="3200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4A3499E-1ADB-5855-2A57-8C10492788E9}"/>
              </a:ext>
            </a:extLst>
          </p:cNvPr>
          <p:cNvSpPr>
            <a:spLocks noGrp="1"/>
          </p:cNvSpPr>
          <p:nvPr/>
        </p:nvSpPr>
        <p:spPr>
          <a:xfrm>
            <a:off x="92671" y="1096046"/>
            <a:ext cx="12677761" cy="648071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zh-TW" sz="3200" dirty="0">
                <a:ea typeface="標楷體" panose="03000509000000000000" pitchFamily="65" charset="-120"/>
              </a:rPr>
              <a:t>Terminal </a:t>
            </a:r>
            <a:r>
              <a:rPr lang="zh-TW" altLang="en-US" sz="3200" dirty="0">
                <a:ea typeface="標楷體" panose="03000509000000000000" pitchFamily="65" charset="-120"/>
              </a:rPr>
              <a:t>下輸入 </a:t>
            </a:r>
            <a:r>
              <a:rPr lang="en-US" altLang="zh-TW" sz="3200" dirty="0">
                <a:solidFill>
                  <a:srgbClr val="FF0000"/>
                </a:solidFill>
                <a:ea typeface="標楷體" panose="03000509000000000000" pitchFamily="65" charset="-120"/>
              </a:rPr>
              <a:t>virtuoso &amp;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7A2A8F9B-08C3-A860-675D-1D69F1C816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776" y="1960141"/>
            <a:ext cx="11749197" cy="5029713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348296A2-EB1E-CB5A-4DEB-FF520EB6F9EB}"/>
              </a:ext>
            </a:extLst>
          </p:cNvPr>
          <p:cNvSpPr/>
          <p:nvPr/>
        </p:nvSpPr>
        <p:spPr>
          <a:xfrm>
            <a:off x="3549055" y="1888133"/>
            <a:ext cx="1134775" cy="2880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箭號: 向右 11">
            <a:extLst>
              <a:ext uri="{FF2B5EF4-FFF2-40B4-BE49-F238E27FC236}">
                <a16:creationId xmlns:a16="http://schemas.microsoft.com/office/drawing/2014/main" id="{F554624E-78BE-5221-F447-EDCE4375AFC8}"/>
              </a:ext>
            </a:extLst>
          </p:cNvPr>
          <p:cNvSpPr/>
          <p:nvPr/>
        </p:nvSpPr>
        <p:spPr>
          <a:xfrm rot="17688750">
            <a:off x="8023899" y="1854433"/>
            <a:ext cx="1579408" cy="794639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9BA0F5C0-3502-E0E9-DC66-520BDC4B1727}"/>
              </a:ext>
            </a:extLst>
          </p:cNvPr>
          <p:cNvSpPr txBox="1"/>
          <p:nvPr/>
        </p:nvSpPr>
        <p:spPr>
          <a:xfrm>
            <a:off x="7622247" y="1117271"/>
            <a:ext cx="35189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主程式使用中，視窗請勿關閉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46EDEA2-EBB7-C8DF-B5F9-1CDBF443CCBE}"/>
              </a:ext>
            </a:extLst>
          </p:cNvPr>
          <p:cNvSpPr/>
          <p:nvPr/>
        </p:nvSpPr>
        <p:spPr>
          <a:xfrm>
            <a:off x="2108895" y="3760341"/>
            <a:ext cx="1008112" cy="288032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F4C84A4-5943-3A70-99B5-A0905E9FFC9F}"/>
              </a:ext>
            </a:extLst>
          </p:cNvPr>
          <p:cNvSpPr/>
          <p:nvPr/>
        </p:nvSpPr>
        <p:spPr>
          <a:xfrm>
            <a:off x="4557167" y="4048373"/>
            <a:ext cx="2016224" cy="288032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21E8991-016A-4EC3-ACBB-21F0DE7EC91D}"/>
              </a:ext>
            </a:extLst>
          </p:cNvPr>
          <p:cNvSpPr/>
          <p:nvPr/>
        </p:nvSpPr>
        <p:spPr>
          <a:xfrm>
            <a:off x="6861423" y="4054833"/>
            <a:ext cx="2520280" cy="288032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8A2DF30-4E49-EF25-6E65-A5496FC9256C}"/>
              </a:ext>
            </a:extLst>
          </p:cNvPr>
          <p:cNvSpPr/>
          <p:nvPr/>
        </p:nvSpPr>
        <p:spPr>
          <a:xfrm>
            <a:off x="6429375" y="6640661"/>
            <a:ext cx="648072" cy="288032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6E4E6EE6-207F-C368-52B2-D16B5ED32F2B}"/>
              </a:ext>
            </a:extLst>
          </p:cNvPr>
          <p:cNvSpPr txBox="1"/>
          <p:nvPr/>
        </p:nvSpPr>
        <p:spPr>
          <a:xfrm>
            <a:off x="3693071" y="3593168"/>
            <a:ext cx="35349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>
                <a:solidFill>
                  <a:srgbClr val="000099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輸入自己 </a:t>
            </a:r>
            <a:r>
              <a:rPr lang="en-US" altLang="zh-TW" sz="2400" b="1" dirty="0">
                <a:solidFill>
                  <a:srgbClr val="000099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Library </a:t>
            </a:r>
            <a:r>
              <a:rPr lang="zh-TW" altLang="en-US" sz="2400" b="1" dirty="0">
                <a:solidFill>
                  <a:srgbClr val="000099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的名字</a:t>
            </a:r>
            <a:endParaRPr lang="en-US" altLang="zh-TW" sz="2400" b="1" dirty="0">
              <a:solidFill>
                <a:srgbClr val="000099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12C8FADF-A794-C11A-8DDF-82C783F6E602}"/>
              </a:ext>
            </a:extLst>
          </p:cNvPr>
          <p:cNvSpPr txBox="1"/>
          <p:nvPr/>
        </p:nvSpPr>
        <p:spPr>
          <a:xfrm>
            <a:off x="7437487" y="719019"/>
            <a:ext cx="41596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Command Interpreter Windows (CIW)</a:t>
            </a:r>
          </a:p>
        </p:txBody>
      </p:sp>
    </p:spTree>
    <p:extLst>
      <p:ext uri="{BB962C8B-B14F-4D97-AF65-F5344CB8AC3E}">
        <p14:creationId xmlns:p14="http://schemas.microsoft.com/office/powerpoint/2010/main" val="32310326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B6E7AB6C-1BCE-9A42-4854-84232AB74D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774" y="3112269"/>
            <a:ext cx="5569957" cy="3988244"/>
          </a:xfrm>
          <a:prstGeom prst="rect">
            <a:avLst/>
          </a:prstGeom>
        </p:spPr>
      </p:pic>
      <p:sp>
        <p:nvSpPr>
          <p:cNvPr id="41" name="TextBox 8"/>
          <p:cNvSpPr txBox="1"/>
          <p:nvPr/>
        </p:nvSpPr>
        <p:spPr>
          <a:xfrm>
            <a:off x="273695" y="242796"/>
            <a:ext cx="400937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TW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Create Library</a:t>
            </a:r>
            <a:endParaRPr lang="zh-CN" altLang="en-US" sz="3200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028B253D-1CC5-617D-80CF-80E51D585D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62" y="1303715"/>
            <a:ext cx="5601152" cy="156735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A190031B-9A49-914C-10D6-32FA7C0505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3391" y="1312069"/>
            <a:ext cx="5603624" cy="1567350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3FF3A1E2-32F6-3C9D-F49D-80BE0DE8E26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3391" y="3760341"/>
            <a:ext cx="5639467" cy="2448272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718079C6-14AB-ABC0-3EA9-9F77B6DB0173}"/>
              </a:ext>
            </a:extLst>
          </p:cNvPr>
          <p:cNvSpPr/>
          <p:nvPr/>
        </p:nvSpPr>
        <p:spPr>
          <a:xfrm>
            <a:off x="5133231" y="1744117"/>
            <a:ext cx="946783" cy="2880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C8DBE35-EA10-4A36-3DD4-569F40605DCD}"/>
              </a:ext>
            </a:extLst>
          </p:cNvPr>
          <p:cNvSpPr/>
          <p:nvPr/>
        </p:nvSpPr>
        <p:spPr>
          <a:xfrm>
            <a:off x="1331599" y="4066573"/>
            <a:ext cx="3945648" cy="2698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6494685-8D65-7376-EB76-7683882301EA}"/>
              </a:ext>
            </a:extLst>
          </p:cNvPr>
          <p:cNvSpPr/>
          <p:nvPr/>
        </p:nvSpPr>
        <p:spPr>
          <a:xfrm>
            <a:off x="5296288" y="6496645"/>
            <a:ext cx="730759" cy="2880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F3575AE-64EE-B8F8-FB52-F7FA5B080D58}"/>
              </a:ext>
            </a:extLst>
          </p:cNvPr>
          <p:cNvSpPr/>
          <p:nvPr/>
        </p:nvSpPr>
        <p:spPr>
          <a:xfrm>
            <a:off x="3981103" y="2591387"/>
            <a:ext cx="730759" cy="2880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FC29F34-9755-CA17-BC77-2EB2E169FEE0}"/>
              </a:ext>
            </a:extLst>
          </p:cNvPr>
          <p:cNvSpPr/>
          <p:nvPr/>
        </p:nvSpPr>
        <p:spPr>
          <a:xfrm>
            <a:off x="10677847" y="1738947"/>
            <a:ext cx="1442632" cy="2880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726D995-30D0-BA16-7063-AC472DFC0523}"/>
              </a:ext>
            </a:extLst>
          </p:cNvPr>
          <p:cNvSpPr/>
          <p:nvPr/>
        </p:nvSpPr>
        <p:spPr>
          <a:xfrm>
            <a:off x="6717407" y="4696445"/>
            <a:ext cx="1512168" cy="2880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TextBox 8">
            <a:extLst>
              <a:ext uri="{FF2B5EF4-FFF2-40B4-BE49-F238E27FC236}">
                <a16:creationId xmlns:a16="http://schemas.microsoft.com/office/drawing/2014/main" id="{D8EA0452-6394-511F-924D-70E8652ACFDF}"/>
              </a:ext>
            </a:extLst>
          </p:cNvPr>
          <p:cNvSpPr txBox="1"/>
          <p:nvPr/>
        </p:nvSpPr>
        <p:spPr>
          <a:xfrm>
            <a:off x="5162541" y="1243320"/>
            <a:ext cx="339377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TW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1.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27" name="TextBox 8">
            <a:extLst>
              <a:ext uri="{FF2B5EF4-FFF2-40B4-BE49-F238E27FC236}">
                <a16:creationId xmlns:a16="http://schemas.microsoft.com/office/drawing/2014/main" id="{AF83B097-CFD4-144C-0A04-F1C8755F403D}"/>
              </a:ext>
            </a:extLst>
          </p:cNvPr>
          <p:cNvSpPr txBox="1"/>
          <p:nvPr/>
        </p:nvSpPr>
        <p:spPr>
          <a:xfrm>
            <a:off x="1820863" y="4323033"/>
            <a:ext cx="339377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TW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2.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28" name="TextBox 8">
            <a:extLst>
              <a:ext uri="{FF2B5EF4-FFF2-40B4-BE49-F238E27FC236}">
                <a16:creationId xmlns:a16="http://schemas.microsoft.com/office/drawing/2014/main" id="{5200FA43-058B-9F3B-3205-D11C75D83011}"/>
              </a:ext>
            </a:extLst>
          </p:cNvPr>
          <p:cNvSpPr txBox="1"/>
          <p:nvPr/>
        </p:nvSpPr>
        <p:spPr>
          <a:xfrm>
            <a:off x="5436933" y="6012014"/>
            <a:ext cx="339377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TW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3.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29" name="TextBox 8">
            <a:extLst>
              <a:ext uri="{FF2B5EF4-FFF2-40B4-BE49-F238E27FC236}">
                <a16:creationId xmlns:a16="http://schemas.microsoft.com/office/drawing/2014/main" id="{5DA89ED1-FCA5-E058-6DE8-EC572B3A71EC}"/>
              </a:ext>
            </a:extLst>
          </p:cNvPr>
          <p:cNvSpPr txBox="1"/>
          <p:nvPr/>
        </p:nvSpPr>
        <p:spPr>
          <a:xfrm>
            <a:off x="3641726" y="2499224"/>
            <a:ext cx="339377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TW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4.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0" name="TextBox 8">
            <a:extLst>
              <a:ext uri="{FF2B5EF4-FFF2-40B4-BE49-F238E27FC236}">
                <a16:creationId xmlns:a16="http://schemas.microsoft.com/office/drawing/2014/main" id="{DD115F37-44F2-FA09-D79F-9D24034EEBD9}"/>
              </a:ext>
            </a:extLst>
          </p:cNvPr>
          <p:cNvSpPr txBox="1"/>
          <p:nvPr/>
        </p:nvSpPr>
        <p:spPr>
          <a:xfrm>
            <a:off x="10605839" y="2105944"/>
            <a:ext cx="1905844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成功信息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1" name="TextBox 8">
            <a:extLst>
              <a:ext uri="{FF2B5EF4-FFF2-40B4-BE49-F238E27FC236}">
                <a16:creationId xmlns:a16="http://schemas.microsoft.com/office/drawing/2014/main" id="{D42FD779-E400-CA72-F3EF-0D20DAB4FB63}"/>
              </a:ext>
            </a:extLst>
          </p:cNvPr>
          <p:cNvSpPr txBox="1"/>
          <p:nvPr/>
        </p:nvSpPr>
        <p:spPr>
          <a:xfrm>
            <a:off x="8373591" y="4549683"/>
            <a:ext cx="2866531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TW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Library </a:t>
            </a:r>
            <a:r>
              <a:rPr lang="zh-TW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已建立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66195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8"/>
          <p:cNvSpPr txBox="1"/>
          <p:nvPr/>
        </p:nvSpPr>
        <p:spPr>
          <a:xfrm>
            <a:off x="273695" y="242796"/>
            <a:ext cx="400937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TW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Schematic view</a:t>
            </a:r>
            <a:endParaRPr lang="zh-CN" altLang="en-US" sz="3200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2" name="object 4">
            <a:extLst>
              <a:ext uri="{FF2B5EF4-FFF2-40B4-BE49-F238E27FC236}">
                <a16:creationId xmlns:a16="http://schemas.microsoft.com/office/drawing/2014/main" id="{F0AF4160-ED5E-0A5F-F84E-1EA11075F85C}"/>
              </a:ext>
            </a:extLst>
          </p:cNvPr>
          <p:cNvSpPr/>
          <p:nvPr/>
        </p:nvSpPr>
        <p:spPr>
          <a:xfrm>
            <a:off x="1615239" y="2009255"/>
            <a:ext cx="9628272" cy="47416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D19379F-0D04-EFEC-0858-3098B2CC69A9}"/>
              </a:ext>
            </a:extLst>
          </p:cNvPr>
          <p:cNvSpPr>
            <a:spLocks noGrp="1"/>
          </p:cNvSpPr>
          <p:nvPr/>
        </p:nvSpPr>
        <p:spPr>
          <a:xfrm>
            <a:off x="3693071" y="1168053"/>
            <a:ext cx="5472608" cy="648071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3200" dirty="0">
                <a:ea typeface="標楷體" panose="03000509000000000000" pitchFamily="65" charset="-120"/>
              </a:rPr>
              <a:t>Ex:</a:t>
            </a:r>
            <a:r>
              <a:rPr lang="zh-TW" altLang="en-US" sz="3200" dirty="0">
                <a:ea typeface="標楷體" panose="03000509000000000000" pitchFamily="65" charset="-120"/>
              </a:rPr>
              <a:t> </a:t>
            </a:r>
            <a:r>
              <a:rPr lang="en-US" altLang="zh-TW" sz="3200" dirty="0">
                <a:ea typeface="標楷體" panose="03000509000000000000" pitchFamily="65" charset="-120"/>
              </a:rPr>
              <a:t>Inverter</a:t>
            </a:r>
            <a:r>
              <a:rPr lang="zh-TW" altLang="en-US" sz="3200" dirty="0">
                <a:ea typeface="標楷體" panose="03000509000000000000" pitchFamily="65" charset="-120"/>
              </a:rPr>
              <a:t> </a:t>
            </a:r>
            <a:r>
              <a:rPr lang="en-US" altLang="zh-TW" sz="3200" dirty="0">
                <a:ea typeface="標楷體" panose="03000509000000000000" pitchFamily="65" charset="-120"/>
              </a:rPr>
              <a:t>(Basic CMOS gate)</a:t>
            </a:r>
          </a:p>
        </p:txBody>
      </p:sp>
    </p:spTree>
    <p:extLst>
      <p:ext uri="{BB962C8B-B14F-4D97-AF65-F5344CB8AC3E}">
        <p14:creationId xmlns:p14="http://schemas.microsoft.com/office/powerpoint/2010/main" val="15013108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8"/>
          <p:cNvSpPr txBox="1"/>
          <p:nvPr/>
        </p:nvSpPr>
        <p:spPr>
          <a:xfrm>
            <a:off x="273695" y="242796"/>
            <a:ext cx="400937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TW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Create Schematic</a:t>
            </a:r>
            <a:endParaRPr lang="zh-CN" altLang="en-US" sz="3200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B0C9C97-6469-E620-EBF5-E55F94C4B3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2510" y="1672109"/>
            <a:ext cx="9753730" cy="4176464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F902DE2B-02BF-B49A-E845-A82C22A4B807}"/>
              </a:ext>
            </a:extLst>
          </p:cNvPr>
          <p:cNvSpPr/>
          <p:nvPr/>
        </p:nvSpPr>
        <p:spPr>
          <a:xfrm>
            <a:off x="3117007" y="2896245"/>
            <a:ext cx="1008112" cy="288032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1B76963-1829-538D-44FD-AAECF4DFAB4A}"/>
              </a:ext>
            </a:extLst>
          </p:cNvPr>
          <p:cNvSpPr/>
          <p:nvPr/>
        </p:nvSpPr>
        <p:spPr>
          <a:xfrm>
            <a:off x="6213351" y="2536205"/>
            <a:ext cx="2232248" cy="288032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B3B9A11-D5D7-31C9-B8C5-CF47EF98E7CF}"/>
              </a:ext>
            </a:extLst>
          </p:cNvPr>
          <p:cNvSpPr/>
          <p:nvPr/>
        </p:nvSpPr>
        <p:spPr>
          <a:xfrm>
            <a:off x="6213351" y="2896245"/>
            <a:ext cx="2232248" cy="1152128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514FE44-5E3D-A0F0-885C-433FF0F67FF6}"/>
              </a:ext>
            </a:extLst>
          </p:cNvPr>
          <p:cNvSpPr txBox="1"/>
          <p:nvPr/>
        </p:nvSpPr>
        <p:spPr>
          <a:xfrm>
            <a:off x="8420986" y="2466523"/>
            <a:ext cx="2406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>
                <a:solidFill>
                  <a:srgbClr val="000099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輸入 </a:t>
            </a:r>
            <a:r>
              <a:rPr lang="en-US" altLang="zh-TW" sz="2400" b="1" dirty="0">
                <a:solidFill>
                  <a:srgbClr val="000099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Cell </a:t>
            </a:r>
            <a:r>
              <a:rPr lang="zh-TW" altLang="en-US" sz="2400" b="1" dirty="0">
                <a:solidFill>
                  <a:srgbClr val="000099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的名字</a:t>
            </a:r>
            <a:endParaRPr lang="en-US" altLang="zh-TW" sz="2400" b="1" dirty="0">
              <a:solidFill>
                <a:srgbClr val="000099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B1D46A4-7DF6-84F3-1B9D-EBA3DB3CEB2A}"/>
              </a:ext>
            </a:extLst>
          </p:cNvPr>
          <p:cNvSpPr/>
          <p:nvPr/>
        </p:nvSpPr>
        <p:spPr>
          <a:xfrm>
            <a:off x="6429375" y="5488533"/>
            <a:ext cx="720080" cy="346883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2120BF5-4B36-C799-E2BB-C2A7CEA88AAF}"/>
              </a:ext>
            </a:extLst>
          </p:cNvPr>
          <p:cNvSpPr/>
          <p:nvPr/>
        </p:nvSpPr>
        <p:spPr>
          <a:xfrm>
            <a:off x="6213351" y="2223930"/>
            <a:ext cx="2232248" cy="288032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FDA529D-1B69-B6FB-2965-2F320C18EE66}"/>
              </a:ext>
            </a:extLst>
          </p:cNvPr>
          <p:cNvSpPr txBox="1"/>
          <p:nvPr/>
        </p:nvSpPr>
        <p:spPr>
          <a:xfrm>
            <a:off x="5574344" y="1807704"/>
            <a:ext cx="31502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>
                <a:solidFill>
                  <a:srgbClr val="000099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選擇你創建的 </a:t>
            </a:r>
            <a:r>
              <a:rPr lang="en-US" altLang="zh-TW" sz="2400" b="1" dirty="0">
                <a:solidFill>
                  <a:srgbClr val="000099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Library</a:t>
            </a:r>
          </a:p>
        </p:txBody>
      </p:sp>
    </p:spTree>
    <p:extLst>
      <p:ext uri="{BB962C8B-B14F-4D97-AF65-F5344CB8AC3E}">
        <p14:creationId xmlns:p14="http://schemas.microsoft.com/office/powerpoint/2010/main" val="32172660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8"/>
          <p:cNvSpPr txBox="1"/>
          <p:nvPr/>
        </p:nvSpPr>
        <p:spPr>
          <a:xfrm>
            <a:off x="273695" y="242796"/>
            <a:ext cx="400937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TW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Create Schematic</a:t>
            </a:r>
            <a:endParaRPr lang="zh-CN" altLang="en-US" sz="3200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53E02205-7565-8280-BEE0-086DC06E51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7369" y="681668"/>
            <a:ext cx="7964011" cy="6401693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9CD0125B-3BCA-B919-1947-80C1164EF62B}"/>
              </a:ext>
            </a:extLst>
          </p:cNvPr>
          <p:cNvSpPr/>
          <p:nvPr/>
        </p:nvSpPr>
        <p:spPr>
          <a:xfrm>
            <a:off x="2396927" y="6856685"/>
            <a:ext cx="8136904" cy="288032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574690DA-8E5D-241B-1B1E-4EDF23D20B1E}"/>
              </a:ext>
            </a:extLst>
          </p:cNvPr>
          <p:cNvSpPr txBox="1"/>
          <p:nvPr/>
        </p:nvSpPr>
        <p:spPr>
          <a:xfrm>
            <a:off x="243151" y="6734984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>
                <a:solidFill>
                  <a:srgbClr val="000099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當前執行指令</a:t>
            </a:r>
            <a:endParaRPr lang="en-US" altLang="zh-TW" sz="2400" b="1" dirty="0">
              <a:solidFill>
                <a:srgbClr val="000099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3390E27-EB9C-4E95-B147-BDF7473D778E}"/>
              </a:ext>
            </a:extLst>
          </p:cNvPr>
          <p:cNvSpPr/>
          <p:nvPr/>
        </p:nvSpPr>
        <p:spPr>
          <a:xfrm>
            <a:off x="2448763" y="1240061"/>
            <a:ext cx="7962617" cy="288032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20615C38-A4AD-8A55-C3F5-EBC7DD6EE964}"/>
              </a:ext>
            </a:extLst>
          </p:cNvPr>
          <p:cNvSpPr txBox="1"/>
          <p:nvPr/>
        </p:nvSpPr>
        <p:spPr>
          <a:xfrm>
            <a:off x="390823" y="1153244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>
                <a:solidFill>
                  <a:srgbClr val="000099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常用功能列</a:t>
            </a:r>
            <a:endParaRPr lang="en-US" altLang="zh-TW" sz="2400" b="1" dirty="0">
              <a:solidFill>
                <a:srgbClr val="000099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944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8"/>
          <p:cNvSpPr txBox="1"/>
          <p:nvPr/>
        </p:nvSpPr>
        <p:spPr>
          <a:xfrm>
            <a:off x="273695" y="242796"/>
            <a:ext cx="400937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TW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Create Schematic</a:t>
            </a:r>
            <a:endParaRPr lang="zh-CN" altLang="en-US" sz="3200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5" name="內容版面配置區 3">
            <a:extLst>
              <a:ext uri="{FF2B5EF4-FFF2-40B4-BE49-F238E27FC236}">
                <a16:creationId xmlns:a16="http://schemas.microsoft.com/office/drawing/2014/main" id="{455E2071-07B9-A57C-32C0-E38F5F678505}"/>
              </a:ext>
            </a:extLst>
          </p:cNvPr>
          <p:cNvSpPr>
            <a:spLocks noGrp="1"/>
          </p:cNvSpPr>
          <p:nvPr/>
        </p:nvSpPr>
        <p:spPr>
          <a:xfrm>
            <a:off x="92671" y="1096046"/>
            <a:ext cx="12677761" cy="1440159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zh-TW" altLang="en-US" sz="3200" dirty="0">
                <a:ea typeface="標楷體" panose="03000509000000000000" pitchFamily="65" charset="-120"/>
              </a:rPr>
              <a:t>按下 </a:t>
            </a:r>
            <a:r>
              <a:rPr lang="en-US" altLang="zh-TW" sz="3200" dirty="0">
                <a:ea typeface="標楷體" panose="03000509000000000000" pitchFamily="65" charset="-120"/>
              </a:rPr>
              <a:t>”I”</a:t>
            </a:r>
            <a:r>
              <a:rPr lang="zh-TW" altLang="en-US" sz="3200" dirty="0">
                <a:ea typeface="標楷體" panose="03000509000000000000" pitchFamily="65" charset="-120"/>
              </a:rPr>
              <a:t> 或點選     來加入 </a:t>
            </a:r>
            <a:r>
              <a:rPr lang="en-US" altLang="zh-TW" sz="3200" dirty="0">
                <a:ea typeface="標楷體" panose="03000509000000000000" pitchFamily="65" charset="-120"/>
              </a:rPr>
              <a:t>Instances</a:t>
            </a:r>
          </a:p>
          <a:p>
            <a:pPr algn="just"/>
            <a:r>
              <a:rPr lang="zh-TW" altLang="en-US" sz="3200" dirty="0">
                <a:ea typeface="標楷體" panose="03000509000000000000" pitchFamily="65" charset="-120"/>
              </a:rPr>
              <a:t>選用 </a:t>
            </a:r>
            <a:r>
              <a:rPr lang="en-US" altLang="zh-TW" sz="3200" dirty="0">
                <a:ea typeface="標楷體" panose="03000509000000000000" pitchFamily="65" charset="-120"/>
              </a:rPr>
              <a:t>“</a:t>
            </a:r>
            <a:r>
              <a:rPr lang="en-US" altLang="zh-TW" sz="3200" dirty="0" err="1">
                <a:solidFill>
                  <a:srgbClr val="FF0000"/>
                </a:solidFill>
                <a:ea typeface="標楷體" panose="03000509000000000000" pitchFamily="65" charset="-120"/>
              </a:rPr>
              <a:t>vdd</a:t>
            </a:r>
            <a:r>
              <a:rPr lang="en-US" altLang="zh-TW" sz="3200" dirty="0">
                <a:ea typeface="標楷體" panose="03000509000000000000" pitchFamily="65" charset="-120"/>
              </a:rPr>
              <a:t>”, “</a:t>
            </a:r>
            <a:r>
              <a:rPr lang="en-US" altLang="zh-TW" sz="3200" dirty="0" err="1">
                <a:solidFill>
                  <a:srgbClr val="FF0000"/>
                </a:solidFill>
                <a:ea typeface="標楷體" panose="03000509000000000000" pitchFamily="65" charset="-120"/>
              </a:rPr>
              <a:t>gnd</a:t>
            </a:r>
            <a:r>
              <a:rPr lang="en-US" altLang="zh-TW" sz="3200" dirty="0">
                <a:ea typeface="標楷體" panose="03000509000000000000" pitchFamily="65" charset="-120"/>
              </a:rPr>
              <a:t>”, “</a:t>
            </a:r>
            <a:r>
              <a:rPr lang="en-US" altLang="zh-TW" sz="3200" dirty="0">
                <a:solidFill>
                  <a:srgbClr val="FF0000"/>
                </a:solidFill>
                <a:ea typeface="標楷體" panose="03000509000000000000" pitchFamily="65" charset="-120"/>
              </a:rPr>
              <a:t>pmos4</a:t>
            </a:r>
            <a:r>
              <a:rPr lang="en-US" altLang="zh-TW" sz="3200" dirty="0">
                <a:ea typeface="標楷體" panose="03000509000000000000" pitchFamily="65" charset="-120"/>
              </a:rPr>
              <a:t>”, “</a:t>
            </a:r>
            <a:r>
              <a:rPr lang="en-US" altLang="zh-TW" sz="3200" dirty="0">
                <a:solidFill>
                  <a:srgbClr val="FF0000"/>
                </a:solidFill>
                <a:ea typeface="標楷體" panose="03000509000000000000" pitchFamily="65" charset="-120"/>
              </a:rPr>
              <a:t>nmos4</a:t>
            </a:r>
            <a:r>
              <a:rPr lang="en-US" altLang="zh-TW" sz="3200" dirty="0">
                <a:ea typeface="標楷體" panose="03000509000000000000" pitchFamily="65" charset="-120"/>
              </a:rPr>
              <a:t>”</a:t>
            </a:r>
            <a:r>
              <a:rPr lang="zh-TW" altLang="en-US" sz="3200" dirty="0">
                <a:ea typeface="標楷體" panose="03000509000000000000" pitchFamily="65" charset="-120"/>
              </a:rPr>
              <a:t> 來畫 </a:t>
            </a:r>
            <a:r>
              <a:rPr lang="en-US" altLang="zh-TW" sz="3200" dirty="0">
                <a:ea typeface="標楷體" panose="03000509000000000000" pitchFamily="65" charset="-120"/>
              </a:rPr>
              <a:t>Schematic  </a:t>
            </a:r>
            <a:r>
              <a:rPr lang="zh-TW" altLang="en-US" sz="3200" dirty="0">
                <a:ea typeface="標楷體" panose="03000509000000000000" pitchFamily="65" charset="-120"/>
              </a:rPr>
              <a:t>     </a:t>
            </a:r>
            <a:endParaRPr lang="en-US" altLang="zh-TW" sz="3200" dirty="0">
              <a:ea typeface="標楷體" panose="03000509000000000000" pitchFamily="65" charset="-120"/>
            </a:endParaRPr>
          </a:p>
        </p:txBody>
      </p:sp>
      <p:sp>
        <p:nvSpPr>
          <p:cNvPr id="6" name="object 11">
            <a:extLst>
              <a:ext uri="{FF2B5EF4-FFF2-40B4-BE49-F238E27FC236}">
                <a16:creationId xmlns:a16="http://schemas.microsoft.com/office/drawing/2014/main" id="{274F083A-C001-8D22-C24C-979DC99C8A5B}"/>
              </a:ext>
            </a:extLst>
          </p:cNvPr>
          <p:cNvSpPr/>
          <p:nvPr/>
        </p:nvSpPr>
        <p:spPr>
          <a:xfrm>
            <a:off x="3261023" y="1237201"/>
            <a:ext cx="350520" cy="3657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5790C94-4A86-76D7-F21B-3C6A011664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1354" y="2231926"/>
            <a:ext cx="4742157" cy="492904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B221C836-C072-5A4A-7595-1D25522633ED}"/>
              </a:ext>
            </a:extLst>
          </p:cNvPr>
          <p:cNvSpPr/>
          <p:nvPr/>
        </p:nvSpPr>
        <p:spPr>
          <a:xfrm>
            <a:off x="2931410" y="2536205"/>
            <a:ext cx="4223231" cy="1368152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D863D1B2-80FB-D013-053E-51AF176E90FB}"/>
              </a:ext>
            </a:extLst>
          </p:cNvPr>
          <p:cNvSpPr txBox="1"/>
          <p:nvPr/>
        </p:nvSpPr>
        <p:spPr>
          <a:xfrm>
            <a:off x="4290842" y="3802732"/>
            <a:ext cx="26019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>
                <a:solidFill>
                  <a:srgbClr val="000099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選 </a:t>
            </a:r>
            <a:r>
              <a:rPr lang="en-US" altLang="zh-TW" sz="2400" b="1" dirty="0">
                <a:solidFill>
                  <a:srgbClr val="000099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Library </a:t>
            </a:r>
            <a:r>
              <a:rPr lang="zh-TW" altLang="en-US" sz="2400" b="1" dirty="0">
                <a:solidFill>
                  <a:srgbClr val="000099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及 </a:t>
            </a:r>
            <a:r>
              <a:rPr lang="en-US" altLang="zh-TW" sz="2400" b="1" dirty="0">
                <a:solidFill>
                  <a:srgbClr val="000099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Cell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F60B777-B433-9D48-F59F-64A3EFBA7713}"/>
              </a:ext>
            </a:extLst>
          </p:cNvPr>
          <p:cNvSpPr/>
          <p:nvPr/>
        </p:nvSpPr>
        <p:spPr>
          <a:xfrm>
            <a:off x="2931410" y="5472285"/>
            <a:ext cx="4223231" cy="664319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94E760DF-9A4D-9581-FF0D-918333365170}"/>
              </a:ext>
            </a:extLst>
          </p:cNvPr>
          <p:cNvSpPr txBox="1"/>
          <p:nvPr/>
        </p:nvSpPr>
        <p:spPr>
          <a:xfrm>
            <a:off x="2021410" y="5040237"/>
            <a:ext cx="57094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>
                <a:solidFill>
                  <a:srgbClr val="000099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依 </a:t>
            </a:r>
            <a:r>
              <a:rPr lang="en-US" altLang="zh-TW" sz="2400" b="1" dirty="0">
                <a:solidFill>
                  <a:srgbClr val="000099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HW </a:t>
            </a:r>
            <a:r>
              <a:rPr lang="zh-TW" altLang="en-US" sz="2400" b="1" dirty="0">
                <a:solidFill>
                  <a:srgbClr val="000099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要求輸入 </a:t>
            </a:r>
            <a:r>
              <a:rPr lang="en-US" altLang="zh-TW" sz="2400" b="1" dirty="0">
                <a:solidFill>
                  <a:srgbClr val="000099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MOS </a:t>
            </a:r>
            <a:r>
              <a:rPr lang="zh-TW" altLang="en-US" sz="2400" b="1" dirty="0">
                <a:solidFill>
                  <a:srgbClr val="000099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的長寬 </a:t>
            </a:r>
            <a:r>
              <a:rPr lang="en-US" altLang="zh-TW" sz="2400" b="1" dirty="0">
                <a:solidFill>
                  <a:srgbClr val="000099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 b="1" dirty="0">
                <a:solidFill>
                  <a:srgbClr val="000099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注意單位</a:t>
            </a:r>
            <a:r>
              <a:rPr lang="en-US" altLang="zh-TW" sz="2400" b="1" dirty="0">
                <a:solidFill>
                  <a:srgbClr val="000099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AE70C4DE-CCAF-D91E-3167-E957EFF154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4488" y="80815"/>
            <a:ext cx="2780421" cy="7071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0364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8"/>
          <p:cNvSpPr txBox="1"/>
          <p:nvPr/>
        </p:nvSpPr>
        <p:spPr>
          <a:xfrm>
            <a:off x="273695" y="242796"/>
            <a:ext cx="400937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TW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Create Schematic</a:t>
            </a:r>
            <a:endParaRPr lang="zh-CN" altLang="en-US" sz="3200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5" name="內容版面配置區 3">
            <a:extLst>
              <a:ext uri="{FF2B5EF4-FFF2-40B4-BE49-F238E27FC236}">
                <a16:creationId xmlns:a16="http://schemas.microsoft.com/office/drawing/2014/main" id="{455E2071-07B9-A57C-32C0-E38F5F678505}"/>
              </a:ext>
            </a:extLst>
          </p:cNvPr>
          <p:cNvSpPr>
            <a:spLocks noGrp="1"/>
          </p:cNvSpPr>
          <p:nvPr/>
        </p:nvSpPr>
        <p:spPr>
          <a:xfrm>
            <a:off x="92671" y="1096046"/>
            <a:ext cx="12677761" cy="2232247"/>
          </a:xfrm>
          <a:prstGeom prst="rect">
            <a:avLst/>
          </a:prstGeom>
        </p:spPr>
        <p:txBody>
          <a:bodyPr vert="horz">
            <a:normAutofit lnSpcReduction="1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zh-TW" altLang="en-US" sz="3200" dirty="0">
                <a:ea typeface="標楷體" panose="03000509000000000000" pitchFamily="65" charset="-120"/>
              </a:rPr>
              <a:t>按下 </a:t>
            </a:r>
            <a:r>
              <a:rPr lang="en-US" altLang="zh-TW" sz="3200" dirty="0">
                <a:ea typeface="標楷體" panose="03000509000000000000" pitchFamily="65" charset="-120"/>
              </a:rPr>
              <a:t>”P”</a:t>
            </a:r>
            <a:r>
              <a:rPr lang="zh-TW" altLang="en-US" sz="3200" dirty="0">
                <a:ea typeface="標楷體" panose="03000509000000000000" pitchFamily="65" charset="-120"/>
              </a:rPr>
              <a:t> 或點選     來加入 </a:t>
            </a:r>
            <a:r>
              <a:rPr lang="en-US" altLang="zh-TW" sz="3200" dirty="0">
                <a:ea typeface="標楷體" panose="03000509000000000000" pitchFamily="65" charset="-120"/>
              </a:rPr>
              <a:t>pin</a:t>
            </a:r>
          </a:p>
          <a:p>
            <a:pPr algn="just"/>
            <a:r>
              <a:rPr lang="zh-TW" altLang="en-US" sz="3200" dirty="0">
                <a:ea typeface="標楷體" panose="03000509000000000000" pitchFamily="65" charset="-120"/>
              </a:rPr>
              <a:t>按下 </a:t>
            </a:r>
            <a:r>
              <a:rPr lang="en-US" altLang="zh-TW" sz="3200" dirty="0">
                <a:ea typeface="標楷體" panose="03000509000000000000" pitchFamily="65" charset="-120"/>
              </a:rPr>
              <a:t>”W”</a:t>
            </a:r>
            <a:r>
              <a:rPr lang="zh-TW" altLang="en-US" sz="3200" dirty="0">
                <a:ea typeface="標楷體" panose="03000509000000000000" pitchFamily="65" charset="-120"/>
              </a:rPr>
              <a:t> 或點選     來進行 </a:t>
            </a:r>
            <a:r>
              <a:rPr lang="en-US" altLang="zh-TW" sz="3200" dirty="0">
                <a:ea typeface="標楷體" panose="03000509000000000000" pitchFamily="65" charset="-120"/>
              </a:rPr>
              <a:t>MOS</a:t>
            </a:r>
            <a:r>
              <a:rPr lang="zh-TW" altLang="en-US" sz="3200" dirty="0">
                <a:ea typeface="標楷體" panose="03000509000000000000" pitchFamily="65" charset="-120"/>
              </a:rPr>
              <a:t> 的接線</a:t>
            </a:r>
            <a:endParaRPr lang="en-US" altLang="zh-TW" sz="3200" dirty="0">
              <a:ea typeface="標楷體" panose="03000509000000000000" pitchFamily="65" charset="-120"/>
            </a:endParaRPr>
          </a:p>
          <a:p>
            <a:pPr algn="just"/>
            <a:r>
              <a:rPr lang="en-US" altLang="zh-TW" sz="3200" dirty="0">
                <a:ea typeface="標楷體" panose="03000509000000000000" pitchFamily="65" charset="-120"/>
              </a:rPr>
              <a:t>PMOS</a:t>
            </a:r>
            <a:r>
              <a:rPr lang="zh-TW" altLang="en-US" sz="3200" dirty="0">
                <a:ea typeface="標楷體" panose="03000509000000000000" pitchFamily="65" charset="-120"/>
              </a:rPr>
              <a:t> 的 </a:t>
            </a:r>
            <a:r>
              <a:rPr lang="en-US" altLang="zh-TW" sz="3200" dirty="0">
                <a:ea typeface="標楷體" panose="03000509000000000000" pitchFamily="65" charset="-120"/>
              </a:rPr>
              <a:t>Body</a:t>
            </a:r>
            <a:r>
              <a:rPr lang="zh-TW" altLang="en-US" sz="3200" dirty="0">
                <a:ea typeface="標楷體" panose="03000509000000000000" pitchFamily="65" charset="-120"/>
              </a:rPr>
              <a:t> 端接到 </a:t>
            </a:r>
            <a:r>
              <a:rPr lang="en-US" altLang="zh-TW" sz="3200" dirty="0" err="1">
                <a:ea typeface="標楷體" panose="03000509000000000000" pitchFamily="65" charset="-120"/>
              </a:rPr>
              <a:t>vdd</a:t>
            </a:r>
            <a:endParaRPr lang="en-US" altLang="zh-TW" sz="3200" dirty="0">
              <a:ea typeface="標楷體" panose="03000509000000000000" pitchFamily="65" charset="-120"/>
            </a:endParaRPr>
          </a:p>
          <a:p>
            <a:pPr algn="just"/>
            <a:r>
              <a:rPr lang="en-US" altLang="zh-TW" sz="3200" dirty="0">
                <a:ea typeface="標楷體" panose="03000509000000000000" pitchFamily="65" charset="-120"/>
              </a:rPr>
              <a:t>NMOS</a:t>
            </a:r>
            <a:r>
              <a:rPr lang="zh-TW" altLang="en-US" sz="3200" dirty="0">
                <a:ea typeface="標楷體" panose="03000509000000000000" pitchFamily="65" charset="-120"/>
              </a:rPr>
              <a:t> 的 </a:t>
            </a:r>
            <a:r>
              <a:rPr lang="en-US" altLang="zh-TW" sz="3200" dirty="0">
                <a:ea typeface="標楷體" panose="03000509000000000000" pitchFamily="65" charset="-120"/>
              </a:rPr>
              <a:t>Body </a:t>
            </a:r>
            <a:r>
              <a:rPr lang="zh-TW" altLang="en-US" sz="3200" dirty="0">
                <a:ea typeface="標楷體" panose="03000509000000000000" pitchFamily="65" charset="-120"/>
              </a:rPr>
              <a:t>端接到 </a:t>
            </a:r>
            <a:r>
              <a:rPr lang="en-US" altLang="zh-TW" sz="3200" dirty="0" err="1">
                <a:ea typeface="標楷體" panose="03000509000000000000" pitchFamily="65" charset="-120"/>
              </a:rPr>
              <a:t>gnd</a:t>
            </a:r>
            <a:endParaRPr lang="en-US" altLang="zh-TW" sz="3200" dirty="0">
              <a:ea typeface="標楷體" panose="03000509000000000000" pitchFamily="65" charset="-120"/>
            </a:endParaRPr>
          </a:p>
        </p:txBody>
      </p:sp>
      <p:sp>
        <p:nvSpPr>
          <p:cNvPr id="2" name="object 16">
            <a:extLst>
              <a:ext uri="{FF2B5EF4-FFF2-40B4-BE49-F238E27FC236}">
                <a16:creationId xmlns:a16="http://schemas.microsoft.com/office/drawing/2014/main" id="{5284A986-B9B1-22E6-A4FC-7B273CF17A16}"/>
              </a:ext>
            </a:extLst>
          </p:cNvPr>
          <p:cNvSpPr/>
          <p:nvPr/>
        </p:nvSpPr>
        <p:spPr>
          <a:xfrm>
            <a:off x="3299037" y="1168053"/>
            <a:ext cx="498870" cy="37462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17">
            <a:extLst>
              <a:ext uri="{FF2B5EF4-FFF2-40B4-BE49-F238E27FC236}">
                <a16:creationId xmlns:a16="http://schemas.microsoft.com/office/drawing/2014/main" id="{E8B5F8CF-C29B-2974-278D-030F32DB6966}"/>
              </a:ext>
            </a:extLst>
          </p:cNvPr>
          <p:cNvSpPr/>
          <p:nvPr/>
        </p:nvSpPr>
        <p:spPr>
          <a:xfrm>
            <a:off x="3477047" y="1672109"/>
            <a:ext cx="432048" cy="40077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60F97DDF-FCC1-40D6-50DC-83A087E707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719" y="3766709"/>
            <a:ext cx="2924583" cy="3391373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51284C4F-5D29-375D-C2B3-8E286D1FF47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0537" y="3792168"/>
            <a:ext cx="2943636" cy="3372321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85BF54B3-C8BC-EEF3-19EA-62345A086640}"/>
              </a:ext>
            </a:extLst>
          </p:cNvPr>
          <p:cNvSpPr/>
          <p:nvPr/>
        </p:nvSpPr>
        <p:spPr>
          <a:xfrm>
            <a:off x="1121127" y="4094243"/>
            <a:ext cx="2328176" cy="504056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C4D3272-431C-FBE4-2218-BA30C1F51EE5}"/>
              </a:ext>
            </a:extLst>
          </p:cNvPr>
          <p:cNvSpPr/>
          <p:nvPr/>
        </p:nvSpPr>
        <p:spPr>
          <a:xfrm>
            <a:off x="4231405" y="4130247"/>
            <a:ext cx="2328176" cy="504056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A4D3DC51-58C9-B457-2FE6-9FA084CCECE1}"/>
              </a:ext>
            </a:extLst>
          </p:cNvPr>
          <p:cNvSpPr txBox="1"/>
          <p:nvPr/>
        </p:nvSpPr>
        <p:spPr>
          <a:xfrm>
            <a:off x="608203" y="3256719"/>
            <a:ext cx="55459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>
                <a:solidFill>
                  <a:srgbClr val="000099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對 </a:t>
            </a:r>
            <a:r>
              <a:rPr lang="en-US" altLang="zh-TW" sz="2400" b="1" dirty="0">
                <a:solidFill>
                  <a:srgbClr val="000099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Pin </a:t>
            </a:r>
            <a:r>
              <a:rPr lang="zh-TW" altLang="en-US" sz="2400" b="1" dirty="0">
                <a:solidFill>
                  <a:srgbClr val="000099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進行命名及注意 </a:t>
            </a:r>
            <a:r>
              <a:rPr lang="en-US" altLang="zh-TW" sz="2400" b="1" dirty="0">
                <a:solidFill>
                  <a:srgbClr val="000099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Direction </a:t>
            </a:r>
            <a:r>
              <a:rPr lang="zh-TW" altLang="en-US" sz="2400" b="1" dirty="0">
                <a:solidFill>
                  <a:srgbClr val="000099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的種類</a:t>
            </a:r>
            <a:endParaRPr lang="en-US" altLang="zh-TW" sz="2400" b="1" dirty="0">
              <a:solidFill>
                <a:srgbClr val="000099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173D9299-BA82-5349-245C-C28D43FE234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4709" y="82057"/>
            <a:ext cx="5048955" cy="7068536"/>
          </a:xfrm>
          <a:prstGeom prst="rect">
            <a:avLst/>
          </a:prstGeom>
        </p:spPr>
      </p:pic>
      <p:sp>
        <p:nvSpPr>
          <p:cNvPr id="21" name="object 4">
            <a:extLst>
              <a:ext uri="{FF2B5EF4-FFF2-40B4-BE49-F238E27FC236}">
                <a16:creationId xmlns:a16="http://schemas.microsoft.com/office/drawing/2014/main" id="{8F7DD3AC-57E1-F349-B9CF-9C02D6CC5ACA}"/>
              </a:ext>
            </a:extLst>
          </p:cNvPr>
          <p:cNvSpPr/>
          <p:nvPr/>
        </p:nvSpPr>
        <p:spPr>
          <a:xfrm>
            <a:off x="9525719" y="1960141"/>
            <a:ext cx="806133" cy="3096344"/>
          </a:xfrm>
          <a:custGeom>
            <a:avLst/>
            <a:gdLst/>
            <a:ahLst/>
            <a:cxnLst/>
            <a:rect l="l" t="t" r="r" b="b"/>
            <a:pathLst>
              <a:path w="509270" h="3042285">
                <a:moveTo>
                  <a:pt x="104394" y="3006852"/>
                </a:moveTo>
                <a:lnTo>
                  <a:pt x="76962" y="3006852"/>
                </a:lnTo>
                <a:lnTo>
                  <a:pt x="70739" y="3006471"/>
                </a:lnTo>
                <a:lnTo>
                  <a:pt x="39370" y="2983611"/>
                </a:lnTo>
                <a:lnTo>
                  <a:pt x="35052" y="2967609"/>
                </a:lnTo>
                <a:lnTo>
                  <a:pt x="35052" y="2963291"/>
                </a:lnTo>
                <a:lnTo>
                  <a:pt x="35052" y="2684526"/>
                </a:lnTo>
                <a:lnTo>
                  <a:pt x="0" y="2684526"/>
                </a:lnTo>
                <a:lnTo>
                  <a:pt x="0" y="2964942"/>
                </a:lnTo>
                <a:lnTo>
                  <a:pt x="13081" y="3007995"/>
                </a:lnTo>
                <a:lnTo>
                  <a:pt x="46990" y="3035947"/>
                </a:lnTo>
                <a:lnTo>
                  <a:pt x="76962" y="3041916"/>
                </a:lnTo>
                <a:lnTo>
                  <a:pt x="104394" y="3041916"/>
                </a:lnTo>
                <a:lnTo>
                  <a:pt x="104394" y="3006852"/>
                </a:lnTo>
                <a:close/>
              </a:path>
              <a:path w="509270" h="3042285">
                <a:moveTo>
                  <a:pt x="152654" y="624840"/>
                </a:moveTo>
                <a:lnTo>
                  <a:pt x="122936" y="624840"/>
                </a:lnTo>
                <a:lnTo>
                  <a:pt x="116713" y="624459"/>
                </a:lnTo>
                <a:lnTo>
                  <a:pt x="85090" y="601599"/>
                </a:lnTo>
                <a:lnTo>
                  <a:pt x="80772" y="585470"/>
                </a:lnTo>
                <a:lnTo>
                  <a:pt x="80772" y="581025"/>
                </a:lnTo>
                <a:lnTo>
                  <a:pt x="80772" y="302260"/>
                </a:lnTo>
                <a:lnTo>
                  <a:pt x="45720" y="302260"/>
                </a:lnTo>
                <a:lnTo>
                  <a:pt x="45720" y="582676"/>
                </a:lnTo>
                <a:lnTo>
                  <a:pt x="58801" y="625856"/>
                </a:lnTo>
                <a:lnTo>
                  <a:pt x="92837" y="653796"/>
                </a:lnTo>
                <a:lnTo>
                  <a:pt x="122936" y="659892"/>
                </a:lnTo>
                <a:lnTo>
                  <a:pt x="152654" y="659892"/>
                </a:lnTo>
                <a:lnTo>
                  <a:pt x="152654" y="624840"/>
                </a:lnTo>
                <a:close/>
              </a:path>
              <a:path w="509270" h="3042285">
                <a:moveTo>
                  <a:pt x="221234" y="2382012"/>
                </a:moveTo>
                <a:lnTo>
                  <a:pt x="76962" y="2382012"/>
                </a:lnTo>
                <a:lnTo>
                  <a:pt x="69088" y="2382393"/>
                </a:lnTo>
                <a:lnTo>
                  <a:pt x="27940" y="2399665"/>
                </a:lnTo>
                <a:lnTo>
                  <a:pt x="3429" y="2436114"/>
                </a:lnTo>
                <a:lnTo>
                  <a:pt x="0" y="2458974"/>
                </a:lnTo>
                <a:lnTo>
                  <a:pt x="0" y="2474214"/>
                </a:lnTo>
                <a:lnTo>
                  <a:pt x="35052" y="2474214"/>
                </a:lnTo>
                <a:lnTo>
                  <a:pt x="35052" y="2458974"/>
                </a:lnTo>
                <a:lnTo>
                  <a:pt x="35433" y="2452751"/>
                </a:lnTo>
                <a:lnTo>
                  <a:pt x="58293" y="2421382"/>
                </a:lnTo>
                <a:lnTo>
                  <a:pt x="74295" y="2417064"/>
                </a:lnTo>
                <a:lnTo>
                  <a:pt x="221234" y="2417064"/>
                </a:lnTo>
                <a:lnTo>
                  <a:pt x="221234" y="2382012"/>
                </a:lnTo>
                <a:close/>
              </a:path>
              <a:path w="509270" h="3042285">
                <a:moveTo>
                  <a:pt x="267335" y="0"/>
                </a:moveTo>
                <a:lnTo>
                  <a:pt x="122936" y="0"/>
                </a:lnTo>
                <a:lnTo>
                  <a:pt x="115062" y="381"/>
                </a:lnTo>
                <a:lnTo>
                  <a:pt x="73787" y="17653"/>
                </a:lnTo>
                <a:lnTo>
                  <a:pt x="49149" y="54229"/>
                </a:lnTo>
                <a:lnTo>
                  <a:pt x="45720" y="77216"/>
                </a:lnTo>
                <a:lnTo>
                  <a:pt x="45720" y="91948"/>
                </a:lnTo>
                <a:lnTo>
                  <a:pt x="80772" y="91948"/>
                </a:lnTo>
                <a:lnTo>
                  <a:pt x="80772" y="77216"/>
                </a:lnTo>
                <a:lnTo>
                  <a:pt x="81153" y="70993"/>
                </a:lnTo>
                <a:lnTo>
                  <a:pt x="104267" y="39370"/>
                </a:lnTo>
                <a:lnTo>
                  <a:pt x="120269" y="35052"/>
                </a:lnTo>
                <a:lnTo>
                  <a:pt x="267335" y="35052"/>
                </a:lnTo>
                <a:lnTo>
                  <a:pt x="267335" y="0"/>
                </a:lnTo>
                <a:close/>
              </a:path>
              <a:path w="509270" h="3042285">
                <a:moveTo>
                  <a:pt x="461772" y="2875661"/>
                </a:moveTo>
                <a:lnTo>
                  <a:pt x="426720" y="2875661"/>
                </a:lnTo>
                <a:lnTo>
                  <a:pt x="426720" y="2964942"/>
                </a:lnTo>
                <a:lnTo>
                  <a:pt x="426339" y="2971165"/>
                </a:lnTo>
                <a:lnTo>
                  <a:pt x="403225" y="3002788"/>
                </a:lnTo>
                <a:lnTo>
                  <a:pt x="387477" y="3006852"/>
                </a:lnTo>
                <a:lnTo>
                  <a:pt x="314706" y="3006852"/>
                </a:lnTo>
                <a:lnTo>
                  <a:pt x="314706" y="3041916"/>
                </a:lnTo>
                <a:lnTo>
                  <a:pt x="384810" y="3041916"/>
                </a:lnTo>
                <a:lnTo>
                  <a:pt x="392684" y="3041535"/>
                </a:lnTo>
                <a:lnTo>
                  <a:pt x="433705" y="3024378"/>
                </a:lnTo>
                <a:lnTo>
                  <a:pt x="458343" y="2987929"/>
                </a:lnTo>
                <a:lnTo>
                  <a:pt x="461772" y="2964942"/>
                </a:lnTo>
                <a:lnTo>
                  <a:pt x="461772" y="2875661"/>
                </a:lnTo>
                <a:close/>
              </a:path>
              <a:path w="509270" h="3042285">
                <a:moveTo>
                  <a:pt x="461772" y="2458974"/>
                </a:moveTo>
                <a:lnTo>
                  <a:pt x="448564" y="2415921"/>
                </a:lnTo>
                <a:lnTo>
                  <a:pt x="428752" y="2395855"/>
                </a:lnTo>
                <a:lnTo>
                  <a:pt x="407543" y="2423795"/>
                </a:lnTo>
                <a:lnTo>
                  <a:pt x="412623" y="2427605"/>
                </a:lnTo>
                <a:lnTo>
                  <a:pt x="415925" y="2430653"/>
                </a:lnTo>
                <a:lnTo>
                  <a:pt x="426720" y="2456307"/>
                </a:lnTo>
                <a:lnTo>
                  <a:pt x="426720" y="2665349"/>
                </a:lnTo>
                <a:lnTo>
                  <a:pt x="461772" y="2665349"/>
                </a:lnTo>
                <a:lnTo>
                  <a:pt x="461772" y="2458974"/>
                </a:lnTo>
                <a:close/>
              </a:path>
              <a:path w="509270" h="3042285">
                <a:moveTo>
                  <a:pt x="509016" y="492506"/>
                </a:moveTo>
                <a:lnTo>
                  <a:pt x="473964" y="492506"/>
                </a:lnTo>
                <a:lnTo>
                  <a:pt x="473964" y="582676"/>
                </a:lnTo>
                <a:lnTo>
                  <a:pt x="473583" y="588899"/>
                </a:lnTo>
                <a:lnTo>
                  <a:pt x="450723" y="620522"/>
                </a:lnTo>
                <a:lnTo>
                  <a:pt x="434594" y="624840"/>
                </a:lnTo>
                <a:lnTo>
                  <a:pt x="362966" y="624840"/>
                </a:lnTo>
                <a:lnTo>
                  <a:pt x="362966" y="659892"/>
                </a:lnTo>
                <a:lnTo>
                  <a:pt x="431800" y="659892"/>
                </a:lnTo>
                <a:lnTo>
                  <a:pt x="439801" y="659511"/>
                </a:lnTo>
                <a:lnTo>
                  <a:pt x="480949" y="642239"/>
                </a:lnTo>
                <a:lnTo>
                  <a:pt x="505587" y="605663"/>
                </a:lnTo>
                <a:lnTo>
                  <a:pt x="509016" y="582676"/>
                </a:lnTo>
                <a:lnTo>
                  <a:pt x="509016" y="492506"/>
                </a:lnTo>
                <a:close/>
              </a:path>
              <a:path w="509270" h="3042285">
                <a:moveTo>
                  <a:pt x="509016" y="77216"/>
                </a:moveTo>
                <a:lnTo>
                  <a:pt x="495808" y="34036"/>
                </a:lnTo>
                <a:lnTo>
                  <a:pt x="474980" y="13081"/>
                </a:lnTo>
                <a:lnTo>
                  <a:pt x="457073" y="43180"/>
                </a:lnTo>
                <a:lnTo>
                  <a:pt x="457073" y="43307"/>
                </a:lnTo>
                <a:lnTo>
                  <a:pt x="459740" y="45593"/>
                </a:lnTo>
                <a:lnTo>
                  <a:pt x="463042" y="48641"/>
                </a:lnTo>
                <a:lnTo>
                  <a:pt x="473964" y="74549"/>
                </a:lnTo>
                <a:lnTo>
                  <a:pt x="473964" y="282194"/>
                </a:lnTo>
                <a:lnTo>
                  <a:pt x="509016" y="282194"/>
                </a:lnTo>
                <a:lnTo>
                  <a:pt x="509016" y="77216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4">
            <a:extLst>
              <a:ext uri="{FF2B5EF4-FFF2-40B4-BE49-F238E27FC236}">
                <a16:creationId xmlns:a16="http://schemas.microsoft.com/office/drawing/2014/main" id="{1B05B72B-FF60-A5E3-B37E-2009B0E1523D}"/>
              </a:ext>
            </a:extLst>
          </p:cNvPr>
          <p:cNvSpPr txBox="1"/>
          <p:nvPr/>
        </p:nvSpPr>
        <p:spPr>
          <a:xfrm>
            <a:off x="10295545" y="2078703"/>
            <a:ext cx="534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Body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23" name="object 15">
            <a:extLst>
              <a:ext uri="{FF2B5EF4-FFF2-40B4-BE49-F238E27FC236}">
                <a16:creationId xmlns:a16="http://schemas.microsoft.com/office/drawing/2014/main" id="{0F1A2901-93B7-5055-04AF-4AA56F17780B}"/>
              </a:ext>
            </a:extLst>
          </p:cNvPr>
          <p:cNvSpPr txBox="1"/>
          <p:nvPr/>
        </p:nvSpPr>
        <p:spPr>
          <a:xfrm>
            <a:off x="10274687" y="4484125"/>
            <a:ext cx="5334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00"/>
                </a:solidFill>
                <a:latin typeface="Times New Roman"/>
                <a:cs typeface="Times New Roman"/>
              </a:rPr>
              <a:t>Bo</a:t>
            </a:r>
            <a:r>
              <a:rPr sz="1800" b="1" spc="-10" dirty="0">
                <a:solidFill>
                  <a:srgbClr val="FFFF00"/>
                </a:solidFill>
                <a:latin typeface="Times New Roman"/>
                <a:cs typeface="Times New Roman"/>
              </a:rPr>
              <a:t>d</a:t>
            </a:r>
            <a:r>
              <a:rPr sz="1800" b="1" dirty="0">
                <a:solidFill>
                  <a:srgbClr val="FFFF00"/>
                </a:solidFill>
                <a:latin typeface="Times New Roman"/>
                <a:cs typeface="Times New Roman"/>
              </a:rPr>
              <a:t>y</a:t>
            </a:r>
            <a:endParaRPr sz="1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688342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8"/>
          <p:cNvSpPr txBox="1"/>
          <p:nvPr/>
        </p:nvSpPr>
        <p:spPr>
          <a:xfrm>
            <a:off x="273695" y="242796"/>
            <a:ext cx="400937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TW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Create Schematic</a:t>
            </a:r>
            <a:endParaRPr lang="zh-CN" altLang="en-US" sz="3200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5" name="內容版面配置區 3">
            <a:extLst>
              <a:ext uri="{FF2B5EF4-FFF2-40B4-BE49-F238E27FC236}">
                <a16:creationId xmlns:a16="http://schemas.microsoft.com/office/drawing/2014/main" id="{455E2071-07B9-A57C-32C0-E38F5F678505}"/>
              </a:ext>
            </a:extLst>
          </p:cNvPr>
          <p:cNvSpPr>
            <a:spLocks noGrp="1"/>
          </p:cNvSpPr>
          <p:nvPr/>
        </p:nvSpPr>
        <p:spPr>
          <a:xfrm>
            <a:off x="92671" y="1096046"/>
            <a:ext cx="12677761" cy="1296143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zh-TW" altLang="en-US" sz="3200" dirty="0">
                <a:ea typeface="標楷體" panose="03000509000000000000" pitchFamily="65" charset="-120"/>
              </a:rPr>
              <a:t>點選    來檢查 </a:t>
            </a:r>
            <a:r>
              <a:rPr lang="en-US" altLang="zh-TW" sz="3200" dirty="0">
                <a:ea typeface="標楷體" panose="03000509000000000000" pitchFamily="65" charset="-120"/>
              </a:rPr>
              <a:t>Schematic </a:t>
            </a:r>
            <a:r>
              <a:rPr lang="zh-TW" altLang="en-US" sz="3200" dirty="0">
                <a:ea typeface="標楷體" panose="03000509000000000000" pitchFamily="65" charset="-120"/>
              </a:rPr>
              <a:t>是否有誤</a:t>
            </a:r>
            <a:endParaRPr lang="en-US" altLang="zh-TW" sz="3200" dirty="0">
              <a:ea typeface="標楷體" panose="03000509000000000000" pitchFamily="65" charset="-120"/>
            </a:endParaRPr>
          </a:p>
          <a:p>
            <a:pPr algn="just"/>
            <a:r>
              <a:rPr lang="zh-TW" altLang="en-US" sz="3200" dirty="0">
                <a:ea typeface="標楷體" panose="03000509000000000000" pitchFamily="65" charset="-120"/>
              </a:rPr>
              <a:t>留意 </a:t>
            </a:r>
            <a:r>
              <a:rPr lang="en-US" altLang="zh-TW" sz="3200" dirty="0">
                <a:ea typeface="標楷體" panose="03000509000000000000" pitchFamily="65" charset="-120"/>
              </a:rPr>
              <a:t>Virtuoso </a:t>
            </a:r>
            <a:r>
              <a:rPr lang="zh-TW" altLang="en-US" sz="3200" dirty="0">
                <a:ea typeface="標楷體" panose="03000509000000000000" pitchFamily="65" charset="-120"/>
              </a:rPr>
              <a:t>主視窗有無顯示相關錯誤訊息</a:t>
            </a:r>
            <a:endParaRPr lang="en-US" altLang="zh-TW" sz="3200" dirty="0">
              <a:ea typeface="標楷體" panose="03000509000000000000" pitchFamily="65" charset="-120"/>
            </a:endParaRPr>
          </a:p>
        </p:txBody>
      </p:sp>
      <p:sp>
        <p:nvSpPr>
          <p:cNvPr id="4" name="object 7">
            <a:extLst>
              <a:ext uri="{FF2B5EF4-FFF2-40B4-BE49-F238E27FC236}">
                <a16:creationId xmlns:a16="http://schemas.microsoft.com/office/drawing/2014/main" id="{299ED6B6-3EFB-4B79-A4DC-CB8A77CBBBEB}"/>
              </a:ext>
            </a:extLst>
          </p:cNvPr>
          <p:cNvSpPr/>
          <p:nvPr/>
        </p:nvSpPr>
        <p:spPr>
          <a:xfrm>
            <a:off x="1316807" y="1240061"/>
            <a:ext cx="361188" cy="3246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2C867E22-8B80-D8EA-2097-C187C03743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472" y="3002998"/>
            <a:ext cx="10351806" cy="2917583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4367EFDF-05F4-8636-FE83-8293BC0016B7}"/>
              </a:ext>
            </a:extLst>
          </p:cNvPr>
          <p:cNvSpPr/>
          <p:nvPr/>
        </p:nvSpPr>
        <p:spPr>
          <a:xfrm>
            <a:off x="1253471" y="4048373"/>
            <a:ext cx="5175903" cy="648072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91073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8"/>
          <p:cNvSpPr txBox="1"/>
          <p:nvPr/>
        </p:nvSpPr>
        <p:spPr>
          <a:xfrm>
            <a:off x="273695" y="242796"/>
            <a:ext cx="400937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TW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Export CDL Netlist</a:t>
            </a:r>
            <a:endParaRPr lang="zh-CN" altLang="en-US" sz="3200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3CF03BFE-58BD-EB23-FEF1-B3240E51EC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070" y="1960141"/>
            <a:ext cx="9452609" cy="3786161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7842D537-7E48-A560-053F-F7F5F83B6A9F}"/>
              </a:ext>
            </a:extLst>
          </p:cNvPr>
          <p:cNvSpPr/>
          <p:nvPr/>
        </p:nvSpPr>
        <p:spPr>
          <a:xfrm>
            <a:off x="4283070" y="3976365"/>
            <a:ext cx="1138194" cy="288032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67325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8"/>
          <p:cNvSpPr txBox="1"/>
          <p:nvPr/>
        </p:nvSpPr>
        <p:spPr>
          <a:xfrm>
            <a:off x="273695" y="242796"/>
            <a:ext cx="400937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TW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Export CDL Netlist</a:t>
            </a:r>
            <a:endParaRPr lang="zh-CN" altLang="en-US" sz="3200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B8EA8DF3-357A-97C9-28D7-10DCEE47F9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551" y="880021"/>
            <a:ext cx="10545647" cy="4372585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E4E344AB-0B8A-8382-7312-124D616C27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836" y="5667048"/>
            <a:ext cx="5759078" cy="12271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FEDEC479-BEB7-1CDF-4D4C-DF98D476451D}"/>
              </a:ext>
            </a:extLst>
          </p:cNvPr>
          <p:cNvSpPr/>
          <p:nvPr/>
        </p:nvSpPr>
        <p:spPr>
          <a:xfrm>
            <a:off x="8315517" y="5993301"/>
            <a:ext cx="922170" cy="288032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D4680B9-25CB-712F-BD15-F23CE908945E}"/>
              </a:ext>
            </a:extLst>
          </p:cNvPr>
          <p:cNvSpPr/>
          <p:nvPr/>
        </p:nvSpPr>
        <p:spPr>
          <a:xfrm>
            <a:off x="4845199" y="1888133"/>
            <a:ext cx="1138194" cy="288032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8C39FF5-4512-81FE-EE6A-619A295EE5B7}"/>
              </a:ext>
            </a:extLst>
          </p:cNvPr>
          <p:cNvSpPr/>
          <p:nvPr/>
        </p:nvSpPr>
        <p:spPr>
          <a:xfrm>
            <a:off x="2980739" y="3472309"/>
            <a:ext cx="1138194" cy="288032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A593698-5C4B-EDF9-81BE-DAC03476D1A2}"/>
              </a:ext>
            </a:extLst>
          </p:cNvPr>
          <p:cNvSpPr/>
          <p:nvPr/>
        </p:nvSpPr>
        <p:spPr>
          <a:xfrm>
            <a:off x="2980739" y="3792210"/>
            <a:ext cx="1138194" cy="288032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16E0A08-1766-5A22-7B25-C5212E43BCBA}"/>
              </a:ext>
            </a:extLst>
          </p:cNvPr>
          <p:cNvSpPr/>
          <p:nvPr/>
        </p:nvSpPr>
        <p:spPr>
          <a:xfrm>
            <a:off x="3405039" y="4980509"/>
            <a:ext cx="504056" cy="288032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851D276-E911-7BE8-A06D-505EB38EC00A}"/>
              </a:ext>
            </a:extLst>
          </p:cNvPr>
          <p:cNvSpPr/>
          <p:nvPr/>
        </p:nvSpPr>
        <p:spPr>
          <a:xfrm>
            <a:off x="9237687" y="2176165"/>
            <a:ext cx="2376264" cy="288032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B5AF8806-C9AD-49BE-36A2-7813CEE3F54D}"/>
              </a:ext>
            </a:extLst>
          </p:cNvPr>
          <p:cNvSpPr txBox="1"/>
          <p:nvPr/>
        </p:nvSpPr>
        <p:spPr>
          <a:xfrm>
            <a:off x="5414296" y="1473691"/>
            <a:ext cx="339377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TW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1.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1187C860-500E-4FD7-F703-7DB920D0149C}"/>
              </a:ext>
            </a:extLst>
          </p:cNvPr>
          <p:cNvSpPr txBox="1"/>
          <p:nvPr/>
        </p:nvSpPr>
        <p:spPr>
          <a:xfrm>
            <a:off x="9453711" y="2460271"/>
            <a:ext cx="339377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TW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2.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D2FEE505-82D3-E4F8-22A6-D83A586FA97C}"/>
              </a:ext>
            </a:extLst>
          </p:cNvPr>
          <p:cNvSpPr txBox="1"/>
          <p:nvPr/>
        </p:nvSpPr>
        <p:spPr>
          <a:xfrm>
            <a:off x="3487378" y="4435068"/>
            <a:ext cx="339377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TW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3.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5" name="TextBox 8">
            <a:extLst>
              <a:ext uri="{FF2B5EF4-FFF2-40B4-BE49-F238E27FC236}">
                <a16:creationId xmlns:a16="http://schemas.microsoft.com/office/drawing/2014/main" id="{C821C8E2-48A8-95F0-BD76-0171258FA662}"/>
              </a:ext>
            </a:extLst>
          </p:cNvPr>
          <p:cNvSpPr txBox="1"/>
          <p:nvPr/>
        </p:nvSpPr>
        <p:spPr>
          <a:xfrm>
            <a:off x="5074919" y="6362631"/>
            <a:ext cx="339377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TW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4.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8CC9093C-B1BD-633C-C9FE-4CDB56794E7E}"/>
              </a:ext>
            </a:extLst>
          </p:cNvPr>
          <p:cNvSpPr txBox="1"/>
          <p:nvPr/>
        </p:nvSpPr>
        <p:spPr>
          <a:xfrm>
            <a:off x="4120499" y="3330545"/>
            <a:ext cx="33313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>
                <a:solidFill>
                  <a:srgbClr val="000099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命名 </a:t>
            </a:r>
            <a:r>
              <a:rPr lang="en-US" altLang="zh-TW" sz="2400" b="1" dirty="0">
                <a:solidFill>
                  <a:srgbClr val="000099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spice file (</a:t>
            </a:r>
            <a:r>
              <a:rPr lang="en-US" altLang="zh-TW" sz="2400" b="1" dirty="0" err="1">
                <a:solidFill>
                  <a:srgbClr val="000099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XXX.sp</a:t>
            </a:r>
            <a:r>
              <a:rPr lang="en-US" altLang="zh-TW" sz="2400" b="1" dirty="0">
                <a:solidFill>
                  <a:srgbClr val="000099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486365F3-1B1D-CBA2-85A9-4A942506F160}"/>
              </a:ext>
            </a:extLst>
          </p:cNvPr>
          <p:cNvSpPr txBox="1"/>
          <p:nvPr/>
        </p:nvSpPr>
        <p:spPr>
          <a:xfrm>
            <a:off x="4118933" y="3713118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>
                <a:solidFill>
                  <a:srgbClr val="000099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欲輸出檔案位置</a:t>
            </a:r>
            <a:endParaRPr lang="en-US" altLang="zh-TW" sz="2400" b="1" dirty="0">
              <a:solidFill>
                <a:srgbClr val="000099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668FF4C-B19F-267E-318E-EFFF1B83AA69}"/>
              </a:ext>
            </a:extLst>
          </p:cNvPr>
          <p:cNvSpPr/>
          <p:nvPr/>
        </p:nvSpPr>
        <p:spPr>
          <a:xfrm>
            <a:off x="5408616" y="6464836"/>
            <a:ext cx="504056" cy="288032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64521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8"/>
          <p:cNvSpPr txBox="1"/>
          <p:nvPr/>
        </p:nvSpPr>
        <p:spPr>
          <a:xfrm>
            <a:off x="273695" y="242796"/>
            <a:ext cx="400937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TW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HSPICE</a:t>
            </a:r>
            <a:r>
              <a:rPr lang="zh-TW" altLang="en-US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TW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Introduction</a:t>
            </a:r>
            <a:endParaRPr lang="zh-CN" altLang="en-US" sz="3200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pic>
        <p:nvPicPr>
          <p:cNvPr id="30" name="圖片 29">
            <a:extLst>
              <a:ext uri="{FF2B5EF4-FFF2-40B4-BE49-F238E27FC236}">
                <a16:creationId xmlns:a16="http://schemas.microsoft.com/office/drawing/2014/main" id="{20100B8D-2EAD-9379-43AC-02FD185E8A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6292" y="735239"/>
            <a:ext cx="5489627" cy="5544616"/>
          </a:xfrm>
          <a:prstGeom prst="rect">
            <a:avLst/>
          </a:prstGeom>
        </p:spPr>
      </p:pic>
      <p:pic>
        <p:nvPicPr>
          <p:cNvPr id="33" name="圖片 32">
            <a:extLst>
              <a:ext uri="{FF2B5EF4-FFF2-40B4-BE49-F238E27FC236}">
                <a16:creationId xmlns:a16="http://schemas.microsoft.com/office/drawing/2014/main" id="{9B5FC4D1-C346-F60C-2339-4BDA27C0057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722"/>
          <a:stretch/>
        </p:blipFill>
        <p:spPr>
          <a:xfrm>
            <a:off x="8412848" y="1960141"/>
            <a:ext cx="4353231" cy="3528996"/>
          </a:xfrm>
          <a:prstGeom prst="rect">
            <a:avLst/>
          </a:prstGeom>
        </p:spPr>
      </p:pic>
      <p:sp>
        <p:nvSpPr>
          <p:cNvPr id="34" name="矩形 33">
            <a:extLst>
              <a:ext uri="{FF2B5EF4-FFF2-40B4-BE49-F238E27FC236}">
                <a16:creationId xmlns:a16="http://schemas.microsoft.com/office/drawing/2014/main" id="{E26E96C5-AF59-8F2C-D3B2-AC78295701C6}"/>
              </a:ext>
            </a:extLst>
          </p:cNvPr>
          <p:cNvSpPr/>
          <p:nvPr/>
        </p:nvSpPr>
        <p:spPr>
          <a:xfrm>
            <a:off x="6141343" y="3400301"/>
            <a:ext cx="1138194" cy="43204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D164EDC-58C4-EA60-789D-CCB4D97F5A56}"/>
              </a:ext>
            </a:extLst>
          </p:cNvPr>
          <p:cNvSpPr/>
          <p:nvPr/>
        </p:nvSpPr>
        <p:spPr>
          <a:xfrm>
            <a:off x="8877646" y="1960141"/>
            <a:ext cx="1136391" cy="5760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1032273-2E18-13C1-159A-D1511EBE9F81}"/>
              </a:ext>
            </a:extLst>
          </p:cNvPr>
          <p:cNvSpPr/>
          <p:nvPr/>
        </p:nvSpPr>
        <p:spPr>
          <a:xfrm>
            <a:off x="10605839" y="4888701"/>
            <a:ext cx="432048" cy="4558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145EC2F-BD96-FF70-FFB3-8FB97E4DB231}"/>
              </a:ext>
            </a:extLst>
          </p:cNvPr>
          <p:cNvSpPr/>
          <p:nvPr/>
        </p:nvSpPr>
        <p:spPr>
          <a:xfrm>
            <a:off x="7653511" y="5560541"/>
            <a:ext cx="216024" cy="3600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內容版面配置區 3">
            <a:extLst>
              <a:ext uri="{FF2B5EF4-FFF2-40B4-BE49-F238E27FC236}">
                <a16:creationId xmlns:a16="http://schemas.microsoft.com/office/drawing/2014/main" id="{D2FE6C03-7246-AAD1-2F2A-9D8A8A93D77E}"/>
              </a:ext>
            </a:extLst>
          </p:cNvPr>
          <p:cNvSpPr>
            <a:spLocks noGrp="1"/>
          </p:cNvSpPr>
          <p:nvPr/>
        </p:nvSpPr>
        <p:spPr>
          <a:xfrm>
            <a:off x="92671" y="1096045"/>
            <a:ext cx="12677761" cy="364803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zh-TW" altLang="en-US" sz="3200" dirty="0">
                <a:ea typeface="標楷體" panose="03000509000000000000" pitchFamily="65" charset="-120"/>
              </a:rPr>
              <a:t>打開 </a:t>
            </a:r>
            <a:r>
              <a:rPr lang="en-US" altLang="zh-TW" sz="3200" dirty="0" err="1">
                <a:ea typeface="標楷體" panose="03000509000000000000" pitchFamily="65" charset="-120"/>
              </a:rPr>
              <a:t>INV_XL.sp</a:t>
            </a:r>
            <a:r>
              <a:rPr lang="en-US" altLang="zh-TW" sz="3200" dirty="0">
                <a:ea typeface="標楷體" panose="03000509000000000000" pitchFamily="65" charset="-120"/>
              </a:rPr>
              <a:t> </a:t>
            </a:r>
            <a:r>
              <a:rPr lang="zh-TW" altLang="en-US" sz="3200" dirty="0">
                <a:ea typeface="標楷體" panose="03000509000000000000" pitchFamily="65" charset="-120"/>
              </a:rPr>
              <a:t>檔案</a:t>
            </a:r>
            <a:endParaRPr lang="en-US" altLang="zh-TW" sz="3200" dirty="0">
              <a:ea typeface="標楷體" panose="03000509000000000000" pitchFamily="65" charset="-120"/>
            </a:endParaRPr>
          </a:p>
          <a:p>
            <a:pPr algn="just"/>
            <a:r>
              <a:rPr lang="zh-TW" altLang="en-US" sz="3200" dirty="0">
                <a:ea typeface="標楷體" panose="03000509000000000000" pitchFamily="65" charset="-120"/>
              </a:rPr>
              <a:t>將 </a:t>
            </a:r>
            <a:r>
              <a:rPr lang="en-US" altLang="zh-TW" sz="3200" dirty="0">
                <a:ea typeface="標楷體" panose="03000509000000000000" pitchFamily="65" charset="-120"/>
              </a:rPr>
              <a:t>.PARAM </a:t>
            </a:r>
            <a:r>
              <a:rPr lang="zh-TW" altLang="en-US" sz="3200" dirty="0">
                <a:ea typeface="標楷體" panose="03000509000000000000" pitchFamily="65" charset="-120"/>
              </a:rPr>
              <a:t>前加入* </a:t>
            </a:r>
            <a:r>
              <a:rPr lang="en-US" altLang="zh-TW" sz="3200" dirty="0">
                <a:ea typeface="標楷體" panose="03000509000000000000" pitchFamily="65" charset="-120"/>
              </a:rPr>
              <a:t>(</a:t>
            </a:r>
            <a:r>
              <a:rPr lang="zh-TW" altLang="en-US" sz="3200" dirty="0">
                <a:ea typeface="標楷體" panose="03000509000000000000" pitchFamily="65" charset="-120"/>
              </a:rPr>
              <a:t>註解</a:t>
            </a:r>
            <a:r>
              <a:rPr lang="en-US" altLang="zh-TW" sz="3200" dirty="0">
                <a:ea typeface="標楷體" panose="03000509000000000000" pitchFamily="65" charset="-120"/>
              </a:rPr>
              <a:t>)</a:t>
            </a:r>
          </a:p>
          <a:p>
            <a:pPr algn="just"/>
            <a:r>
              <a:rPr lang="en-US" altLang="zh-TW" sz="3200" dirty="0">
                <a:ea typeface="標楷體" panose="03000509000000000000" pitchFamily="65" charset="-120"/>
              </a:rPr>
              <a:t>.GLOBAL</a:t>
            </a:r>
            <a:r>
              <a:rPr lang="zh-TW" altLang="en-US" sz="3200" dirty="0">
                <a:ea typeface="標楷體" panose="03000509000000000000" pitchFamily="65" charset="-120"/>
              </a:rPr>
              <a:t> 前的註解 </a:t>
            </a:r>
            <a:r>
              <a:rPr lang="en-US" altLang="zh-TW" sz="3200" dirty="0">
                <a:ea typeface="標楷體" panose="03000509000000000000" pitchFamily="65" charset="-120"/>
              </a:rPr>
              <a:t>(</a:t>
            </a:r>
            <a:r>
              <a:rPr lang="zh-TW" altLang="en-US" sz="3200" dirty="0">
                <a:ea typeface="標楷體" panose="03000509000000000000" pitchFamily="65" charset="-120"/>
              </a:rPr>
              <a:t>*</a:t>
            </a:r>
            <a:r>
              <a:rPr lang="en-US" altLang="zh-TW" sz="3200" dirty="0">
                <a:ea typeface="標楷體" panose="03000509000000000000" pitchFamily="65" charset="-120"/>
              </a:rPr>
              <a:t>)</a:t>
            </a:r>
            <a:r>
              <a:rPr lang="zh-TW" altLang="en-US" sz="3200" dirty="0">
                <a:ea typeface="標楷體" panose="03000509000000000000" pitchFamily="65" charset="-120"/>
              </a:rPr>
              <a:t> 請刪除</a:t>
            </a:r>
            <a:endParaRPr lang="en-US" altLang="zh-TW" sz="3200" dirty="0">
              <a:ea typeface="標楷體" panose="03000509000000000000" pitchFamily="65" charset="-120"/>
            </a:endParaRPr>
          </a:p>
          <a:p>
            <a:pPr algn="just"/>
            <a:r>
              <a:rPr lang="en-US" altLang="zh-TW" sz="3200" dirty="0">
                <a:ea typeface="標楷體" panose="03000509000000000000" pitchFamily="65" charset="-120"/>
              </a:rPr>
              <a:t>PM</a:t>
            </a:r>
            <a:r>
              <a:rPr lang="zh-TW" altLang="en-US" sz="3200" dirty="0">
                <a:ea typeface="標楷體" panose="03000509000000000000" pitchFamily="65" charset="-120"/>
              </a:rPr>
              <a:t> 改成 </a:t>
            </a:r>
            <a:r>
              <a:rPr lang="en-US" altLang="zh-TW" sz="3200" dirty="0">
                <a:ea typeface="標楷體" panose="03000509000000000000" pitchFamily="65" charset="-120"/>
              </a:rPr>
              <a:t>P_18</a:t>
            </a:r>
          </a:p>
          <a:p>
            <a:pPr algn="just"/>
            <a:r>
              <a:rPr lang="en-US" altLang="zh-TW" sz="3200" dirty="0">
                <a:ea typeface="標楷體" panose="03000509000000000000" pitchFamily="65" charset="-120"/>
              </a:rPr>
              <a:t>NM </a:t>
            </a:r>
            <a:r>
              <a:rPr lang="zh-TW" altLang="en-US" sz="3200" dirty="0">
                <a:ea typeface="標楷體" panose="03000509000000000000" pitchFamily="65" charset="-120"/>
              </a:rPr>
              <a:t>改成 </a:t>
            </a:r>
            <a:r>
              <a:rPr lang="en-US" altLang="zh-TW" sz="3200" dirty="0">
                <a:ea typeface="標楷體" panose="03000509000000000000" pitchFamily="65" charset="-120"/>
              </a:rPr>
              <a:t>N_18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3037ECA6-B7A4-6679-F1F0-32AF5752A237}"/>
              </a:ext>
            </a:extLst>
          </p:cNvPr>
          <p:cNvSpPr txBox="1"/>
          <p:nvPr/>
        </p:nvSpPr>
        <p:spPr>
          <a:xfrm>
            <a:off x="8229575" y="1143681"/>
            <a:ext cx="15167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原本的</a:t>
            </a:r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</a:t>
            </a:r>
            <a:r>
              <a:rPr lang="en-US" altLang="zh-TW" sz="2000" b="1" dirty="0" err="1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sp</a:t>
            </a:r>
            <a:r>
              <a:rPr lang="zh-TW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檔</a:t>
            </a:r>
            <a:endParaRPr lang="en-US" altLang="zh-TW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A5CAEF5-4B5B-03C5-23F3-02E386A74123}"/>
              </a:ext>
            </a:extLst>
          </p:cNvPr>
          <p:cNvSpPr txBox="1"/>
          <p:nvPr/>
        </p:nvSpPr>
        <p:spPr>
          <a:xfrm>
            <a:off x="10079379" y="2001474"/>
            <a:ext cx="25426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更改部分內容的</a:t>
            </a:r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</a:t>
            </a:r>
            <a:r>
              <a:rPr lang="en-US" altLang="zh-TW" sz="2000" b="1" dirty="0" err="1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sp</a:t>
            </a:r>
            <a:r>
              <a:rPr lang="zh-TW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檔</a:t>
            </a:r>
            <a:endParaRPr lang="en-US" altLang="zh-TW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57104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2AF5D3C4-B0E5-4BBB-215D-539FBF8215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6497" y="1456085"/>
            <a:ext cx="7705753" cy="5704557"/>
          </a:xfrm>
          <a:prstGeom prst="rect">
            <a:avLst/>
          </a:prstGeom>
        </p:spPr>
      </p:pic>
      <p:sp>
        <p:nvSpPr>
          <p:cNvPr id="41" name="TextBox 8"/>
          <p:cNvSpPr txBox="1"/>
          <p:nvPr/>
        </p:nvSpPr>
        <p:spPr>
          <a:xfrm>
            <a:off x="273695" y="242796"/>
            <a:ext cx="400937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TW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HSPICE</a:t>
            </a:r>
            <a:r>
              <a:rPr lang="zh-TW" altLang="en-US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TW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Introduction</a:t>
            </a:r>
            <a:endParaRPr lang="zh-CN" altLang="en-US" sz="3200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42" name="內容版面配置區 3">
            <a:extLst>
              <a:ext uri="{FF2B5EF4-FFF2-40B4-BE49-F238E27FC236}">
                <a16:creationId xmlns:a16="http://schemas.microsoft.com/office/drawing/2014/main" id="{D2FE6C03-7246-AAD1-2F2A-9D8A8A93D77E}"/>
              </a:ext>
            </a:extLst>
          </p:cNvPr>
          <p:cNvSpPr>
            <a:spLocks noGrp="1"/>
          </p:cNvSpPr>
          <p:nvPr/>
        </p:nvSpPr>
        <p:spPr>
          <a:xfrm>
            <a:off x="90494" y="808013"/>
            <a:ext cx="12677761" cy="86409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zh-TW" altLang="en-US" sz="3200" dirty="0">
                <a:ea typeface="標楷體" panose="03000509000000000000" pitchFamily="65" charset="-120"/>
              </a:rPr>
              <a:t>在修改完後的</a:t>
            </a:r>
            <a:r>
              <a:rPr lang="en-US" altLang="zh-TW" sz="3200" dirty="0">
                <a:ea typeface="標楷體" panose="03000509000000000000" pitchFamily="65" charset="-120"/>
              </a:rPr>
              <a:t>.</a:t>
            </a:r>
            <a:r>
              <a:rPr lang="en-US" altLang="zh-TW" sz="3200" dirty="0" err="1">
                <a:ea typeface="標楷體" panose="03000509000000000000" pitchFamily="65" charset="-120"/>
              </a:rPr>
              <a:t>sp</a:t>
            </a:r>
            <a:r>
              <a:rPr lang="zh-TW" altLang="en-US" sz="3200" dirty="0">
                <a:ea typeface="標楷體" panose="03000509000000000000" pitchFamily="65" charset="-120"/>
              </a:rPr>
              <a:t>檔下方加入相關量測資訊</a:t>
            </a:r>
            <a:endParaRPr lang="en-US" altLang="zh-TW" sz="3200" dirty="0">
              <a:ea typeface="標楷體" panose="03000509000000000000" pitchFamily="65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65F8C20-3F0D-1446-B19D-87F10A6D63D7}"/>
              </a:ext>
            </a:extLst>
          </p:cNvPr>
          <p:cNvSpPr/>
          <p:nvPr/>
        </p:nvSpPr>
        <p:spPr>
          <a:xfrm>
            <a:off x="2598568" y="1600101"/>
            <a:ext cx="7683682" cy="55605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624476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D4CBBACA-DCA2-3E6A-F08B-3BD47109BF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9171" y="3098561"/>
            <a:ext cx="5820407" cy="4060749"/>
          </a:xfrm>
          <a:prstGeom prst="rect">
            <a:avLst/>
          </a:prstGeom>
        </p:spPr>
      </p:pic>
      <p:sp>
        <p:nvSpPr>
          <p:cNvPr id="41" name="TextBox 8"/>
          <p:cNvSpPr txBox="1"/>
          <p:nvPr/>
        </p:nvSpPr>
        <p:spPr>
          <a:xfrm>
            <a:off x="273695" y="242796"/>
            <a:ext cx="400937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TW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HSPICE</a:t>
            </a:r>
            <a:r>
              <a:rPr lang="zh-TW" altLang="en-US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TW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Introduction</a:t>
            </a:r>
            <a:endParaRPr lang="zh-CN" altLang="en-US" sz="3200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41D6075A-219D-BF35-A8CF-F524B7AB1D92}"/>
              </a:ext>
            </a:extLst>
          </p:cNvPr>
          <p:cNvSpPr txBox="1"/>
          <p:nvPr/>
        </p:nvSpPr>
        <p:spPr>
          <a:xfrm>
            <a:off x="271641" y="952029"/>
            <a:ext cx="7165846" cy="2162772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396240" indent="-384175">
              <a:lnSpc>
                <a:spcPct val="100000"/>
              </a:lnSpc>
              <a:spcBef>
                <a:spcPts val="665"/>
              </a:spcBef>
              <a:buFont typeface="Arial"/>
              <a:buChar char="■"/>
              <a:tabLst>
                <a:tab pos="396240" algn="l"/>
                <a:tab pos="396875" algn="l"/>
              </a:tabLst>
            </a:pPr>
            <a:r>
              <a:rPr sz="2000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Spice</a:t>
            </a:r>
            <a:r>
              <a:rPr sz="2000" spc="170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語</a:t>
            </a:r>
            <a:r>
              <a:rPr sz="2000" spc="165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法說明</a:t>
            </a:r>
            <a:endParaRPr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841500" lvl="3" indent="-384810">
              <a:lnSpc>
                <a:spcPct val="100000"/>
              </a:lnSpc>
              <a:spcBef>
                <a:spcPts val="560"/>
              </a:spcBef>
              <a:buFont typeface="Arial"/>
              <a:buChar char="–"/>
              <a:tabLst>
                <a:tab pos="1841500" algn="l"/>
                <a:tab pos="1842135" algn="l"/>
              </a:tabLst>
            </a:pPr>
            <a:r>
              <a:rPr lang="en-US" sz="1800" spc="-5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</a:t>
            </a:r>
            <a:r>
              <a:rPr sz="1800" spc="-5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sz="1800" spc="-10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pc="140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子電路呼叫</a:t>
            </a:r>
            <a:endParaRPr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841500" lvl="3" indent="-384810">
              <a:lnSpc>
                <a:spcPct val="100000"/>
              </a:lnSpc>
              <a:spcBef>
                <a:spcPts val="570"/>
              </a:spcBef>
              <a:buFont typeface="Arial"/>
              <a:buChar char="–"/>
              <a:tabLst>
                <a:tab pos="1841500" algn="l"/>
                <a:tab pos="1842135" algn="l"/>
              </a:tabLst>
            </a:pPr>
            <a:r>
              <a:rPr lang="en-US" spc="-5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.LIB</a:t>
            </a:r>
            <a:r>
              <a:rPr sz="1800" spc="-5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sz="1800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pc="140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載入製程</a:t>
            </a:r>
            <a:r>
              <a:rPr lang="en-US" altLang="zh-TW" spc="140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Library</a:t>
            </a:r>
            <a:endParaRPr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841500" lvl="3" indent="-38481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1841500" algn="l"/>
                <a:tab pos="1842135" algn="l"/>
              </a:tabLst>
            </a:pPr>
            <a:r>
              <a:rPr lang="en-US" sz="1800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.PARAM</a:t>
            </a:r>
            <a:r>
              <a:rPr sz="1800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sz="1800" spc="-5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pc="140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參數宣告及設定</a:t>
            </a:r>
            <a:endParaRPr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841500" lvl="3" indent="-384810">
              <a:lnSpc>
                <a:spcPct val="100000"/>
              </a:lnSpc>
              <a:spcBef>
                <a:spcPts val="565"/>
              </a:spcBef>
              <a:buFont typeface="Arial"/>
              <a:buChar char="–"/>
              <a:tabLst>
                <a:tab pos="1841500" algn="l"/>
                <a:tab pos="1842135" algn="l"/>
              </a:tabLst>
            </a:pPr>
            <a:r>
              <a:rPr lang="en-US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</a:t>
            </a:r>
            <a:r>
              <a:rPr sz="1800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sz="1800" spc="-85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1800" spc="-85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呼叫</a:t>
            </a:r>
            <a:r>
              <a:rPr lang="zh-TW" altLang="en-US" spc="140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電容</a:t>
            </a:r>
            <a:endParaRPr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841500" lvl="3" indent="-38481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1841500" algn="l"/>
                <a:tab pos="1842135" algn="l"/>
              </a:tabLst>
            </a:pPr>
            <a:r>
              <a:rPr lang="en-US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sz="1800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sz="1800" spc="-85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1800" spc="-85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呼叫電壓源</a:t>
            </a:r>
            <a:endParaRPr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B7CD3D9-AEDC-9FCA-4914-07C1E5A9535E}"/>
              </a:ext>
            </a:extLst>
          </p:cNvPr>
          <p:cNvSpPr/>
          <p:nvPr/>
        </p:nvSpPr>
        <p:spPr>
          <a:xfrm>
            <a:off x="8919772" y="3353178"/>
            <a:ext cx="461931" cy="26314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1ABA105-60B0-059F-D198-198568A66F10}"/>
              </a:ext>
            </a:extLst>
          </p:cNvPr>
          <p:cNvSpPr txBox="1"/>
          <p:nvPr/>
        </p:nvSpPr>
        <p:spPr>
          <a:xfrm>
            <a:off x="9419113" y="3069252"/>
            <a:ext cx="26236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Process Corner</a:t>
            </a:r>
          </a:p>
          <a:p>
            <a:pPr algn="ctr"/>
            <a:r>
              <a:rPr lang="en-US" altLang="zh-TW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照 </a:t>
            </a:r>
            <a:r>
              <a:rPr lang="en-US" altLang="zh-TW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HW</a:t>
            </a:r>
            <a:r>
              <a:rPr lang="zh-TW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規定選用</a:t>
            </a:r>
            <a:r>
              <a:rPr lang="en-US" altLang="zh-TW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08AA9C2-F2CC-C19E-CF33-BBFBBFBA2FEA}"/>
              </a:ext>
            </a:extLst>
          </p:cNvPr>
          <p:cNvSpPr/>
          <p:nvPr/>
        </p:nvSpPr>
        <p:spPr>
          <a:xfrm>
            <a:off x="4099398" y="3353178"/>
            <a:ext cx="4778249" cy="26314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0DAEF08-F1AB-828D-ECB3-B63FFC4E400A}"/>
              </a:ext>
            </a:extLst>
          </p:cNvPr>
          <p:cNvSpPr txBox="1"/>
          <p:nvPr/>
        </p:nvSpPr>
        <p:spPr>
          <a:xfrm>
            <a:off x="4661903" y="2742744"/>
            <a:ext cx="35349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請確認好 </a:t>
            </a:r>
            <a:r>
              <a:rPr lang="en-US" altLang="zh-TW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Library</a:t>
            </a:r>
            <a:r>
              <a:rPr lang="zh-TW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的路徑</a:t>
            </a:r>
            <a:endParaRPr lang="en-US" altLang="zh-TW" sz="24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4B97513-3E83-016B-3545-9C722C536487}"/>
              </a:ext>
            </a:extLst>
          </p:cNvPr>
          <p:cNvSpPr/>
          <p:nvPr/>
        </p:nvSpPr>
        <p:spPr>
          <a:xfrm>
            <a:off x="4089115" y="5615888"/>
            <a:ext cx="1908212" cy="83099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8151E33-9C9E-8753-425B-5B3585DC6385}"/>
              </a:ext>
            </a:extLst>
          </p:cNvPr>
          <p:cNvSpPr txBox="1"/>
          <p:nvPr/>
        </p:nvSpPr>
        <p:spPr>
          <a:xfrm>
            <a:off x="6125653" y="5612026"/>
            <a:ext cx="26236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Load Capacitance</a:t>
            </a:r>
          </a:p>
          <a:p>
            <a:pPr algn="ctr"/>
            <a:r>
              <a:rPr lang="en-US" altLang="zh-TW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照 </a:t>
            </a:r>
            <a:r>
              <a:rPr lang="en-US" altLang="zh-TW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HW </a:t>
            </a:r>
            <a:r>
              <a:rPr lang="zh-TW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規定設值</a:t>
            </a:r>
            <a:r>
              <a:rPr lang="en-US" altLang="zh-TW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123873D-DC00-3A76-C983-A811730F1163}"/>
              </a:ext>
            </a:extLst>
          </p:cNvPr>
          <p:cNvSpPr/>
          <p:nvPr/>
        </p:nvSpPr>
        <p:spPr>
          <a:xfrm>
            <a:off x="4108551" y="3868595"/>
            <a:ext cx="1888776" cy="15479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D4EAA7A0-39B3-9759-B911-A9CB6837196E}"/>
              </a:ext>
            </a:extLst>
          </p:cNvPr>
          <p:cNvSpPr txBox="1"/>
          <p:nvPr/>
        </p:nvSpPr>
        <p:spPr>
          <a:xfrm>
            <a:off x="5997327" y="4227061"/>
            <a:ext cx="48013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這些參數在測試電路時可幫助收斂</a:t>
            </a:r>
            <a:endParaRPr lang="en-US" altLang="zh-TW" sz="24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及量測數據可顯示到小數點第</a:t>
            </a:r>
            <a:r>
              <a:rPr lang="en-US" altLang="zh-TW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</a:t>
            </a:r>
            <a:r>
              <a:rPr lang="zh-TW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位</a:t>
            </a:r>
            <a:endParaRPr lang="en-US" altLang="zh-TW" sz="24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03188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8"/>
          <p:cNvSpPr txBox="1"/>
          <p:nvPr/>
        </p:nvSpPr>
        <p:spPr>
          <a:xfrm>
            <a:off x="273695" y="242796"/>
            <a:ext cx="400937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TW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HSPICE</a:t>
            </a:r>
            <a:r>
              <a:rPr lang="zh-TW" altLang="en-US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TW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Introduction</a:t>
            </a:r>
            <a:endParaRPr lang="zh-CN" altLang="en-US" sz="3200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42" name="內容版面配置區 3">
            <a:extLst>
              <a:ext uri="{FF2B5EF4-FFF2-40B4-BE49-F238E27FC236}">
                <a16:creationId xmlns:a16="http://schemas.microsoft.com/office/drawing/2014/main" id="{D2FE6C03-7246-AAD1-2F2A-9D8A8A93D77E}"/>
              </a:ext>
            </a:extLst>
          </p:cNvPr>
          <p:cNvSpPr>
            <a:spLocks noGrp="1"/>
          </p:cNvSpPr>
          <p:nvPr/>
        </p:nvSpPr>
        <p:spPr>
          <a:xfrm>
            <a:off x="92671" y="1096045"/>
            <a:ext cx="12677761" cy="364803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96240" indent="-384175">
              <a:lnSpc>
                <a:spcPct val="100000"/>
              </a:lnSpc>
              <a:spcBef>
                <a:spcPts val="1150"/>
              </a:spcBef>
              <a:buFont typeface="Arial"/>
              <a:buChar char="■"/>
              <a:tabLst>
                <a:tab pos="396240" algn="l"/>
                <a:tab pos="396875" algn="l"/>
              </a:tabLst>
            </a:pPr>
            <a:r>
              <a:rPr lang="en-US" altLang="zh-TW" sz="2000" dirty="0">
                <a:solidFill>
                  <a:srgbClr val="181B0D"/>
                </a:solidFill>
                <a:ea typeface="標楷體" panose="03000509000000000000" pitchFamily="65" charset="-120"/>
              </a:rPr>
              <a:t>Process</a:t>
            </a:r>
            <a:r>
              <a:rPr lang="en-US" altLang="zh-TW" sz="2000" spc="-40" dirty="0">
                <a:solidFill>
                  <a:srgbClr val="181B0D"/>
                </a:solidFill>
                <a:ea typeface="標楷體" panose="03000509000000000000" pitchFamily="65" charset="-120"/>
              </a:rPr>
              <a:t> </a:t>
            </a:r>
            <a:r>
              <a:rPr lang="en-US" altLang="zh-TW" sz="2000" dirty="0">
                <a:solidFill>
                  <a:srgbClr val="181B0D"/>
                </a:solidFill>
                <a:ea typeface="標楷體" panose="03000509000000000000" pitchFamily="65" charset="-120"/>
              </a:rPr>
              <a:t>Corners</a:t>
            </a:r>
            <a:endParaRPr lang="en-US" altLang="zh-TW" sz="2000" dirty="0">
              <a:ea typeface="標楷體" panose="03000509000000000000" pitchFamily="65" charset="-120"/>
            </a:endParaRPr>
          </a:p>
          <a:p>
            <a:pPr marL="396240" marR="5080" indent="-384175">
              <a:lnSpc>
                <a:spcPts val="2260"/>
              </a:lnSpc>
              <a:spcBef>
                <a:spcPts val="1235"/>
              </a:spcBef>
              <a:buFont typeface="Arial"/>
              <a:buChar char="■"/>
              <a:tabLst>
                <a:tab pos="396240" algn="l"/>
                <a:tab pos="396875" algn="l"/>
              </a:tabLst>
            </a:pPr>
            <a:r>
              <a:rPr lang="zh-TW" altLang="en-US" sz="2000" spc="160" dirty="0">
                <a:solidFill>
                  <a:srgbClr val="181B0D"/>
                </a:solidFill>
                <a:ea typeface="標楷體" panose="03000509000000000000" pitchFamily="65" charset="-120"/>
              </a:rPr>
              <a:t>製程偏</a:t>
            </a:r>
            <a:r>
              <a:rPr lang="zh-TW" altLang="en-US" sz="2000" spc="145" dirty="0">
                <a:solidFill>
                  <a:srgbClr val="181B0D"/>
                </a:solidFill>
                <a:ea typeface="標楷體" panose="03000509000000000000" pitchFamily="65" charset="-120"/>
              </a:rPr>
              <a:t>移</a:t>
            </a:r>
            <a:r>
              <a:rPr lang="zh-TW" altLang="en-US" sz="2000" spc="160" dirty="0">
                <a:solidFill>
                  <a:srgbClr val="181B0D"/>
                </a:solidFill>
                <a:ea typeface="標楷體" panose="03000509000000000000" pitchFamily="65" charset="-120"/>
              </a:rPr>
              <a:t>，</a:t>
            </a:r>
            <a:r>
              <a:rPr lang="zh-TW" altLang="en-US" sz="2000" spc="150" dirty="0">
                <a:solidFill>
                  <a:srgbClr val="181B0D"/>
                </a:solidFill>
                <a:ea typeface="標楷體" panose="03000509000000000000" pitchFamily="65" charset="-120"/>
              </a:rPr>
              <a:t>以 </a:t>
            </a:r>
            <a:r>
              <a:rPr lang="en-US" altLang="zh-TW" sz="2000" dirty="0">
                <a:solidFill>
                  <a:srgbClr val="181B0D"/>
                </a:solidFill>
                <a:ea typeface="標楷體" panose="03000509000000000000" pitchFamily="65" charset="-120"/>
              </a:rPr>
              <a:t>CIC18</a:t>
            </a:r>
            <a:r>
              <a:rPr lang="zh-TW" altLang="en-US" sz="2000" dirty="0">
                <a:solidFill>
                  <a:srgbClr val="181B0D"/>
                </a:solidFill>
                <a:ea typeface="標楷體" panose="03000509000000000000" pitchFamily="65" charset="-120"/>
              </a:rPr>
              <a:t> </a:t>
            </a:r>
            <a:r>
              <a:rPr lang="zh-TW" altLang="en-US" sz="2000" spc="160" dirty="0">
                <a:solidFill>
                  <a:srgbClr val="181B0D"/>
                </a:solidFill>
                <a:ea typeface="標楷體" panose="03000509000000000000" pitchFamily="65" charset="-120"/>
              </a:rPr>
              <a:t>而言</a:t>
            </a:r>
            <a:r>
              <a:rPr lang="zh-TW" altLang="en-US" sz="2000" spc="25" dirty="0">
                <a:solidFill>
                  <a:srgbClr val="181B0D"/>
                </a:solidFill>
                <a:ea typeface="標楷體" panose="03000509000000000000" pitchFamily="65" charset="-120"/>
              </a:rPr>
              <a:t>，</a:t>
            </a:r>
            <a:r>
              <a:rPr lang="en-US" altLang="zh-TW" sz="2000" spc="25" dirty="0" err="1">
                <a:solidFill>
                  <a:srgbClr val="181B0D"/>
                </a:solidFill>
                <a:ea typeface="標楷體" panose="03000509000000000000" pitchFamily="65" charset="-120"/>
              </a:rPr>
              <a:t>nmos</a:t>
            </a:r>
            <a:r>
              <a:rPr lang="en-US" altLang="zh-TW" sz="2000" spc="5" dirty="0">
                <a:solidFill>
                  <a:srgbClr val="181B0D"/>
                </a:solidFill>
                <a:ea typeface="標楷體" panose="03000509000000000000" pitchFamily="65" charset="-120"/>
              </a:rPr>
              <a:t> </a:t>
            </a:r>
            <a:r>
              <a:rPr lang="en-US" altLang="zh-TW" sz="2000" dirty="0">
                <a:solidFill>
                  <a:srgbClr val="181B0D"/>
                </a:solidFill>
                <a:ea typeface="標楷體" panose="03000509000000000000" pitchFamily="65" charset="-120"/>
              </a:rPr>
              <a:t>&amp; </a:t>
            </a:r>
            <a:r>
              <a:rPr lang="en-US" altLang="zh-TW" sz="2000" spc="-5" dirty="0" err="1">
                <a:solidFill>
                  <a:srgbClr val="181B0D"/>
                </a:solidFill>
                <a:ea typeface="標楷體" panose="03000509000000000000" pitchFamily="65" charset="-120"/>
              </a:rPr>
              <a:t>pmos</a:t>
            </a:r>
            <a:r>
              <a:rPr lang="en-US" altLang="zh-TW" sz="2000" spc="15" dirty="0">
                <a:solidFill>
                  <a:srgbClr val="181B0D"/>
                </a:solidFill>
                <a:ea typeface="標楷體" panose="03000509000000000000" pitchFamily="65" charset="-120"/>
              </a:rPr>
              <a:t> </a:t>
            </a:r>
            <a:r>
              <a:rPr lang="zh-TW" altLang="en-US" sz="2000" spc="160" dirty="0">
                <a:solidFill>
                  <a:srgbClr val="181B0D"/>
                </a:solidFill>
                <a:ea typeface="標楷體" panose="03000509000000000000" pitchFamily="65" charset="-120"/>
              </a:rPr>
              <a:t>的速度</a:t>
            </a:r>
            <a:r>
              <a:rPr lang="zh-TW" altLang="en-US" sz="2000" spc="145" dirty="0">
                <a:solidFill>
                  <a:srgbClr val="181B0D"/>
                </a:solidFill>
                <a:ea typeface="標楷體" panose="03000509000000000000" pitchFamily="65" charset="-120"/>
              </a:rPr>
              <a:t>可</a:t>
            </a:r>
            <a:r>
              <a:rPr lang="zh-TW" altLang="en-US" sz="2000" spc="160" dirty="0">
                <a:solidFill>
                  <a:srgbClr val="181B0D"/>
                </a:solidFill>
                <a:ea typeface="標楷體" panose="03000509000000000000" pitchFamily="65" charset="-120"/>
              </a:rPr>
              <a:t>能</a:t>
            </a:r>
            <a:r>
              <a:rPr lang="zh-TW" altLang="en-US" sz="2000" spc="145" dirty="0">
                <a:solidFill>
                  <a:srgbClr val="181B0D"/>
                </a:solidFill>
                <a:ea typeface="標楷體" panose="03000509000000000000" pitchFamily="65" charset="-120"/>
              </a:rPr>
              <a:t>有</a:t>
            </a:r>
            <a:r>
              <a:rPr lang="zh-TW" altLang="en-US" sz="2000" spc="160" dirty="0">
                <a:solidFill>
                  <a:srgbClr val="181B0D"/>
                </a:solidFill>
                <a:ea typeface="標楷體" panose="03000509000000000000" pitchFamily="65" charset="-120"/>
              </a:rPr>
              <a:t>五種組</a:t>
            </a:r>
            <a:r>
              <a:rPr lang="zh-TW" altLang="en-US" sz="2000" spc="145" dirty="0">
                <a:solidFill>
                  <a:srgbClr val="181B0D"/>
                </a:solidFill>
                <a:ea typeface="標楷體" panose="03000509000000000000" pitchFamily="65" charset="-120"/>
              </a:rPr>
              <a:t>合</a:t>
            </a:r>
            <a:r>
              <a:rPr lang="zh-TW" altLang="en-US" sz="2000" spc="160" dirty="0">
                <a:solidFill>
                  <a:srgbClr val="181B0D"/>
                </a:solidFill>
                <a:ea typeface="標楷體" panose="03000509000000000000" pitchFamily="65" charset="-120"/>
              </a:rPr>
              <a:t>，</a:t>
            </a:r>
            <a:r>
              <a:rPr lang="zh-TW" altLang="en-US" sz="2000" spc="145" dirty="0">
                <a:solidFill>
                  <a:srgbClr val="181B0D"/>
                </a:solidFill>
                <a:ea typeface="標楷體" panose="03000509000000000000" pitchFamily="65" charset="-120"/>
              </a:rPr>
              <a:t>取</a:t>
            </a:r>
            <a:r>
              <a:rPr lang="zh-TW" altLang="en-US" sz="2000" spc="160" dirty="0">
                <a:solidFill>
                  <a:srgbClr val="181B0D"/>
                </a:solidFill>
                <a:ea typeface="標楷體" panose="03000509000000000000" pitchFamily="65" charset="-120"/>
              </a:rPr>
              <a:t>兩者字</a:t>
            </a:r>
            <a:r>
              <a:rPr lang="zh-TW" altLang="en-US" sz="2000" spc="145" dirty="0">
                <a:solidFill>
                  <a:srgbClr val="181B0D"/>
                </a:solidFill>
                <a:ea typeface="標楷體" panose="03000509000000000000" pitchFamily="65" charset="-120"/>
              </a:rPr>
              <a:t>首</a:t>
            </a:r>
            <a:r>
              <a:rPr lang="zh-TW" altLang="en-US" sz="2000" spc="160" dirty="0">
                <a:solidFill>
                  <a:srgbClr val="181B0D"/>
                </a:solidFill>
                <a:ea typeface="標楷體" panose="03000509000000000000" pitchFamily="65" charset="-120"/>
              </a:rPr>
              <a:t>縮</a:t>
            </a:r>
            <a:r>
              <a:rPr lang="zh-TW" altLang="en-US" sz="2000" spc="145" dirty="0">
                <a:solidFill>
                  <a:srgbClr val="181B0D"/>
                </a:solidFill>
                <a:ea typeface="標楷體" panose="03000509000000000000" pitchFamily="65" charset="-120"/>
              </a:rPr>
              <a:t>寫</a:t>
            </a:r>
            <a:r>
              <a:rPr lang="zh-TW" altLang="en-US" sz="2000" spc="160" dirty="0">
                <a:solidFill>
                  <a:srgbClr val="181B0D"/>
                </a:solidFill>
                <a:ea typeface="標楷體" panose="03000509000000000000" pitchFamily="65" charset="-120"/>
              </a:rPr>
              <a:t>，</a:t>
            </a:r>
            <a:r>
              <a:rPr lang="zh-TW" altLang="en-US" sz="2000" spc="170" dirty="0">
                <a:solidFill>
                  <a:srgbClr val="181B0D"/>
                </a:solidFill>
                <a:ea typeface="標楷體" panose="03000509000000000000" pitchFamily="65" charset="-120"/>
              </a:rPr>
              <a:t>前者</a:t>
            </a:r>
            <a:r>
              <a:rPr lang="zh-TW" altLang="en-US" sz="2000" spc="160" dirty="0">
                <a:solidFill>
                  <a:srgbClr val="181B0D"/>
                </a:solidFill>
                <a:ea typeface="標楷體" panose="03000509000000000000" pitchFamily="65" charset="-120"/>
              </a:rPr>
              <a:t>代表 </a:t>
            </a:r>
            <a:r>
              <a:rPr lang="en-US" altLang="zh-TW" sz="2000" spc="-5" dirty="0" err="1">
                <a:solidFill>
                  <a:srgbClr val="181B0D"/>
                </a:solidFill>
                <a:ea typeface="標楷體" panose="03000509000000000000" pitchFamily="65" charset="-120"/>
              </a:rPr>
              <a:t>nmos</a:t>
            </a:r>
            <a:r>
              <a:rPr lang="zh-TW" altLang="en-US" sz="2000" spc="-5" dirty="0">
                <a:solidFill>
                  <a:srgbClr val="181B0D"/>
                </a:solidFill>
                <a:ea typeface="標楷體" panose="03000509000000000000" pitchFamily="65" charset="-120"/>
              </a:rPr>
              <a:t> </a:t>
            </a:r>
            <a:r>
              <a:rPr lang="zh-TW" altLang="en-US" sz="2000" spc="160" dirty="0">
                <a:solidFill>
                  <a:srgbClr val="181B0D"/>
                </a:solidFill>
                <a:ea typeface="標楷體" panose="03000509000000000000" pitchFamily="65" charset="-120"/>
              </a:rPr>
              <a:t>速</a:t>
            </a:r>
            <a:r>
              <a:rPr lang="zh-TW" altLang="en-US" sz="2000" spc="145" dirty="0">
                <a:solidFill>
                  <a:srgbClr val="181B0D"/>
                </a:solidFill>
                <a:ea typeface="標楷體" panose="03000509000000000000" pitchFamily="65" charset="-120"/>
              </a:rPr>
              <a:t>度</a:t>
            </a:r>
            <a:r>
              <a:rPr lang="zh-TW" altLang="en-US" sz="2000" spc="160" dirty="0">
                <a:solidFill>
                  <a:srgbClr val="181B0D"/>
                </a:solidFill>
                <a:ea typeface="標楷體" panose="03000509000000000000" pitchFamily="65" charset="-120"/>
              </a:rPr>
              <a:t>，後</a:t>
            </a:r>
            <a:r>
              <a:rPr lang="zh-TW" altLang="en-US" sz="2000" spc="145" dirty="0">
                <a:solidFill>
                  <a:srgbClr val="181B0D"/>
                </a:solidFill>
                <a:ea typeface="標楷體" panose="03000509000000000000" pitchFamily="65" charset="-120"/>
              </a:rPr>
              <a:t>者</a:t>
            </a:r>
            <a:r>
              <a:rPr lang="zh-TW" altLang="en-US" sz="2000" spc="160" dirty="0">
                <a:solidFill>
                  <a:srgbClr val="181B0D"/>
                </a:solidFill>
                <a:ea typeface="標楷體" panose="03000509000000000000" pitchFamily="65" charset="-120"/>
              </a:rPr>
              <a:t>代表 </a:t>
            </a:r>
            <a:r>
              <a:rPr lang="en-US" altLang="zh-TW" sz="2000" spc="-10" dirty="0" err="1">
                <a:solidFill>
                  <a:srgbClr val="181B0D"/>
                </a:solidFill>
                <a:ea typeface="標楷體" panose="03000509000000000000" pitchFamily="65" charset="-120"/>
              </a:rPr>
              <a:t>pmos</a:t>
            </a:r>
            <a:r>
              <a:rPr lang="zh-TW" altLang="en-US" sz="2000" spc="-10" dirty="0">
                <a:solidFill>
                  <a:srgbClr val="181B0D"/>
                </a:solidFill>
                <a:ea typeface="標楷體" panose="03000509000000000000" pitchFamily="65" charset="-120"/>
              </a:rPr>
              <a:t> </a:t>
            </a:r>
            <a:r>
              <a:rPr lang="zh-TW" altLang="en-US" sz="2000" spc="160" dirty="0">
                <a:solidFill>
                  <a:srgbClr val="181B0D"/>
                </a:solidFill>
                <a:ea typeface="標楷體" panose="03000509000000000000" pitchFamily="65" charset="-120"/>
              </a:rPr>
              <a:t>速度</a:t>
            </a:r>
            <a:endParaRPr lang="zh-TW" altLang="en-US" sz="2000" dirty="0">
              <a:ea typeface="標楷體" panose="03000509000000000000" pitchFamily="65" charset="-120"/>
            </a:endParaRPr>
          </a:p>
          <a:p>
            <a:pPr marL="927100" lvl="1" indent="-384175">
              <a:lnSpc>
                <a:spcPct val="100000"/>
              </a:lnSpc>
              <a:spcBef>
                <a:spcPts val="509"/>
              </a:spcBef>
              <a:buFont typeface="Arial"/>
              <a:buChar char="–"/>
              <a:tabLst>
                <a:tab pos="926465" algn="l"/>
                <a:tab pos="927100" algn="l"/>
              </a:tabLst>
            </a:pPr>
            <a:r>
              <a:rPr lang="en-US" altLang="zh-TW" sz="2000" dirty="0">
                <a:solidFill>
                  <a:srgbClr val="181B0D"/>
                </a:solidFill>
                <a:ea typeface="標楷體" panose="03000509000000000000" pitchFamily="65" charset="-120"/>
              </a:rPr>
              <a:t>TT (</a:t>
            </a:r>
            <a:r>
              <a:rPr lang="en-US" altLang="zh-TW" sz="2000" dirty="0" err="1">
                <a:solidFill>
                  <a:srgbClr val="181B0D"/>
                </a:solidFill>
                <a:ea typeface="標楷體" panose="03000509000000000000" pitchFamily="65" charset="-120"/>
              </a:rPr>
              <a:t>nMOS</a:t>
            </a:r>
            <a:r>
              <a:rPr lang="en-US" altLang="zh-TW" sz="2000" dirty="0">
                <a:solidFill>
                  <a:srgbClr val="181B0D"/>
                </a:solidFill>
                <a:ea typeface="標楷體" panose="03000509000000000000" pitchFamily="65" charset="-120"/>
              </a:rPr>
              <a:t> and </a:t>
            </a:r>
            <a:r>
              <a:rPr lang="en-US" altLang="zh-TW" sz="2000" dirty="0" err="1">
                <a:solidFill>
                  <a:srgbClr val="181B0D"/>
                </a:solidFill>
                <a:ea typeface="標楷體" panose="03000509000000000000" pitchFamily="65" charset="-120"/>
              </a:rPr>
              <a:t>pMOS</a:t>
            </a:r>
            <a:r>
              <a:rPr lang="en-US" altLang="zh-TW" sz="2000" dirty="0">
                <a:solidFill>
                  <a:srgbClr val="181B0D"/>
                </a:solidFill>
                <a:ea typeface="標楷體" panose="03000509000000000000" pitchFamily="65" charset="-120"/>
              </a:rPr>
              <a:t> are</a:t>
            </a:r>
            <a:r>
              <a:rPr lang="en-US" altLang="zh-TW" sz="2000" spc="-130" dirty="0">
                <a:solidFill>
                  <a:srgbClr val="181B0D"/>
                </a:solidFill>
                <a:ea typeface="標楷體" panose="03000509000000000000" pitchFamily="65" charset="-120"/>
              </a:rPr>
              <a:t> </a:t>
            </a:r>
            <a:r>
              <a:rPr lang="en-US" altLang="zh-TW" sz="2000" spc="-20" dirty="0">
                <a:solidFill>
                  <a:srgbClr val="181B0D"/>
                </a:solidFill>
                <a:ea typeface="標楷體" panose="03000509000000000000" pitchFamily="65" charset="-120"/>
              </a:rPr>
              <a:t>Typical)</a:t>
            </a:r>
            <a:endParaRPr lang="en-US" altLang="zh-TW" sz="2000" dirty="0">
              <a:ea typeface="標楷體" panose="03000509000000000000" pitchFamily="65" charset="-120"/>
            </a:endParaRPr>
          </a:p>
          <a:p>
            <a:pPr marL="927100" lvl="1" indent="-384175">
              <a:lnSpc>
                <a:spcPct val="100000"/>
              </a:lnSpc>
              <a:spcBef>
                <a:spcPts val="565"/>
              </a:spcBef>
              <a:buFont typeface="Arial"/>
              <a:buChar char="–"/>
              <a:tabLst>
                <a:tab pos="926465" algn="l"/>
                <a:tab pos="927100" algn="l"/>
              </a:tabLst>
            </a:pPr>
            <a:r>
              <a:rPr lang="en-US" altLang="zh-TW" sz="2000" dirty="0">
                <a:solidFill>
                  <a:srgbClr val="181B0D"/>
                </a:solidFill>
                <a:ea typeface="標楷體" panose="03000509000000000000" pitchFamily="65" charset="-120"/>
              </a:rPr>
              <a:t>FF (</a:t>
            </a:r>
            <a:r>
              <a:rPr lang="en-US" altLang="zh-TW" sz="2000" dirty="0" err="1">
                <a:solidFill>
                  <a:srgbClr val="181B0D"/>
                </a:solidFill>
                <a:ea typeface="標楷體" panose="03000509000000000000" pitchFamily="65" charset="-120"/>
              </a:rPr>
              <a:t>nMOS</a:t>
            </a:r>
            <a:r>
              <a:rPr lang="en-US" altLang="zh-TW" sz="2000" dirty="0">
                <a:solidFill>
                  <a:srgbClr val="181B0D"/>
                </a:solidFill>
                <a:ea typeface="標楷體" panose="03000509000000000000" pitchFamily="65" charset="-120"/>
              </a:rPr>
              <a:t> and </a:t>
            </a:r>
            <a:r>
              <a:rPr lang="en-US" altLang="zh-TW" sz="2000" dirty="0" err="1">
                <a:solidFill>
                  <a:srgbClr val="181B0D"/>
                </a:solidFill>
                <a:ea typeface="標楷體" panose="03000509000000000000" pitchFamily="65" charset="-120"/>
              </a:rPr>
              <a:t>pMOS</a:t>
            </a:r>
            <a:r>
              <a:rPr lang="en-US" altLang="zh-TW" sz="2000" dirty="0">
                <a:solidFill>
                  <a:srgbClr val="181B0D"/>
                </a:solidFill>
                <a:ea typeface="標楷體" panose="03000509000000000000" pitchFamily="65" charset="-120"/>
              </a:rPr>
              <a:t> are</a:t>
            </a:r>
            <a:r>
              <a:rPr lang="en-US" altLang="zh-TW" sz="2000" spc="-60" dirty="0">
                <a:solidFill>
                  <a:srgbClr val="181B0D"/>
                </a:solidFill>
                <a:ea typeface="標楷體" panose="03000509000000000000" pitchFamily="65" charset="-120"/>
              </a:rPr>
              <a:t> </a:t>
            </a:r>
            <a:r>
              <a:rPr lang="en-US" altLang="zh-TW" sz="2000" dirty="0">
                <a:solidFill>
                  <a:srgbClr val="181B0D"/>
                </a:solidFill>
                <a:ea typeface="標楷體" panose="03000509000000000000" pitchFamily="65" charset="-120"/>
              </a:rPr>
              <a:t>Fast)</a:t>
            </a:r>
            <a:endParaRPr lang="en-US" altLang="zh-TW" sz="2000" dirty="0">
              <a:ea typeface="標楷體" panose="03000509000000000000" pitchFamily="65" charset="-120"/>
            </a:endParaRPr>
          </a:p>
          <a:p>
            <a:pPr marL="927100" lvl="1" indent="-384175">
              <a:lnSpc>
                <a:spcPct val="100000"/>
              </a:lnSpc>
              <a:spcBef>
                <a:spcPts val="555"/>
              </a:spcBef>
              <a:buFont typeface="Arial"/>
              <a:buChar char="–"/>
              <a:tabLst>
                <a:tab pos="926465" algn="l"/>
                <a:tab pos="927100" algn="l"/>
              </a:tabLst>
            </a:pPr>
            <a:r>
              <a:rPr lang="en-US" altLang="zh-TW" sz="2000" dirty="0">
                <a:solidFill>
                  <a:srgbClr val="181B0D"/>
                </a:solidFill>
                <a:ea typeface="標楷體" panose="03000509000000000000" pitchFamily="65" charset="-120"/>
              </a:rPr>
              <a:t>SS (</a:t>
            </a:r>
            <a:r>
              <a:rPr lang="en-US" altLang="zh-TW" sz="2000" dirty="0" err="1">
                <a:solidFill>
                  <a:srgbClr val="181B0D"/>
                </a:solidFill>
                <a:ea typeface="標楷體" panose="03000509000000000000" pitchFamily="65" charset="-120"/>
              </a:rPr>
              <a:t>nMOS</a:t>
            </a:r>
            <a:r>
              <a:rPr lang="en-US" altLang="zh-TW" sz="2000" dirty="0">
                <a:solidFill>
                  <a:srgbClr val="181B0D"/>
                </a:solidFill>
                <a:ea typeface="標楷體" panose="03000509000000000000" pitchFamily="65" charset="-120"/>
              </a:rPr>
              <a:t> and </a:t>
            </a:r>
            <a:r>
              <a:rPr lang="en-US" altLang="zh-TW" sz="2000" dirty="0" err="1">
                <a:solidFill>
                  <a:srgbClr val="181B0D"/>
                </a:solidFill>
                <a:ea typeface="標楷體" panose="03000509000000000000" pitchFamily="65" charset="-120"/>
              </a:rPr>
              <a:t>pMOS</a:t>
            </a:r>
            <a:r>
              <a:rPr lang="en-US" altLang="zh-TW" sz="2000" dirty="0">
                <a:solidFill>
                  <a:srgbClr val="181B0D"/>
                </a:solidFill>
                <a:ea typeface="標楷體" panose="03000509000000000000" pitchFamily="65" charset="-120"/>
              </a:rPr>
              <a:t> are</a:t>
            </a:r>
            <a:r>
              <a:rPr lang="en-US" altLang="zh-TW" sz="2000" spc="-60" dirty="0">
                <a:solidFill>
                  <a:srgbClr val="181B0D"/>
                </a:solidFill>
                <a:ea typeface="標楷體" panose="03000509000000000000" pitchFamily="65" charset="-120"/>
              </a:rPr>
              <a:t> </a:t>
            </a:r>
            <a:r>
              <a:rPr lang="en-US" altLang="zh-TW" sz="2000" dirty="0">
                <a:solidFill>
                  <a:srgbClr val="181B0D"/>
                </a:solidFill>
                <a:ea typeface="標楷體" panose="03000509000000000000" pitchFamily="65" charset="-120"/>
              </a:rPr>
              <a:t>Slow)</a:t>
            </a:r>
            <a:endParaRPr lang="en-US" altLang="zh-TW" sz="2000" dirty="0">
              <a:ea typeface="標楷體" panose="03000509000000000000" pitchFamily="65" charset="-120"/>
            </a:endParaRPr>
          </a:p>
          <a:p>
            <a:pPr marL="927100" lvl="1" indent="-384175">
              <a:lnSpc>
                <a:spcPct val="100000"/>
              </a:lnSpc>
              <a:spcBef>
                <a:spcPts val="550"/>
              </a:spcBef>
              <a:buFont typeface="Arial"/>
              <a:buChar char="–"/>
              <a:tabLst>
                <a:tab pos="926465" algn="l"/>
                <a:tab pos="927100" algn="l"/>
              </a:tabLst>
            </a:pPr>
            <a:r>
              <a:rPr lang="en-US" altLang="zh-TW" sz="2000" dirty="0">
                <a:solidFill>
                  <a:srgbClr val="181B0D"/>
                </a:solidFill>
                <a:ea typeface="標楷體" panose="03000509000000000000" pitchFamily="65" charset="-120"/>
              </a:rPr>
              <a:t>FS (</a:t>
            </a:r>
            <a:r>
              <a:rPr lang="en-US" altLang="zh-TW" sz="2000" dirty="0" err="1">
                <a:solidFill>
                  <a:srgbClr val="181B0D"/>
                </a:solidFill>
                <a:ea typeface="標楷體" panose="03000509000000000000" pitchFamily="65" charset="-120"/>
              </a:rPr>
              <a:t>nMOS</a:t>
            </a:r>
            <a:r>
              <a:rPr lang="en-US" altLang="zh-TW" sz="2000" dirty="0">
                <a:solidFill>
                  <a:srgbClr val="181B0D"/>
                </a:solidFill>
                <a:ea typeface="標楷體" panose="03000509000000000000" pitchFamily="65" charset="-120"/>
              </a:rPr>
              <a:t> is Fast and </a:t>
            </a:r>
            <a:r>
              <a:rPr lang="en-US" altLang="zh-TW" sz="2000" dirty="0" err="1">
                <a:solidFill>
                  <a:srgbClr val="181B0D"/>
                </a:solidFill>
                <a:ea typeface="標楷體" panose="03000509000000000000" pitchFamily="65" charset="-120"/>
              </a:rPr>
              <a:t>pMOS</a:t>
            </a:r>
            <a:r>
              <a:rPr lang="en-US" altLang="zh-TW" sz="2000" dirty="0">
                <a:solidFill>
                  <a:srgbClr val="181B0D"/>
                </a:solidFill>
                <a:ea typeface="標楷體" panose="03000509000000000000" pitchFamily="65" charset="-120"/>
              </a:rPr>
              <a:t> is</a:t>
            </a:r>
            <a:r>
              <a:rPr lang="en-US" altLang="zh-TW" sz="2000" spc="-135" dirty="0">
                <a:solidFill>
                  <a:srgbClr val="181B0D"/>
                </a:solidFill>
                <a:ea typeface="標楷體" panose="03000509000000000000" pitchFamily="65" charset="-120"/>
              </a:rPr>
              <a:t> </a:t>
            </a:r>
            <a:r>
              <a:rPr lang="en-US" altLang="zh-TW" sz="2000" dirty="0">
                <a:solidFill>
                  <a:srgbClr val="181B0D"/>
                </a:solidFill>
                <a:ea typeface="標楷體" panose="03000509000000000000" pitchFamily="65" charset="-120"/>
              </a:rPr>
              <a:t>Slow)</a:t>
            </a:r>
            <a:endParaRPr lang="en-US" altLang="zh-TW" sz="2000" dirty="0">
              <a:ea typeface="標楷體" panose="03000509000000000000" pitchFamily="65" charset="-120"/>
            </a:endParaRPr>
          </a:p>
          <a:p>
            <a:pPr marL="927100" lvl="1" indent="-384175">
              <a:lnSpc>
                <a:spcPct val="100000"/>
              </a:lnSpc>
              <a:spcBef>
                <a:spcPts val="565"/>
              </a:spcBef>
              <a:buFont typeface="Arial"/>
              <a:buChar char="–"/>
              <a:tabLst>
                <a:tab pos="926465" algn="l"/>
                <a:tab pos="927100" algn="l"/>
              </a:tabLst>
            </a:pPr>
            <a:r>
              <a:rPr lang="en-US" altLang="zh-TW" sz="2000" dirty="0">
                <a:solidFill>
                  <a:srgbClr val="181B0D"/>
                </a:solidFill>
                <a:ea typeface="標楷體" panose="03000509000000000000" pitchFamily="65" charset="-120"/>
              </a:rPr>
              <a:t>SF (</a:t>
            </a:r>
            <a:r>
              <a:rPr lang="en-US" altLang="zh-TW" sz="2000" dirty="0" err="1">
                <a:solidFill>
                  <a:srgbClr val="181B0D"/>
                </a:solidFill>
                <a:ea typeface="標楷體" panose="03000509000000000000" pitchFamily="65" charset="-120"/>
              </a:rPr>
              <a:t>nMOS</a:t>
            </a:r>
            <a:r>
              <a:rPr lang="en-US" altLang="zh-TW" sz="2000" dirty="0">
                <a:solidFill>
                  <a:srgbClr val="181B0D"/>
                </a:solidFill>
                <a:ea typeface="標楷體" panose="03000509000000000000" pitchFamily="65" charset="-120"/>
              </a:rPr>
              <a:t> is Slow and </a:t>
            </a:r>
            <a:r>
              <a:rPr lang="en-US" altLang="zh-TW" sz="2000" dirty="0" err="1">
                <a:solidFill>
                  <a:srgbClr val="181B0D"/>
                </a:solidFill>
                <a:ea typeface="標楷體" panose="03000509000000000000" pitchFamily="65" charset="-120"/>
              </a:rPr>
              <a:t>pMOS</a:t>
            </a:r>
            <a:r>
              <a:rPr lang="en-US" altLang="zh-TW" sz="2000" dirty="0">
                <a:solidFill>
                  <a:srgbClr val="181B0D"/>
                </a:solidFill>
                <a:ea typeface="標楷體" panose="03000509000000000000" pitchFamily="65" charset="-120"/>
              </a:rPr>
              <a:t> is</a:t>
            </a:r>
            <a:r>
              <a:rPr lang="en-US" altLang="zh-TW" sz="2000" spc="-140" dirty="0">
                <a:solidFill>
                  <a:srgbClr val="181B0D"/>
                </a:solidFill>
                <a:ea typeface="標楷體" panose="03000509000000000000" pitchFamily="65" charset="-120"/>
              </a:rPr>
              <a:t> </a:t>
            </a:r>
            <a:r>
              <a:rPr lang="en-US" altLang="zh-TW" sz="2000" dirty="0">
                <a:solidFill>
                  <a:srgbClr val="181B0D"/>
                </a:solidFill>
                <a:ea typeface="標楷體" panose="03000509000000000000" pitchFamily="65" charset="-120"/>
              </a:rPr>
              <a:t>Fast)</a:t>
            </a:r>
            <a:endParaRPr lang="en-US" altLang="zh-TW" sz="2000" dirty="0">
              <a:ea typeface="標楷體" panose="03000509000000000000" pitchFamily="65" charset="-120"/>
            </a:endParaRPr>
          </a:p>
        </p:txBody>
      </p:sp>
      <p:sp>
        <p:nvSpPr>
          <p:cNvPr id="2" name="object 4">
            <a:extLst>
              <a:ext uri="{FF2B5EF4-FFF2-40B4-BE49-F238E27FC236}">
                <a16:creationId xmlns:a16="http://schemas.microsoft.com/office/drawing/2014/main" id="{CAA36DD7-0FD7-3875-6883-909BD8D49D49}"/>
              </a:ext>
            </a:extLst>
          </p:cNvPr>
          <p:cNvSpPr/>
          <p:nvPr/>
        </p:nvSpPr>
        <p:spPr>
          <a:xfrm>
            <a:off x="6213351" y="2464197"/>
            <a:ext cx="4400855" cy="421606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731021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74ECDBC5-A90C-2320-77DA-F536708102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3775" y="4159414"/>
            <a:ext cx="7102234" cy="3015890"/>
          </a:xfrm>
          <a:prstGeom prst="rect">
            <a:avLst/>
          </a:prstGeom>
        </p:spPr>
      </p:pic>
      <p:sp>
        <p:nvSpPr>
          <p:cNvPr id="41" name="TextBox 8"/>
          <p:cNvSpPr txBox="1"/>
          <p:nvPr/>
        </p:nvSpPr>
        <p:spPr>
          <a:xfrm>
            <a:off x="273695" y="242796"/>
            <a:ext cx="400937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TW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HSPICE</a:t>
            </a:r>
            <a:r>
              <a:rPr lang="zh-TW" altLang="en-US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TW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Introduction</a:t>
            </a:r>
            <a:endParaRPr lang="zh-CN" altLang="en-US" sz="3200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13F5F6B-8DF8-4632-C841-99B8DE137DA4}"/>
              </a:ext>
            </a:extLst>
          </p:cNvPr>
          <p:cNvSpPr txBox="1"/>
          <p:nvPr/>
        </p:nvSpPr>
        <p:spPr>
          <a:xfrm>
            <a:off x="5329972" y="4234780"/>
            <a:ext cx="13468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Example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F5A1B7C-A96E-19D3-5C77-ECA299981C39}"/>
              </a:ext>
            </a:extLst>
          </p:cNvPr>
          <p:cNvSpPr txBox="1"/>
          <p:nvPr/>
        </p:nvSpPr>
        <p:spPr>
          <a:xfrm>
            <a:off x="3945099" y="256992"/>
            <a:ext cx="4968552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TW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HSPICE</a:t>
            </a:r>
            <a:r>
              <a:rPr lang="zh-TW" altLang="en-US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語法 </a:t>
            </a:r>
            <a:r>
              <a:rPr lang="en-US" altLang="zh-TW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(PULSE)</a:t>
            </a:r>
            <a:endParaRPr lang="zh-CN" altLang="en-US" sz="3200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77A3A19D-908E-282B-0B1D-BDF3D9A7A356}"/>
              </a:ext>
            </a:extLst>
          </p:cNvPr>
          <p:cNvSpPr txBox="1"/>
          <p:nvPr/>
        </p:nvSpPr>
        <p:spPr>
          <a:xfrm>
            <a:off x="271641" y="952029"/>
            <a:ext cx="6409055" cy="3609321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396240" indent="-384175">
              <a:lnSpc>
                <a:spcPct val="100000"/>
              </a:lnSpc>
              <a:spcBef>
                <a:spcPts val="665"/>
              </a:spcBef>
              <a:buFont typeface="Arial"/>
              <a:buChar char="■"/>
              <a:tabLst>
                <a:tab pos="396240" algn="l"/>
                <a:tab pos="396875" algn="l"/>
              </a:tabLst>
            </a:pPr>
            <a:r>
              <a:rPr sz="2000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Spice</a:t>
            </a:r>
            <a:r>
              <a:rPr sz="2000" spc="170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語</a:t>
            </a:r>
            <a:r>
              <a:rPr sz="2000" spc="165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法說明</a:t>
            </a:r>
            <a:endParaRPr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27100" lvl="1" indent="-384175">
              <a:lnSpc>
                <a:spcPct val="100000"/>
              </a:lnSpc>
              <a:spcBef>
                <a:spcPts val="570"/>
              </a:spcBef>
              <a:buFont typeface="Arial"/>
              <a:buChar char="–"/>
              <a:tabLst>
                <a:tab pos="926465" algn="l"/>
                <a:tab pos="927100" algn="l"/>
              </a:tabLst>
            </a:pPr>
            <a:r>
              <a:rPr sz="2000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pulse:</a:t>
            </a:r>
            <a:r>
              <a:rPr sz="2000" spc="-30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sz="2000" spc="170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適用</a:t>
            </a:r>
            <a:r>
              <a:rPr sz="2000" spc="160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於</a:t>
            </a:r>
            <a:r>
              <a:rPr sz="2000" spc="150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週</a:t>
            </a:r>
            <a:r>
              <a:rPr sz="2000" spc="160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期性脈波</a:t>
            </a:r>
            <a:endParaRPr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384300" lvl="2" indent="-384175">
              <a:lnSpc>
                <a:spcPct val="100000"/>
              </a:lnSpc>
              <a:spcBef>
                <a:spcPts val="585"/>
              </a:spcBef>
              <a:buFont typeface="Arial"/>
              <a:buChar char="■"/>
              <a:tabLst>
                <a:tab pos="1383665" algn="l"/>
                <a:tab pos="1384300" algn="l"/>
              </a:tabLst>
            </a:pPr>
            <a:r>
              <a:rPr sz="1800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vin net1 net2 pulse(VL </a:t>
            </a:r>
            <a:r>
              <a:rPr sz="1800" spc="-5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VH </a:t>
            </a:r>
            <a:r>
              <a:rPr sz="1800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td tr </a:t>
            </a:r>
            <a:r>
              <a:rPr sz="1800" dirty="0" err="1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tf</a:t>
            </a:r>
            <a:r>
              <a:rPr sz="1800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sz="1800" spc="-10" dirty="0" err="1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</a:t>
            </a:r>
            <a:r>
              <a:rPr lang="en-US" spc="-10" dirty="0" err="1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ulse</a:t>
            </a:r>
            <a:r>
              <a:rPr sz="1800" spc="-10" dirty="0" err="1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Width</a:t>
            </a:r>
            <a:r>
              <a:rPr sz="1800" spc="-170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sz="1800" spc="-5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Period)</a:t>
            </a:r>
            <a:endParaRPr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841500" lvl="3" indent="-384810">
              <a:lnSpc>
                <a:spcPct val="100000"/>
              </a:lnSpc>
              <a:spcBef>
                <a:spcPts val="560"/>
              </a:spcBef>
              <a:buFont typeface="Arial"/>
              <a:buChar char="–"/>
              <a:tabLst>
                <a:tab pos="1841500" algn="l"/>
                <a:tab pos="1842135" algn="l"/>
              </a:tabLst>
            </a:pPr>
            <a:r>
              <a:rPr sz="1800" spc="-5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VL:</a:t>
            </a:r>
            <a:r>
              <a:rPr sz="1800" spc="-10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sz="1800" spc="140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低電壓準位</a:t>
            </a:r>
            <a:endParaRPr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841500" lvl="3" indent="-384810">
              <a:lnSpc>
                <a:spcPct val="100000"/>
              </a:lnSpc>
              <a:spcBef>
                <a:spcPts val="570"/>
              </a:spcBef>
              <a:buFont typeface="Arial"/>
              <a:buChar char="–"/>
              <a:tabLst>
                <a:tab pos="1841500" algn="l"/>
                <a:tab pos="1842135" algn="l"/>
              </a:tabLst>
            </a:pPr>
            <a:r>
              <a:rPr sz="1800" spc="-5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VH:</a:t>
            </a:r>
            <a:r>
              <a:rPr sz="1800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sz="1800" spc="140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高電壓準位</a:t>
            </a:r>
            <a:endParaRPr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841500" lvl="3" indent="-38481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1841500" algn="l"/>
                <a:tab pos="1842135" algn="l"/>
              </a:tabLst>
            </a:pPr>
            <a:r>
              <a:rPr sz="1800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td:</a:t>
            </a:r>
            <a:r>
              <a:rPr sz="1800" spc="-5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sz="1800" spc="140" dirty="0" err="1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延遲時間</a:t>
            </a:r>
            <a:r>
              <a:rPr lang="zh-TW" altLang="en-US" sz="1800" spc="140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sz="1800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sz="1800" spc="140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從</a:t>
            </a:r>
            <a:r>
              <a:rPr lang="zh-TW" altLang="en-US" sz="1800" spc="140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sz="1800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td</a:t>
            </a:r>
            <a:r>
              <a:rPr lang="zh-TW" altLang="en-US" sz="1800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sz="1800" spc="140" dirty="0" err="1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時間後才開始有脈波</a:t>
            </a:r>
            <a:r>
              <a:rPr sz="1800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841500" lvl="3" indent="-384810">
              <a:lnSpc>
                <a:spcPct val="100000"/>
              </a:lnSpc>
              <a:spcBef>
                <a:spcPts val="565"/>
              </a:spcBef>
              <a:buFont typeface="Arial"/>
              <a:buChar char="–"/>
              <a:tabLst>
                <a:tab pos="1841500" algn="l"/>
                <a:tab pos="1842135" algn="l"/>
              </a:tabLst>
            </a:pPr>
            <a:r>
              <a:rPr sz="1800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tr:</a:t>
            </a:r>
            <a:r>
              <a:rPr sz="1800" spc="-85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sz="1800" spc="140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上升時間</a:t>
            </a:r>
            <a:endParaRPr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841500" lvl="3" indent="-38481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1841500" algn="l"/>
                <a:tab pos="1842135" algn="l"/>
              </a:tabLst>
            </a:pPr>
            <a:r>
              <a:rPr sz="1800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tf:</a:t>
            </a:r>
            <a:r>
              <a:rPr sz="1800" spc="-85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sz="1800" spc="140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下降時間</a:t>
            </a:r>
            <a:endParaRPr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841500" lvl="3" indent="-384810">
              <a:lnSpc>
                <a:spcPct val="100000"/>
              </a:lnSpc>
              <a:spcBef>
                <a:spcPts val="565"/>
              </a:spcBef>
              <a:buFont typeface="Arial"/>
              <a:buChar char="–"/>
              <a:tabLst>
                <a:tab pos="1841500" algn="l"/>
                <a:tab pos="1842135" algn="l"/>
              </a:tabLst>
            </a:pPr>
            <a:r>
              <a:rPr sz="1800" spc="-10" dirty="0" err="1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</a:t>
            </a:r>
            <a:r>
              <a:rPr lang="en-US" sz="1800" spc="-10" dirty="0" err="1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ulse</a:t>
            </a:r>
            <a:r>
              <a:rPr sz="1800" spc="-10" dirty="0" err="1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Width</a:t>
            </a:r>
            <a:r>
              <a:rPr sz="1800" spc="-10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sz="1800" spc="-5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sz="1800" spc="140" dirty="0" err="1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脈波寬度</a:t>
            </a:r>
            <a:endParaRPr lang="en-US" sz="1800" spc="140" dirty="0">
              <a:solidFill>
                <a:srgbClr val="181B0D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841500" lvl="3" indent="-384810">
              <a:lnSpc>
                <a:spcPct val="100000"/>
              </a:lnSpc>
              <a:spcBef>
                <a:spcPts val="565"/>
              </a:spcBef>
              <a:buFont typeface="Arial"/>
              <a:buChar char="–"/>
              <a:tabLst>
                <a:tab pos="1841500" algn="l"/>
                <a:tab pos="1842135" algn="l"/>
              </a:tabLst>
            </a:pPr>
            <a:r>
              <a:rPr lang="en-US" spc="140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Period:</a:t>
            </a:r>
            <a:r>
              <a:rPr lang="zh-TW" altLang="en-US" spc="140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脈波週期</a:t>
            </a:r>
            <a:endParaRPr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54CC90E-43F8-CD45-927E-9B3C47A762AF}"/>
              </a:ext>
            </a:extLst>
          </p:cNvPr>
          <p:cNvSpPr txBox="1"/>
          <p:nvPr/>
        </p:nvSpPr>
        <p:spPr>
          <a:xfrm>
            <a:off x="6069335" y="3735432"/>
            <a:ext cx="52884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請依照 </a:t>
            </a:r>
            <a:r>
              <a:rPr lang="en-US" altLang="zh-TW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HW </a:t>
            </a:r>
            <a:r>
              <a:rPr lang="zh-TW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規定來產生對的週期脈波</a:t>
            </a:r>
            <a:endParaRPr lang="en-US" altLang="zh-TW" sz="24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50918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8"/>
          <p:cNvSpPr txBox="1"/>
          <p:nvPr/>
        </p:nvSpPr>
        <p:spPr>
          <a:xfrm>
            <a:off x="273695" y="242796"/>
            <a:ext cx="400937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TW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HSPICE</a:t>
            </a:r>
            <a:r>
              <a:rPr lang="zh-TW" altLang="en-US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TW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Introduction</a:t>
            </a:r>
            <a:endParaRPr lang="zh-CN" altLang="en-US" sz="3200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09267BA4-6E88-E923-6A8C-7973F74473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1546" y="2680221"/>
            <a:ext cx="8535657" cy="4515083"/>
          </a:xfrm>
          <a:prstGeom prst="rect">
            <a:avLst/>
          </a:prstGeom>
        </p:spPr>
      </p:pic>
      <p:sp>
        <p:nvSpPr>
          <p:cNvPr id="2" name="TextBox 8">
            <a:extLst>
              <a:ext uri="{FF2B5EF4-FFF2-40B4-BE49-F238E27FC236}">
                <a16:creationId xmlns:a16="http://schemas.microsoft.com/office/drawing/2014/main" id="{5D88A9EF-7EFD-9385-D3E7-8F919EAA209B}"/>
              </a:ext>
            </a:extLst>
          </p:cNvPr>
          <p:cNvSpPr txBox="1"/>
          <p:nvPr/>
        </p:nvSpPr>
        <p:spPr>
          <a:xfrm>
            <a:off x="3945099" y="256992"/>
            <a:ext cx="4968552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TW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HSPICE</a:t>
            </a:r>
            <a:r>
              <a:rPr lang="zh-TW" altLang="en-US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語法 </a:t>
            </a:r>
            <a:r>
              <a:rPr lang="en-US" altLang="zh-TW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(MEAS)</a:t>
            </a:r>
            <a:endParaRPr lang="zh-CN" altLang="en-US" sz="3200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26606FD-3CBC-5479-8D38-DBF17E152933}"/>
              </a:ext>
            </a:extLst>
          </p:cNvPr>
          <p:cNvSpPr>
            <a:spLocks noGrp="1"/>
          </p:cNvSpPr>
          <p:nvPr/>
        </p:nvSpPr>
        <p:spPr>
          <a:xfrm>
            <a:off x="92671" y="1096045"/>
            <a:ext cx="12677761" cy="1656184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zh-TW" sz="2000" dirty="0">
                <a:ea typeface="標楷體" panose="03000509000000000000" pitchFamily="65" charset="-120"/>
              </a:rPr>
              <a:t>.MEAS TRAN </a:t>
            </a:r>
            <a:r>
              <a:rPr lang="en-US" altLang="zh-TW" sz="2000" dirty="0" err="1">
                <a:solidFill>
                  <a:srgbClr val="FF0000"/>
                </a:solidFill>
                <a:ea typeface="標楷體" panose="03000509000000000000" pitchFamily="65" charset="-120"/>
              </a:rPr>
              <a:t>TpHL</a:t>
            </a:r>
            <a:r>
              <a:rPr lang="en-US" altLang="zh-TW" sz="2000" dirty="0">
                <a:ea typeface="標楷體" panose="03000509000000000000" pitchFamily="65" charset="-120"/>
              </a:rPr>
              <a:t> trig v(in) </a:t>
            </a:r>
            <a:r>
              <a:rPr lang="en-US" altLang="zh-TW" sz="2000" dirty="0" err="1">
                <a:ea typeface="標楷體" panose="03000509000000000000" pitchFamily="65" charset="-120"/>
              </a:rPr>
              <a:t>val</a:t>
            </a:r>
            <a:r>
              <a:rPr lang="en-US" altLang="zh-TW" sz="2000" dirty="0">
                <a:ea typeface="標楷體" panose="03000509000000000000" pitchFamily="65" charset="-120"/>
              </a:rPr>
              <a:t> = 0.9 rise = 2 </a:t>
            </a:r>
            <a:r>
              <a:rPr lang="en-US" altLang="zh-TW" sz="2000" dirty="0" err="1">
                <a:ea typeface="標楷體" panose="03000509000000000000" pitchFamily="65" charset="-120"/>
              </a:rPr>
              <a:t>targ</a:t>
            </a:r>
            <a:r>
              <a:rPr lang="en-US" altLang="zh-TW" sz="2000" dirty="0">
                <a:ea typeface="標楷體" panose="03000509000000000000" pitchFamily="65" charset="-120"/>
              </a:rPr>
              <a:t> v(out) </a:t>
            </a:r>
            <a:r>
              <a:rPr lang="en-US" altLang="zh-TW" sz="2000" dirty="0" err="1">
                <a:ea typeface="標楷體" panose="03000509000000000000" pitchFamily="65" charset="-120"/>
              </a:rPr>
              <a:t>val</a:t>
            </a:r>
            <a:r>
              <a:rPr lang="en-US" altLang="zh-TW" sz="2000" dirty="0">
                <a:ea typeface="標楷體" panose="03000509000000000000" pitchFamily="65" charset="-120"/>
              </a:rPr>
              <a:t> = 0.9 fall = 2</a:t>
            </a:r>
          </a:p>
          <a:p>
            <a:pPr algn="just"/>
            <a:r>
              <a:rPr lang="en-US" altLang="zh-TW" sz="2000" dirty="0">
                <a:ea typeface="標楷體" panose="03000509000000000000" pitchFamily="65" charset="-120"/>
              </a:rPr>
              <a:t>.MEAS TRAN </a:t>
            </a:r>
            <a:r>
              <a:rPr lang="en-US" altLang="zh-TW" sz="2000" dirty="0" err="1">
                <a:solidFill>
                  <a:srgbClr val="FF0000"/>
                </a:solidFill>
                <a:ea typeface="標楷體" panose="03000509000000000000" pitchFamily="65" charset="-120"/>
              </a:rPr>
              <a:t>TpLH</a:t>
            </a:r>
            <a:r>
              <a:rPr lang="en-US" altLang="zh-TW" sz="2000" dirty="0">
                <a:ea typeface="標楷體" panose="03000509000000000000" pitchFamily="65" charset="-120"/>
              </a:rPr>
              <a:t> trig v(in) </a:t>
            </a:r>
            <a:r>
              <a:rPr lang="en-US" altLang="zh-TW" sz="2000" dirty="0" err="1">
                <a:ea typeface="標楷體" panose="03000509000000000000" pitchFamily="65" charset="-120"/>
              </a:rPr>
              <a:t>val</a:t>
            </a:r>
            <a:r>
              <a:rPr lang="en-US" altLang="zh-TW" sz="2000" dirty="0">
                <a:ea typeface="標楷體" panose="03000509000000000000" pitchFamily="65" charset="-120"/>
              </a:rPr>
              <a:t> = 0.9 fall = 2 </a:t>
            </a:r>
            <a:r>
              <a:rPr lang="en-US" altLang="zh-TW" sz="2000" dirty="0" err="1">
                <a:ea typeface="標楷體" panose="03000509000000000000" pitchFamily="65" charset="-120"/>
              </a:rPr>
              <a:t>targ</a:t>
            </a:r>
            <a:r>
              <a:rPr lang="en-US" altLang="zh-TW" sz="2000" dirty="0">
                <a:ea typeface="標楷體" panose="03000509000000000000" pitchFamily="65" charset="-120"/>
              </a:rPr>
              <a:t> v(out) </a:t>
            </a:r>
            <a:r>
              <a:rPr lang="en-US" altLang="zh-TW" sz="2000" dirty="0" err="1">
                <a:ea typeface="標楷體" panose="03000509000000000000" pitchFamily="65" charset="-120"/>
              </a:rPr>
              <a:t>val</a:t>
            </a:r>
            <a:r>
              <a:rPr lang="en-US" altLang="zh-TW" sz="2000" dirty="0">
                <a:ea typeface="標楷體" panose="03000509000000000000" pitchFamily="65" charset="-120"/>
              </a:rPr>
              <a:t> = 0.9 rise = 2</a:t>
            </a:r>
          </a:p>
          <a:p>
            <a:pPr algn="just"/>
            <a:r>
              <a:rPr lang="en-US" altLang="zh-TW" sz="2000" dirty="0">
                <a:ea typeface="標楷體" panose="03000509000000000000" pitchFamily="65" charset="-120"/>
              </a:rPr>
              <a:t>.MEAS</a:t>
            </a:r>
            <a:r>
              <a:rPr lang="zh-TW" altLang="en-US" sz="2000" dirty="0">
                <a:ea typeface="標楷體" panose="03000509000000000000" pitchFamily="65" charset="-120"/>
              </a:rPr>
              <a:t> </a:t>
            </a:r>
            <a:r>
              <a:rPr lang="en-US" altLang="zh-TW" sz="2000" dirty="0">
                <a:ea typeface="標楷體" panose="03000509000000000000" pitchFamily="65" charset="-120"/>
              </a:rPr>
              <a:t>TRAN</a:t>
            </a:r>
            <a:r>
              <a:rPr lang="zh-TW" altLang="en-US" sz="2000" dirty="0">
                <a:ea typeface="標楷體" panose="03000509000000000000" pitchFamily="65" charset="-120"/>
              </a:rPr>
              <a:t> </a:t>
            </a:r>
            <a:r>
              <a:rPr lang="en-US" altLang="zh-TW" sz="2000" dirty="0">
                <a:solidFill>
                  <a:srgbClr val="0070C0"/>
                </a:solidFill>
                <a:ea typeface="標楷體" panose="03000509000000000000" pitchFamily="65" charset="-120"/>
              </a:rPr>
              <a:t>Tr</a:t>
            </a:r>
            <a:r>
              <a:rPr lang="en-US" altLang="zh-TW" sz="2000" dirty="0">
                <a:ea typeface="標楷體" panose="03000509000000000000" pitchFamily="65" charset="-120"/>
              </a:rPr>
              <a:t> trig v(out) </a:t>
            </a:r>
            <a:r>
              <a:rPr lang="en-US" altLang="zh-TW" sz="2000" dirty="0" err="1">
                <a:ea typeface="標楷體" panose="03000509000000000000" pitchFamily="65" charset="-120"/>
              </a:rPr>
              <a:t>val</a:t>
            </a:r>
            <a:r>
              <a:rPr lang="en-US" altLang="zh-TW" sz="2000" dirty="0">
                <a:ea typeface="標楷體" panose="03000509000000000000" pitchFamily="65" charset="-120"/>
              </a:rPr>
              <a:t> = 0.1*1.8 rise = 3 </a:t>
            </a:r>
            <a:r>
              <a:rPr lang="en-US" altLang="zh-TW" sz="2000" dirty="0" err="1">
                <a:ea typeface="標楷體" panose="03000509000000000000" pitchFamily="65" charset="-120"/>
              </a:rPr>
              <a:t>targ</a:t>
            </a:r>
            <a:r>
              <a:rPr lang="en-US" altLang="zh-TW" sz="2000" dirty="0">
                <a:ea typeface="標楷體" panose="03000509000000000000" pitchFamily="65" charset="-120"/>
              </a:rPr>
              <a:t> v(out) </a:t>
            </a:r>
            <a:r>
              <a:rPr lang="en-US" altLang="zh-TW" sz="2000" dirty="0" err="1">
                <a:ea typeface="標楷體" panose="03000509000000000000" pitchFamily="65" charset="-120"/>
              </a:rPr>
              <a:t>val</a:t>
            </a:r>
            <a:r>
              <a:rPr lang="en-US" altLang="zh-TW" sz="2000" dirty="0">
                <a:ea typeface="標楷體" panose="03000509000000000000" pitchFamily="65" charset="-120"/>
              </a:rPr>
              <a:t> = 0.9*1.8 rise = 3</a:t>
            </a:r>
          </a:p>
          <a:p>
            <a:pPr algn="just"/>
            <a:r>
              <a:rPr lang="en-US" altLang="zh-TW" sz="2000" dirty="0">
                <a:ea typeface="標楷體" panose="03000509000000000000" pitchFamily="65" charset="-120"/>
              </a:rPr>
              <a:t>.MEAS</a:t>
            </a:r>
            <a:r>
              <a:rPr lang="zh-TW" altLang="en-US" sz="2000" dirty="0">
                <a:ea typeface="標楷體" panose="03000509000000000000" pitchFamily="65" charset="-120"/>
              </a:rPr>
              <a:t> </a:t>
            </a:r>
            <a:r>
              <a:rPr lang="en-US" altLang="zh-TW" sz="2000" dirty="0">
                <a:ea typeface="標楷體" panose="03000509000000000000" pitchFamily="65" charset="-120"/>
              </a:rPr>
              <a:t>TRAN</a:t>
            </a:r>
            <a:r>
              <a:rPr lang="zh-TW" altLang="en-US" sz="2000" dirty="0">
                <a:ea typeface="標楷體" panose="03000509000000000000" pitchFamily="65" charset="-120"/>
              </a:rPr>
              <a:t> </a:t>
            </a:r>
            <a:r>
              <a:rPr lang="en-US" altLang="zh-TW" sz="2000" dirty="0" err="1">
                <a:solidFill>
                  <a:srgbClr val="0070C0"/>
                </a:solidFill>
                <a:ea typeface="標楷體" panose="03000509000000000000" pitchFamily="65" charset="-120"/>
              </a:rPr>
              <a:t>Tf</a:t>
            </a:r>
            <a:r>
              <a:rPr lang="en-US" altLang="zh-TW" sz="2000" dirty="0">
                <a:solidFill>
                  <a:srgbClr val="0070C0"/>
                </a:solidFill>
                <a:ea typeface="標楷體" panose="03000509000000000000" pitchFamily="65" charset="-120"/>
              </a:rPr>
              <a:t> </a:t>
            </a:r>
            <a:r>
              <a:rPr lang="en-US" altLang="zh-TW" sz="2000" dirty="0">
                <a:ea typeface="標楷體" panose="03000509000000000000" pitchFamily="65" charset="-120"/>
              </a:rPr>
              <a:t>trig v(out) </a:t>
            </a:r>
            <a:r>
              <a:rPr lang="en-US" altLang="zh-TW" sz="2000" dirty="0" err="1">
                <a:ea typeface="標楷體" panose="03000509000000000000" pitchFamily="65" charset="-120"/>
              </a:rPr>
              <a:t>val</a:t>
            </a:r>
            <a:r>
              <a:rPr lang="en-US" altLang="zh-TW" sz="2000" dirty="0">
                <a:ea typeface="標楷體" panose="03000509000000000000" pitchFamily="65" charset="-120"/>
              </a:rPr>
              <a:t> = 0.9*1.8 fall = 3 </a:t>
            </a:r>
            <a:r>
              <a:rPr lang="en-US" altLang="zh-TW" sz="2000" dirty="0" err="1">
                <a:ea typeface="標楷體" panose="03000509000000000000" pitchFamily="65" charset="-120"/>
              </a:rPr>
              <a:t>targ</a:t>
            </a:r>
            <a:r>
              <a:rPr lang="en-US" altLang="zh-TW" sz="2000" dirty="0">
                <a:ea typeface="標楷體" panose="03000509000000000000" pitchFamily="65" charset="-120"/>
              </a:rPr>
              <a:t> v(out) </a:t>
            </a:r>
            <a:r>
              <a:rPr lang="en-US" altLang="zh-TW" sz="2000" dirty="0" err="1">
                <a:ea typeface="標楷體" panose="03000509000000000000" pitchFamily="65" charset="-120"/>
              </a:rPr>
              <a:t>val</a:t>
            </a:r>
            <a:r>
              <a:rPr lang="en-US" altLang="zh-TW" sz="2000" dirty="0">
                <a:ea typeface="標楷體" panose="03000509000000000000" pitchFamily="65" charset="-120"/>
              </a:rPr>
              <a:t> = 0.1*1.8 fall = 3</a:t>
            </a:r>
          </a:p>
          <a:p>
            <a:pPr algn="just"/>
            <a:endParaRPr lang="en-US" altLang="zh-TW" sz="2000" dirty="0">
              <a:ea typeface="標楷體" panose="03000509000000000000" pitchFamily="65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ED13663-0F5B-1167-CC70-DC60A15F8D7B}"/>
              </a:ext>
            </a:extLst>
          </p:cNvPr>
          <p:cNvSpPr txBox="1"/>
          <p:nvPr/>
        </p:nvSpPr>
        <p:spPr>
          <a:xfrm>
            <a:off x="9150530" y="1038442"/>
            <a:ext cx="30837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Propagation fall delay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6ADDC1D-1581-54E2-11D9-1D4F785F8873}"/>
              </a:ext>
            </a:extLst>
          </p:cNvPr>
          <p:cNvSpPr txBox="1"/>
          <p:nvPr/>
        </p:nvSpPr>
        <p:spPr>
          <a:xfrm>
            <a:off x="9158871" y="1442579"/>
            <a:ext cx="31350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Propagation rise delay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EC0E016-8824-537F-FE78-81DF265769B6}"/>
              </a:ext>
            </a:extLst>
          </p:cNvPr>
          <p:cNvSpPr txBox="1"/>
          <p:nvPr/>
        </p:nvSpPr>
        <p:spPr>
          <a:xfrm>
            <a:off x="9150530" y="1841104"/>
            <a:ext cx="37160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Rise output transition time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B89B091-78AC-D712-798B-9FEAA59D5D8D}"/>
              </a:ext>
            </a:extLst>
          </p:cNvPr>
          <p:cNvSpPr txBox="1"/>
          <p:nvPr/>
        </p:nvSpPr>
        <p:spPr>
          <a:xfrm>
            <a:off x="9150529" y="2249079"/>
            <a:ext cx="36631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Fall output transition time</a:t>
            </a:r>
          </a:p>
        </p:txBody>
      </p:sp>
    </p:spTree>
    <p:extLst>
      <p:ext uri="{BB962C8B-B14F-4D97-AF65-F5344CB8AC3E}">
        <p14:creationId xmlns:p14="http://schemas.microsoft.com/office/powerpoint/2010/main" val="3737284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39CC6B02-63B0-DAF5-D70C-24AEF3C6AF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5517"/>
            <a:ext cx="12858750" cy="5697192"/>
          </a:xfrm>
          <a:prstGeom prst="rect">
            <a:avLst/>
          </a:prstGeom>
        </p:spPr>
      </p:pic>
      <p:sp>
        <p:nvSpPr>
          <p:cNvPr id="41" name="TextBox 8"/>
          <p:cNvSpPr txBox="1"/>
          <p:nvPr/>
        </p:nvSpPr>
        <p:spPr>
          <a:xfrm>
            <a:off x="273695" y="242796"/>
            <a:ext cx="400937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TW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HSPICE</a:t>
            </a:r>
            <a:r>
              <a:rPr lang="zh-TW" altLang="en-US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TW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Introduction</a:t>
            </a:r>
            <a:endParaRPr lang="zh-CN" altLang="en-US" sz="3200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6574CD4-4F0D-99E0-CB40-C5DDD4B84E80}"/>
              </a:ext>
            </a:extLst>
          </p:cNvPr>
          <p:cNvSpPr/>
          <p:nvPr/>
        </p:nvSpPr>
        <p:spPr>
          <a:xfrm>
            <a:off x="6789415" y="1816125"/>
            <a:ext cx="952575" cy="4608512"/>
          </a:xfrm>
          <a:prstGeom prst="rect">
            <a:avLst/>
          </a:prstGeom>
          <a:noFill/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D5D3FF3-CDE8-DE15-FC2F-583C958C4F18}"/>
              </a:ext>
            </a:extLst>
          </p:cNvPr>
          <p:cNvSpPr/>
          <p:nvPr/>
        </p:nvSpPr>
        <p:spPr>
          <a:xfrm>
            <a:off x="8157567" y="1816125"/>
            <a:ext cx="902344" cy="4608512"/>
          </a:xfrm>
          <a:prstGeom prst="rect">
            <a:avLst/>
          </a:prstGeom>
          <a:noFill/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14FE452-EFCD-511E-D365-C386732451E4}"/>
              </a:ext>
            </a:extLst>
          </p:cNvPr>
          <p:cNvSpPr/>
          <p:nvPr/>
        </p:nvSpPr>
        <p:spPr>
          <a:xfrm>
            <a:off x="5476800" y="1816125"/>
            <a:ext cx="952575" cy="46085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C6315A5-6D9F-A091-CFE4-FB76AD5D927E}"/>
              </a:ext>
            </a:extLst>
          </p:cNvPr>
          <p:cNvSpPr/>
          <p:nvPr/>
        </p:nvSpPr>
        <p:spPr>
          <a:xfrm>
            <a:off x="4093023" y="1816125"/>
            <a:ext cx="952575" cy="46085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B9DF13B-605C-3FDC-1051-4FB8457420BE}"/>
              </a:ext>
            </a:extLst>
          </p:cNvPr>
          <p:cNvSpPr/>
          <p:nvPr/>
        </p:nvSpPr>
        <p:spPr>
          <a:xfrm>
            <a:off x="2756967" y="1816125"/>
            <a:ext cx="952575" cy="4608512"/>
          </a:xfrm>
          <a:prstGeom prst="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848B9DD-CBB1-736D-3AAE-ED9D7346D937}"/>
              </a:ext>
            </a:extLst>
          </p:cNvPr>
          <p:cNvSpPr/>
          <p:nvPr/>
        </p:nvSpPr>
        <p:spPr>
          <a:xfrm>
            <a:off x="1420911" y="1816125"/>
            <a:ext cx="952575" cy="4608512"/>
          </a:xfrm>
          <a:prstGeom prst="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D767690-F205-4B6E-9203-D142E72F27F5}"/>
              </a:ext>
            </a:extLst>
          </p:cNvPr>
          <p:cNvSpPr/>
          <p:nvPr/>
        </p:nvSpPr>
        <p:spPr>
          <a:xfrm>
            <a:off x="9381703" y="1816125"/>
            <a:ext cx="952575" cy="4608512"/>
          </a:xfrm>
          <a:prstGeom prst="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EA3B041-BFB9-63FE-22A3-05E15DBE66D3}"/>
              </a:ext>
            </a:extLst>
          </p:cNvPr>
          <p:cNvSpPr/>
          <p:nvPr/>
        </p:nvSpPr>
        <p:spPr>
          <a:xfrm>
            <a:off x="10622310" y="1816125"/>
            <a:ext cx="952575" cy="4608512"/>
          </a:xfrm>
          <a:prstGeom prst="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1D37F0C9-D6B6-FD45-9853-48B984719EBA}"/>
              </a:ext>
            </a:extLst>
          </p:cNvPr>
          <p:cNvSpPr txBox="1"/>
          <p:nvPr/>
        </p:nvSpPr>
        <p:spPr>
          <a:xfrm>
            <a:off x="1325485" y="1425600"/>
            <a:ext cx="11801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in_rise_1</a:t>
            </a:r>
            <a:endParaRPr lang="en-US" altLang="zh-TW" sz="2000" b="1" baseline="30000" dirty="0">
              <a:solidFill>
                <a:schemeClr val="bg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D9F5441D-18C5-7FC0-F991-A3B2A643D7A7}"/>
              </a:ext>
            </a:extLst>
          </p:cNvPr>
          <p:cNvSpPr txBox="1"/>
          <p:nvPr/>
        </p:nvSpPr>
        <p:spPr>
          <a:xfrm>
            <a:off x="3997597" y="1425600"/>
            <a:ext cx="11801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B05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in_rise_2</a:t>
            </a:r>
            <a:endParaRPr lang="en-US" altLang="zh-TW" sz="2000" b="1" baseline="30000" dirty="0">
              <a:solidFill>
                <a:srgbClr val="00B05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2C03DD37-73F8-4C56-3CC2-A941B118C723}"/>
              </a:ext>
            </a:extLst>
          </p:cNvPr>
          <p:cNvSpPr txBox="1"/>
          <p:nvPr/>
        </p:nvSpPr>
        <p:spPr>
          <a:xfrm>
            <a:off x="6759027" y="1425600"/>
            <a:ext cx="11801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in_rise_3</a:t>
            </a:r>
            <a:endParaRPr lang="en-US" altLang="zh-TW" sz="2000" b="1" baseline="30000" dirty="0">
              <a:solidFill>
                <a:schemeClr val="bg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711A7577-0406-85BB-2AA0-F19707A85533}"/>
              </a:ext>
            </a:extLst>
          </p:cNvPr>
          <p:cNvSpPr txBox="1"/>
          <p:nvPr/>
        </p:nvSpPr>
        <p:spPr>
          <a:xfrm>
            <a:off x="9286277" y="1425600"/>
            <a:ext cx="11801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in_rise_4</a:t>
            </a:r>
            <a:endParaRPr lang="en-US" altLang="zh-TW" sz="2000" b="1" baseline="30000" dirty="0">
              <a:solidFill>
                <a:schemeClr val="bg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E3775DE7-C8D1-743C-CEE8-DF2896A04E29}"/>
              </a:ext>
            </a:extLst>
          </p:cNvPr>
          <p:cNvSpPr txBox="1"/>
          <p:nvPr/>
        </p:nvSpPr>
        <p:spPr>
          <a:xfrm>
            <a:off x="2688339" y="1425600"/>
            <a:ext cx="11368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in_fall_1</a:t>
            </a:r>
            <a:endParaRPr lang="en-US" altLang="zh-TW" sz="2000" b="1" baseline="30000" dirty="0">
              <a:solidFill>
                <a:schemeClr val="bg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BF40243E-4F6A-8D40-4919-54CB2B5C4443}"/>
              </a:ext>
            </a:extLst>
          </p:cNvPr>
          <p:cNvSpPr txBox="1"/>
          <p:nvPr/>
        </p:nvSpPr>
        <p:spPr>
          <a:xfrm>
            <a:off x="5382677" y="1425600"/>
            <a:ext cx="11368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FFC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in_fall_2</a:t>
            </a:r>
            <a:endParaRPr lang="en-US" altLang="zh-TW" sz="2000" b="1" baseline="30000" dirty="0">
              <a:solidFill>
                <a:srgbClr val="FFC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6736508E-1FDF-EC51-C2BC-8B5C1D9795D1}"/>
              </a:ext>
            </a:extLst>
          </p:cNvPr>
          <p:cNvSpPr txBox="1"/>
          <p:nvPr/>
        </p:nvSpPr>
        <p:spPr>
          <a:xfrm>
            <a:off x="8059363" y="1425600"/>
            <a:ext cx="11368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in_fall_3</a:t>
            </a:r>
            <a:endParaRPr lang="en-US" altLang="zh-TW" sz="2000" b="1" baseline="30000" dirty="0">
              <a:solidFill>
                <a:schemeClr val="bg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8FEB2C45-87A7-FDF8-3012-F09E58D85F54}"/>
              </a:ext>
            </a:extLst>
          </p:cNvPr>
          <p:cNvSpPr txBox="1"/>
          <p:nvPr/>
        </p:nvSpPr>
        <p:spPr>
          <a:xfrm>
            <a:off x="10549109" y="1425600"/>
            <a:ext cx="11368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in_fall_4</a:t>
            </a:r>
            <a:endParaRPr lang="en-US" altLang="zh-TW" sz="2000" b="1" baseline="30000" dirty="0">
              <a:solidFill>
                <a:schemeClr val="bg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345FC248-ED9E-CF47-BCBF-AFF4FD8EEAE3}"/>
              </a:ext>
            </a:extLst>
          </p:cNvPr>
          <p:cNvSpPr txBox="1"/>
          <p:nvPr/>
        </p:nvSpPr>
        <p:spPr>
          <a:xfrm>
            <a:off x="1272098" y="6424637"/>
            <a:ext cx="12795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out_fall_1</a:t>
            </a:r>
            <a:endParaRPr lang="en-US" altLang="zh-TW" sz="2000" b="1" baseline="30000" dirty="0">
              <a:solidFill>
                <a:schemeClr val="bg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3643B200-ADEF-02BA-828C-6EE2AC4BB347}"/>
              </a:ext>
            </a:extLst>
          </p:cNvPr>
          <p:cNvSpPr txBox="1"/>
          <p:nvPr/>
        </p:nvSpPr>
        <p:spPr>
          <a:xfrm>
            <a:off x="3955977" y="6424637"/>
            <a:ext cx="12795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7030A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out_fall_2</a:t>
            </a:r>
            <a:endParaRPr lang="en-US" altLang="zh-TW" sz="2000" b="1" baseline="30000" dirty="0">
              <a:solidFill>
                <a:srgbClr val="7030A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653FDA3D-2290-9714-369E-71515791041A}"/>
              </a:ext>
            </a:extLst>
          </p:cNvPr>
          <p:cNvSpPr txBox="1"/>
          <p:nvPr/>
        </p:nvSpPr>
        <p:spPr>
          <a:xfrm>
            <a:off x="6717407" y="6424637"/>
            <a:ext cx="12795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out_fall_3</a:t>
            </a:r>
            <a:endParaRPr lang="en-US" altLang="zh-TW" sz="2000" b="1" baseline="30000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171C18C6-09A9-3949-95AC-FA75DC870FBE}"/>
              </a:ext>
            </a:extLst>
          </p:cNvPr>
          <p:cNvSpPr txBox="1"/>
          <p:nvPr/>
        </p:nvSpPr>
        <p:spPr>
          <a:xfrm>
            <a:off x="9244657" y="6424637"/>
            <a:ext cx="12795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out_fall_4</a:t>
            </a:r>
            <a:endParaRPr lang="en-US" altLang="zh-TW" sz="2000" b="1" baseline="30000" dirty="0">
              <a:solidFill>
                <a:schemeClr val="bg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49BC81FF-6239-55A5-7B10-3C4F1FCB3DF2}"/>
              </a:ext>
            </a:extLst>
          </p:cNvPr>
          <p:cNvSpPr txBox="1"/>
          <p:nvPr/>
        </p:nvSpPr>
        <p:spPr>
          <a:xfrm>
            <a:off x="2608443" y="6424637"/>
            <a:ext cx="13227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out_rise_1</a:t>
            </a:r>
            <a:endParaRPr lang="en-US" altLang="zh-TW" sz="2000" b="1" baseline="30000" dirty="0">
              <a:solidFill>
                <a:schemeClr val="bg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9E28D597-26CA-359F-66F7-B0D39ADFB332}"/>
              </a:ext>
            </a:extLst>
          </p:cNvPr>
          <p:cNvSpPr txBox="1"/>
          <p:nvPr/>
        </p:nvSpPr>
        <p:spPr>
          <a:xfrm>
            <a:off x="5343419" y="6424637"/>
            <a:ext cx="13227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out_rise_2</a:t>
            </a:r>
            <a:endParaRPr lang="en-US" altLang="zh-TW" sz="2000" b="1" baseline="30000" dirty="0">
              <a:solidFill>
                <a:srgbClr val="00206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6A7CF921-BAF6-B21C-5FE4-F6DE832DFEF8}"/>
              </a:ext>
            </a:extLst>
          </p:cNvPr>
          <p:cNvSpPr txBox="1"/>
          <p:nvPr/>
        </p:nvSpPr>
        <p:spPr>
          <a:xfrm>
            <a:off x="8017743" y="6424637"/>
            <a:ext cx="13227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out_rise_3</a:t>
            </a:r>
            <a:endParaRPr lang="en-US" altLang="zh-TW" sz="2000" b="1" baseline="30000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8EC2392C-75F1-158A-3A54-5072FD757C10}"/>
              </a:ext>
            </a:extLst>
          </p:cNvPr>
          <p:cNvSpPr txBox="1"/>
          <p:nvPr/>
        </p:nvSpPr>
        <p:spPr>
          <a:xfrm>
            <a:off x="10507489" y="6424637"/>
            <a:ext cx="13227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out_rise_4</a:t>
            </a:r>
            <a:endParaRPr lang="en-US" altLang="zh-TW" sz="2000" b="1" baseline="30000" dirty="0">
              <a:solidFill>
                <a:schemeClr val="bg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6" name="內容版面配置區 3">
            <a:extLst>
              <a:ext uri="{FF2B5EF4-FFF2-40B4-BE49-F238E27FC236}">
                <a16:creationId xmlns:a16="http://schemas.microsoft.com/office/drawing/2014/main" id="{F2FF07CA-40F6-C342-5E46-B58EBB4CF085}"/>
              </a:ext>
            </a:extLst>
          </p:cNvPr>
          <p:cNvSpPr>
            <a:spLocks noGrp="1"/>
          </p:cNvSpPr>
          <p:nvPr/>
        </p:nvSpPr>
        <p:spPr>
          <a:xfrm>
            <a:off x="4197127" y="-56083"/>
            <a:ext cx="8568208" cy="1353422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zh-TW" sz="1800" dirty="0">
                <a:ea typeface="標楷體" panose="03000509000000000000" pitchFamily="65" charset="-120"/>
              </a:rPr>
              <a:t>.MEAS TRAN </a:t>
            </a:r>
            <a:r>
              <a:rPr lang="en-US" altLang="zh-TW" sz="1800" dirty="0" err="1">
                <a:solidFill>
                  <a:srgbClr val="FF0000"/>
                </a:solidFill>
                <a:ea typeface="標楷體" panose="03000509000000000000" pitchFamily="65" charset="-120"/>
              </a:rPr>
              <a:t>TpHL</a:t>
            </a:r>
            <a:r>
              <a:rPr lang="en-US" altLang="zh-TW" sz="1800" dirty="0">
                <a:ea typeface="標楷體" panose="03000509000000000000" pitchFamily="65" charset="-120"/>
              </a:rPr>
              <a:t> </a:t>
            </a:r>
            <a:r>
              <a:rPr lang="en-US" altLang="zh-TW" sz="1800" dirty="0">
                <a:solidFill>
                  <a:srgbClr val="00B050"/>
                </a:solidFill>
                <a:ea typeface="標楷體" panose="03000509000000000000" pitchFamily="65" charset="-120"/>
              </a:rPr>
              <a:t>trig v(in) </a:t>
            </a:r>
            <a:r>
              <a:rPr lang="en-US" altLang="zh-TW" sz="1800" dirty="0" err="1">
                <a:solidFill>
                  <a:srgbClr val="00B050"/>
                </a:solidFill>
                <a:ea typeface="標楷體" panose="03000509000000000000" pitchFamily="65" charset="-120"/>
              </a:rPr>
              <a:t>val</a:t>
            </a:r>
            <a:r>
              <a:rPr lang="en-US" altLang="zh-TW" sz="1800" dirty="0">
                <a:solidFill>
                  <a:srgbClr val="00B050"/>
                </a:solidFill>
                <a:ea typeface="標楷體" panose="03000509000000000000" pitchFamily="65" charset="-120"/>
              </a:rPr>
              <a:t> = 0.9 rise = 2 </a:t>
            </a:r>
            <a:r>
              <a:rPr lang="en-US" altLang="zh-TW" sz="1800" dirty="0" err="1">
                <a:solidFill>
                  <a:srgbClr val="7030A0"/>
                </a:solidFill>
                <a:ea typeface="標楷體" panose="03000509000000000000" pitchFamily="65" charset="-120"/>
              </a:rPr>
              <a:t>targ</a:t>
            </a:r>
            <a:r>
              <a:rPr lang="en-US" altLang="zh-TW" sz="1800" dirty="0">
                <a:solidFill>
                  <a:srgbClr val="7030A0"/>
                </a:solidFill>
                <a:ea typeface="標楷體" panose="03000509000000000000" pitchFamily="65" charset="-120"/>
              </a:rPr>
              <a:t> v(out) </a:t>
            </a:r>
            <a:r>
              <a:rPr lang="en-US" altLang="zh-TW" sz="1800" dirty="0" err="1">
                <a:solidFill>
                  <a:srgbClr val="7030A0"/>
                </a:solidFill>
                <a:ea typeface="標楷體" panose="03000509000000000000" pitchFamily="65" charset="-120"/>
              </a:rPr>
              <a:t>val</a:t>
            </a:r>
            <a:r>
              <a:rPr lang="en-US" altLang="zh-TW" sz="1800" dirty="0">
                <a:solidFill>
                  <a:srgbClr val="7030A0"/>
                </a:solidFill>
                <a:ea typeface="標楷體" panose="03000509000000000000" pitchFamily="65" charset="-120"/>
              </a:rPr>
              <a:t> = 0.9 fall = 2</a:t>
            </a:r>
          </a:p>
          <a:p>
            <a:pPr algn="just"/>
            <a:r>
              <a:rPr lang="en-US" altLang="zh-TW" sz="1800" dirty="0">
                <a:ea typeface="標楷體" panose="03000509000000000000" pitchFamily="65" charset="-120"/>
              </a:rPr>
              <a:t>.MEAS TRAN </a:t>
            </a:r>
            <a:r>
              <a:rPr lang="en-US" altLang="zh-TW" sz="1800" dirty="0" err="1">
                <a:solidFill>
                  <a:srgbClr val="FF0000"/>
                </a:solidFill>
                <a:ea typeface="標楷體" panose="03000509000000000000" pitchFamily="65" charset="-120"/>
              </a:rPr>
              <a:t>TpLH</a:t>
            </a:r>
            <a:r>
              <a:rPr lang="en-US" altLang="zh-TW" sz="1800" dirty="0">
                <a:ea typeface="標楷體" panose="03000509000000000000" pitchFamily="65" charset="-120"/>
              </a:rPr>
              <a:t> </a:t>
            </a:r>
            <a:r>
              <a:rPr lang="en-US" altLang="zh-TW" sz="1800" dirty="0">
                <a:solidFill>
                  <a:srgbClr val="FFC000"/>
                </a:solidFill>
                <a:ea typeface="標楷體" panose="03000509000000000000" pitchFamily="65" charset="-120"/>
              </a:rPr>
              <a:t>trig v(in) </a:t>
            </a:r>
            <a:r>
              <a:rPr lang="en-US" altLang="zh-TW" sz="1800" dirty="0" err="1">
                <a:solidFill>
                  <a:srgbClr val="FFC000"/>
                </a:solidFill>
                <a:ea typeface="標楷體" panose="03000509000000000000" pitchFamily="65" charset="-120"/>
              </a:rPr>
              <a:t>val</a:t>
            </a:r>
            <a:r>
              <a:rPr lang="en-US" altLang="zh-TW" sz="1800" dirty="0">
                <a:solidFill>
                  <a:srgbClr val="FFC000"/>
                </a:solidFill>
                <a:ea typeface="標楷體" panose="03000509000000000000" pitchFamily="65" charset="-120"/>
              </a:rPr>
              <a:t> = 0.9 fall = 2 </a:t>
            </a:r>
            <a:r>
              <a:rPr lang="en-US" altLang="zh-TW" sz="1800" dirty="0" err="1">
                <a:solidFill>
                  <a:srgbClr val="002060"/>
                </a:solidFill>
                <a:ea typeface="標楷體" panose="03000509000000000000" pitchFamily="65" charset="-120"/>
              </a:rPr>
              <a:t>targ</a:t>
            </a:r>
            <a:r>
              <a:rPr lang="en-US" altLang="zh-TW" sz="1800" dirty="0">
                <a:solidFill>
                  <a:srgbClr val="002060"/>
                </a:solidFill>
                <a:ea typeface="標楷體" panose="03000509000000000000" pitchFamily="65" charset="-120"/>
              </a:rPr>
              <a:t> v(out) </a:t>
            </a:r>
            <a:r>
              <a:rPr lang="en-US" altLang="zh-TW" sz="1800" dirty="0" err="1">
                <a:solidFill>
                  <a:srgbClr val="002060"/>
                </a:solidFill>
                <a:ea typeface="標楷體" panose="03000509000000000000" pitchFamily="65" charset="-120"/>
              </a:rPr>
              <a:t>val</a:t>
            </a:r>
            <a:r>
              <a:rPr lang="en-US" altLang="zh-TW" sz="1800" dirty="0">
                <a:solidFill>
                  <a:srgbClr val="002060"/>
                </a:solidFill>
                <a:ea typeface="標楷體" panose="03000509000000000000" pitchFamily="65" charset="-120"/>
              </a:rPr>
              <a:t> = 0.9 rise = 2</a:t>
            </a:r>
          </a:p>
          <a:p>
            <a:pPr algn="just"/>
            <a:r>
              <a:rPr lang="en-US" altLang="zh-TW" sz="1800" dirty="0">
                <a:ea typeface="標楷體" panose="03000509000000000000" pitchFamily="65" charset="-120"/>
              </a:rPr>
              <a:t>.MEAS</a:t>
            </a:r>
            <a:r>
              <a:rPr lang="zh-TW" altLang="en-US" sz="1800" dirty="0">
                <a:ea typeface="標楷體" panose="03000509000000000000" pitchFamily="65" charset="-120"/>
              </a:rPr>
              <a:t> </a:t>
            </a:r>
            <a:r>
              <a:rPr lang="en-US" altLang="zh-TW" sz="1800" dirty="0">
                <a:ea typeface="標楷體" panose="03000509000000000000" pitchFamily="65" charset="-120"/>
              </a:rPr>
              <a:t>TRAN</a:t>
            </a:r>
            <a:r>
              <a:rPr lang="zh-TW" altLang="en-US" sz="1800" dirty="0">
                <a:ea typeface="標楷體" panose="03000509000000000000" pitchFamily="65" charset="-120"/>
              </a:rPr>
              <a:t> </a:t>
            </a:r>
            <a:r>
              <a:rPr lang="en-US" altLang="zh-TW" sz="1800" dirty="0">
                <a:solidFill>
                  <a:schemeClr val="accent3">
                    <a:lumMod val="60000"/>
                    <a:lumOff val="40000"/>
                  </a:schemeClr>
                </a:solidFill>
                <a:ea typeface="標楷體" panose="03000509000000000000" pitchFamily="65" charset="-120"/>
              </a:rPr>
              <a:t>Tr</a:t>
            </a:r>
            <a:r>
              <a:rPr lang="en-US" altLang="zh-TW" sz="1800" dirty="0">
                <a:ea typeface="標楷體" panose="03000509000000000000" pitchFamily="65" charset="-120"/>
              </a:rPr>
              <a:t> </a:t>
            </a:r>
            <a:r>
              <a:rPr lang="en-US" altLang="zh-TW" sz="1800" dirty="0">
                <a:solidFill>
                  <a:schemeClr val="accent3">
                    <a:lumMod val="60000"/>
                    <a:lumOff val="40000"/>
                  </a:schemeClr>
                </a:solidFill>
                <a:ea typeface="標楷體" panose="03000509000000000000" pitchFamily="65" charset="-120"/>
              </a:rPr>
              <a:t>trig v(out) </a:t>
            </a:r>
            <a:r>
              <a:rPr lang="en-US" altLang="zh-TW" sz="1800" dirty="0" err="1">
                <a:solidFill>
                  <a:schemeClr val="accent3">
                    <a:lumMod val="60000"/>
                    <a:lumOff val="40000"/>
                  </a:schemeClr>
                </a:solidFill>
                <a:ea typeface="標楷體" panose="03000509000000000000" pitchFamily="65" charset="-120"/>
              </a:rPr>
              <a:t>val</a:t>
            </a:r>
            <a:r>
              <a:rPr lang="en-US" altLang="zh-TW" sz="1800" dirty="0">
                <a:solidFill>
                  <a:schemeClr val="accent3">
                    <a:lumMod val="60000"/>
                    <a:lumOff val="40000"/>
                  </a:schemeClr>
                </a:solidFill>
                <a:ea typeface="標楷體" panose="03000509000000000000" pitchFamily="65" charset="-120"/>
              </a:rPr>
              <a:t> = 0.1*1.8 rise = 3 </a:t>
            </a:r>
            <a:r>
              <a:rPr lang="en-US" altLang="zh-TW" sz="1800" dirty="0" err="1">
                <a:solidFill>
                  <a:schemeClr val="accent3">
                    <a:lumMod val="60000"/>
                    <a:lumOff val="40000"/>
                  </a:schemeClr>
                </a:solidFill>
                <a:ea typeface="標楷體" panose="03000509000000000000" pitchFamily="65" charset="-120"/>
              </a:rPr>
              <a:t>targ</a:t>
            </a:r>
            <a:r>
              <a:rPr lang="en-US" altLang="zh-TW" sz="1800" dirty="0">
                <a:solidFill>
                  <a:schemeClr val="accent3">
                    <a:lumMod val="60000"/>
                    <a:lumOff val="40000"/>
                  </a:schemeClr>
                </a:solidFill>
                <a:ea typeface="標楷體" panose="03000509000000000000" pitchFamily="65" charset="-120"/>
              </a:rPr>
              <a:t> v(out) </a:t>
            </a:r>
            <a:r>
              <a:rPr lang="en-US" altLang="zh-TW" sz="1800" dirty="0" err="1">
                <a:solidFill>
                  <a:schemeClr val="accent3">
                    <a:lumMod val="60000"/>
                    <a:lumOff val="40000"/>
                  </a:schemeClr>
                </a:solidFill>
                <a:ea typeface="標楷體" panose="03000509000000000000" pitchFamily="65" charset="-120"/>
              </a:rPr>
              <a:t>val</a:t>
            </a:r>
            <a:r>
              <a:rPr lang="en-US" altLang="zh-TW" sz="1800" dirty="0">
                <a:solidFill>
                  <a:schemeClr val="accent3">
                    <a:lumMod val="60000"/>
                    <a:lumOff val="40000"/>
                  </a:schemeClr>
                </a:solidFill>
                <a:ea typeface="標楷體" panose="03000509000000000000" pitchFamily="65" charset="-120"/>
              </a:rPr>
              <a:t> = 0.9*1.8 rise = 3</a:t>
            </a:r>
          </a:p>
          <a:p>
            <a:pPr algn="just"/>
            <a:r>
              <a:rPr lang="en-US" altLang="zh-TW" sz="1800" dirty="0">
                <a:ea typeface="標楷體" panose="03000509000000000000" pitchFamily="65" charset="-120"/>
              </a:rPr>
              <a:t>.MEAS</a:t>
            </a:r>
            <a:r>
              <a:rPr lang="zh-TW" altLang="en-US" sz="1800" dirty="0">
                <a:ea typeface="標楷體" panose="03000509000000000000" pitchFamily="65" charset="-120"/>
              </a:rPr>
              <a:t> </a:t>
            </a:r>
            <a:r>
              <a:rPr lang="en-US" altLang="zh-TW" sz="1800" dirty="0">
                <a:ea typeface="標楷體" panose="03000509000000000000" pitchFamily="65" charset="-120"/>
              </a:rPr>
              <a:t>TRAN</a:t>
            </a:r>
            <a:r>
              <a:rPr lang="zh-TW" altLang="en-US" sz="1800" dirty="0">
                <a:ea typeface="標楷體" panose="03000509000000000000" pitchFamily="65" charset="-120"/>
              </a:rPr>
              <a:t> </a:t>
            </a:r>
            <a:r>
              <a:rPr lang="en-US" altLang="zh-TW" sz="1800" dirty="0" err="1">
                <a:solidFill>
                  <a:schemeClr val="accent3">
                    <a:lumMod val="60000"/>
                    <a:lumOff val="40000"/>
                  </a:schemeClr>
                </a:solidFill>
                <a:ea typeface="標楷體" panose="03000509000000000000" pitchFamily="65" charset="-120"/>
              </a:rPr>
              <a:t>Tf</a:t>
            </a:r>
            <a:r>
              <a:rPr lang="en-US" altLang="zh-TW" sz="1800" dirty="0">
                <a:ea typeface="標楷體" panose="03000509000000000000" pitchFamily="65" charset="-120"/>
              </a:rPr>
              <a:t> </a:t>
            </a:r>
            <a:r>
              <a:rPr lang="en-US" altLang="zh-TW" sz="1800" dirty="0">
                <a:solidFill>
                  <a:schemeClr val="accent3">
                    <a:lumMod val="60000"/>
                    <a:lumOff val="40000"/>
                  </a:schemeClr>
                </a:solidFill>
                <a:ea typeface="標楷體" panose="03000509000000000000" pitchFamily="65" charset="-120"/>
              </a:rPr>
              <a:t>trig v(out) </a:t>
            </a:r>
            <a:r>
              <a:rPr lang="en-US" altLang="zh-TW" sz="1800" dirty="0" err="1">
                <a:solidFill>
                  <a:schemeClr val="accent3">
                    <a:lumMod val="60000"/>
                    <a:lumOff val="40000"/>
                  </a:schemeClr>
                </a:solidFill>
                <a:ea typeface="標楷體" panose="03000509000000000000" pitchFamily="65" charset="-120"/>
              </a:rPr>
              <a:t>val</a:t>
            </a:r>
            <a:r>
              <a:rPr lang="en-US" altLang="zh-TW" sz="1800" dirty="0">
                <a:solidFill>
                  <a:schemeClr val="accent3">
                    <a:lumMod val="60000"/>
                    <a:lumOff val="40000"/>
                  </a:schemeClr>
                </a:solidFill>
                <a:ea typeface="標楷體" panose="03000509000000000000" pitchFamily="65" charset="-120"/>
              </a:rPr>
              <a:t> = 0.9*1.8 fall = 3 </a:t>
            </a:r>
            <a:r>
              <a:rPr lang="en-US" altLang="zh-TW" sz="1800" dirty="0" err="1">
                <a:solidFill>
                  <a:schemeClr val="accent3">
                    <a:lumMod val="60000"/>
                    <a:lumOff val="40000"/>
                  </a:schemeClr>
                </a:solidFill>
                <a:ea typeface="標楷體" panose="03000509000000000000" pitchFamily="65" charset="-120"/>
              </a:rPr>
              <a:t>targ</a:t>
            </a:r>
            <a:r>
              <a:rPr lang="en-US" altLang="zh-TW" sz="1800" dirty="0">
                <a:solidFill>
                  <a:schemeClr val="accent3">
                    <a:lumMod val="60000"/>
                    <a:lumOff val="40000"/>
                  </a:schemeClr>
                </a:solidFill>
                <a:ea typeface="標楷體" panose="03000509000000000000" pitchFamily="65" charset="-120"/>
              </a:rPr>
              <a:t> v(out) </a:t>
            </a:r>
            <a:r>
              <a:rPr lang="en-US" altLang="zh-TW" sz="1800" dirty="0" err="1">
                <a:solidFill>
                  <a:schemeClr val="accent3">
                    <a:lumMod val="60000"/>
                    <a:lumOff val="40000"/>
                  </a:schemeClr>
                </a:solidFill>
                <a:ea typeface="標楷體" panose="03000509000000000000" pitchFamily="65" charset="-120"/>
              </a:rPr>
              <a:t>val</a:t>
            </a:r>
            <a:r>
              <a:rPr lang="en-US" altLang="zh-TW" sz="1800" dirty="0">
                <a:solidFill>
                  <a:schemeClr val="accent3">
                    <a:lumMod val="60000"/>
                    <a:lumOff val="40000"/>
                  </a:schemeClr>
                </a:solidFill>
                <a:ea typeface="標楷體" panose="03000509000000000000" pitchFamily="65" charset="-120"/>
              </a:rPr>
              <a:t> = 0.1*1.8 fall = 3</a:t>
            </a:r>
          </a:p>
          <a:p>
            <a:pPr algn="just"/>
            <a:endParaRPr lang="en-US" altLang="zh-TW" sz="1800" dirty="0">
              <a:ea typeface="標楷體" panose="03000509000000000000" pitchFamily="65" charset="-120"/>
            </a:endParaRPr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1F91862F-23DD-BCB0-3F57-12FCF9A855D9}"/>
              </a:ext>
            </a:extLst>
          </p:cNvPr>
          <p:cNvSpPr txBox="1"/>
          <p:nvPr/>
        </p:nvSpPr>
        <p:spPr>
          <a:xfrm>
            <a:off x="4109123" y="3760341"/>
            <a:ext cx="9364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TpHL</a:t>
            </a:r>
            <a:endParaRPr lang="en-US" altLang="zh-TW" sz="2400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03D30668-E1AD-16F0-D475-5C49B997EAF0}"/>
              </a:ext>
            </a:extLst>
          </p:cNvPr>
          <p:cNvSpPr txBox="1"/>
          <p:nvPr/>
        </p:nvSpPr>
        <p:spPr>
          <a:xfrm>
            <a:off x="5501941" y="3760341"/>
            <a:ext cx="9364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TpLH</a:t>
            </a:r>
            <a:endParaRPr lang="en-US" altLang="zh-TW" sz="2400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588CF43D-36D0-A956-84C3-5865D6A37C07}"/>
              </a:ext>
            </a:extLst>
          </p:cNvPr>
          <p:cNvSpPr txBox="1"/>
          <p:nvPr/>
        </p:nvSpPr>
        <p:spPr>
          <a:xfrm>
            <a:off x="7191287" y="4886645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Tf</a:t>
            </a:r>
            <a:endParaRPr lang="en-US" altLang="zh-TW" sz="2400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F07D3706-6274-51C3-01C0-6AAC4D5C1946}"/>
              </a:ext>
            </a:extLst>
          </p:cNvPr>
          <p:cNvSpPr txBox="1"/>
          <p:nvPr/>
        </p:nvSpPr>
        <p:spPr>
          <a:xfrm>
            <a:off x="8508044" y="4880475"/>
            <a:ext cx="5032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Tr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6FDE594E-911D-3AC7-924C-097550C2CDCD}"/>
              </a:ext>
            </a:extLst>
          </p:cNvPr>
          <p:cNvSpPr txBox="1"/>
          <p:nvPr/>
        </p:nvSpPr>
        <p:spPr>
          <a:xfrm>
            <a:off x="9547496" y="5068679"/>
            <a:ext cx="28585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此量測點位置顯示錯誤但值是對的 </a:t>
            </a:r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(90%</a:t>
            </a:r>
            <a:r>
              <a:rPr lang="zh-TW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VDD)</a:t>
            </a:r>
          </a:p>
        </p:txBody>
      </p: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2664CA51-FA85-61E0-37D4-EE0DAC0B4F33}"/>
              </a:ext>
            </a:extLst>
          </p:cNvPr>
          <p:cNvCxnSpPr>
            <a:cxnSpLocks/>
            <a:stCxn id="4" idx="1"/>
          </p:cNvCxnSpPr>
          <p:nvPr/>
        </p:nvCxnSpPr>
        <p:spPr>
          <a:xfrm flipH="1" flipV="1">
            <a:off x="8508044" y="5342140"/>
            <a:ext cx="1039452" cy="8048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96517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8"/>
          <p:cNvSpPr txBox="1"/>
          <p:nvPr/>
        </p:nvSpPr>
        <p:spPr>
          <a:xfrm>
            <a:off x="273695" y="242796"/>
            <a:ext cx="400937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TW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HSPICE</a:t>
            </a:r>
            <a:r>
              <a:rPr lang="zh-TW" altLang="en-US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TW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Introduction</a:t>
            </a:r>
            <a:endParaRPr lang="zh-CN" altLang="en-US" sz="3200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F5A1B7C-A96E-19D3-5C77-ECA299981C39}"/>
              </a:ext>
            </a:extLst>
          </p:cNvPr>
          <p:cNvSpPr txBox="1"/>
          <p:nvPr/>
        </p:nvSpPr>
        <p:spPr>
          <a:xfrm>
            <a:off x="3945099" y="256992"/>
            <a:ext cx="4968552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TW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HSPICE</a:t>
            </a:r>
            <a:r>
              <a:rPr lang="zh-TW" altLang="en-US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語法</a:t>
            </a:r>
            <a:endParaRPr lang="zh-CN" altLang="en-US" sz="3200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77A3A19D-908E-282B-0B1D-BDF3D9A7A356}"/>
              </a:ext>
            </a:extLst>
          </p:cNvPr>
          <p:cNvSpPr txBox="1"/>
          <p:nvPr/>
        </p:nvSpPr>
        <p:spPr>
          <a:xfrm>
            <a:off x="271641" y="952029"/>
            <a:ext cx="7597894" cy="1808829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396240" indent="-384175">
              <a:lnSpc>
                <a:spcPct val="100000"/>
              </a:lnSpc>
              <a:spcBef>
                <a:spcPts val="665"/>
              </a:spcBef>
              <a:buFont typeface="Arial"/>
              <a:buChar char="■"/>
              <a:tabLst>
                <a:tab pos="396240" algn="l"/>
                <a:tab pos="396875" algn="l"/>
              </a:tabLst>
            </a:pPr>
            <a:r>
              <a:rPr sz="2000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Spice</a:t>
            </a:r>
            <a:r>
              <a:rPr sz="2000" spc="170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語</a:t>
            </a:r>
            <a:r>
              <a:rPr sz="2000" spc="165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法說明</a:t>
            </a:r>
            <a:endParaRPr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841500" lvl="3" indent="-384810">
              <a:lnSpc>
                <a:spcPct val="100000"/>
              </a:lnSpc>
              <a:spcBef>
                <a:spcPts val="560"/>
              </a:spcBef>
              <a:buFont typeface="Arial"/>
              <a:buChar char="–"/>
              <a:tabLst>
                <a:tab pos="1841500" algn="l"/>
                <a:tab pos="1842135" algn="l"/>
              </a:tabLst>
            </a:pPr>
            <a:r>
              <a:rPr lang="en-US" spc="-5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</a:t>
            </a:r>
            <a:r>
              <a:rPr lang="en-US" altLang="zh-TW" spc="-5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OPTION</a:t>
            </a:r>
            <a:r>
              <a:rPr lang="zh-TW" altLang="en-US" spc="-5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pc="-5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post</a:t>
            </a:r>
            <a:r>
              <a:rPr lang="en-US" spc="-5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</a:t>
            </a:r>
            <a:r>
              <a:rPr lang="zh-TW" altLang="en-US" spc="-5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產生波型檔 </a:t>
            </a:r>
            <a:r>
              <a:rPr lang="en-US" altLang="zh-TW" spc="-5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.tr0</a:t>
            </a:r>
          </a:p>
          <a:p>
            <a:pPr marL="1841500" lvl="3" indent="-384810">
              <a:lnSpc>
                <a:spcPct val="100000"/>
              </a:lnSpc>
              <a:spcBef>
                <a:spcPts val="560"/>
              </a:spcBef>
              <a:buFont typeface="Arial"/>
              <a:buChar char="–"/>
              <a:tabLst>
                <a:tab pos="1841500" algn="l"/>
                <a:tab pos="1842135" algn="l"/>
              </a:tabLst>
            </a:pPr>
            <a:r>
              <a:rPr lang="en-US" sz="1800" spc="-5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</a:t>
            </a:r>
            <a:r>
              <a:rPr lang="en-US" altLang="zh-TW" sz="1800" spc="-5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OP</a:t>
            </a:r>
            <a:r>
              <a:rPr lang="en-US" sz="1800" spc="-5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</a:t>
            </a:r>
            <a:r>
              <a:rPr lang="zh-TW" altLang="en-US" sz="1800" spc="-5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操作點分析</a:t>
            </a:r>
            <a:endParaRPr lang="en-US" altLang="zh-TW" sz="1800" spc="-5" dirty="0">
              <a:solidFill>
                <a:srgbClr val="181B0D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841500" lvl="3" indent="-384810">
              <a:spcBef>
                <a:spcPts val="560"/>
              </a:spcBef>
              <a:buFont typeface="Arial"/>
              <a:buChar char="–"/>
              <a:tabLst>
                <a:tab pos="1841500" algn="l"/>
                <a:tab pos="1842135" algn="l"/>
              </a:tabLst>
            </a:pPr>
            <a:r>
              <a:rPr lang="en-US" altLang="zh-TW" sz="1800" spc="-5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.TEMP: </a:t>
            </a:r>
            <a:r>
              <a:rPr lang="zh-TW" altLang="en-US" sz="1800" spc="-5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測試環境溫度</a:t>
            </a:r>
            <a:endParaRPr lang="en-US" altLang="zh-TW" sz="1800" spc="-5" dirty="0">
              <a:solidFill>
                <a:srgbClr val="181B0D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841500" lvl="3" indent="-384810">
              <a:lnSpc>
                <a:spcPct val="100000"/>
              </a:lnSpc>
              <a:spcBef>
                <a:spcPts val="560"/>
              </a:spcBef>
              <a:buFont typeface="Arial"/>
              <a:buChar char="–"/>
              <a:tabLst>
                <a:tab pos="1841500" algn="l"/>
                <a:tab pos="1842135" algn="l"/>
              </a:tabLst>
            </a:pPr>
            <a:r>
              <a:rPr lang="en-US" altLang="zh-TW" spc="-5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.TRAN 0.1n 10000n: </a:t>
            </a:r>
            <a:r>
              <a:rPr lang="zh-TW" altLang="en-US" spc="-5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分析至</a:t>
            </a:r>
            <a:r>
              <a:rPr lang="en-US" altLang="zh-TW" spc="-5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10000ns</a:t>
            </a:r>
            <a:r>
              <a:rPr lang="zh-TW" altLang="en-US" spc="-5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，每 </a:t>
            </a:r>
            <a:r>
              <a:rPr lang="en-US" altLang="zh-TW" spc="-5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0.1ns</a:t>
            </a:r>
            <a:r>
              <a:rPr lang="zh-TW" altLang="en-US" spc="-5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摸擬一次</a:t>
            </a:r>
            <a:endParaRPr lang="en-US" altLang="zh-TW" spc="-5" dirty="0">
              <a:solidFill>
                <a:srgbClr val="181B0D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E653772-219E-1314-CD04-C5A80398EF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8161" y="3976365"/>
            <a:ext cx="4522428" cy="249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1257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8"/>
          <p:cNvSpPr txBox="1"/>
          <p:nvPr/>
        </p:nvSpPr>
        <p:spPr>
          <a:xfrm>
            <a:off x="273695" y="242796"/>
            <a:ext cx="400937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TW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HSPICE</a:t>
            </a:r>
            <a:r>
              <a:rPr lang="zh-TW" altLang="en-US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TW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Simulation</a:t>
            </a:r>
            <a:endParaRPr lang="zh-CN" altLang="en-US" sz="3200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989C9BD-A1BD-F344-8455-AC3B291956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6624" y="2561787"/>
            <a:ext cx="9085501" cy="1044536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24DB9C0D-4B40-FF67-8B3B-D3FA6C25B3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6623" y="4768453"/>
            <a:ext cx="9085502" cy="1212725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16C0E48A-747E-E5DA-BDAB-7EE01E2A1AE3}"/>
              </a:ext>
            </a:extLst>
          </p:cNvPr>
          <p:cNvSpPr/>
          <p:nvPr/>
        </p:nvSpPr>
        <p:spPr>
          <a:xfrm>
            <a:off x="6659333" y="5200501"/>
            <a:ext cx="1138194" cy="43204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FDE2CCB-E818-96F3-0047-7F7F0A07D27E}"/>
              </a:ext>
            </a:extLst>
          </p:cNvPr>
          <p:cNvSpPr txBox="1"/>
          <p:nvPr/>
        </p:nvSpPr>
        <p:spPr>
          <a:xfrm>
            <a:off x="4028716" y="1970914"/>
            <a:ext cx="48013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模擬成功的話，不會顯示任何訊息</a:t>
            </a:r>
            <a:endParaRPr lang="en-US" altLang="zh-TW" sz="24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34DC1B5-00B3-5435-7A8B-8EEE3F179151}"/>
              </a:ext>
            </a:extLst>
          </p:cNvPr>
          <p:cNvSpPr txBox="1"/>
          <p:nvPr/>
        </p:nvSpPr>
        <p:spPr>
          <a:xfrm>
            <a:off x="3045273" y="4105572"/>
            <a:ext cx="67681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模擬失敗的話，將會顯示 </a:t>
            </a:r>
            <a:r>
              <a:rPr lang="en-US" altLang="zh-TW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hspice</a:t>
            </a:r>
            <a:r>
              <a:rPr lang="en-US" altLang="zh-TW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job aborted</a:t>
            </a:r>
            <a:r>
              <a:rPr lang="zh-TW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訊息</a:t>
            </a:r>
            <a:endParaRPr lang="en-US" altLang="zh-TW" sz="24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" name="內容版面配置區 3">
            <a:extLst>
              <a:ext uri="{FF2B5EF4-FFF2-40B4-BE49-F238E27FC236}">
                <a16:creationId xmlns:a16="http://schemas.microsoft.com/office/drawing/2014/main" id="{F87A1986-24A9-5AA3-77F2-C2502948B578}"/>
              </a:ext>
            </a:extLst>
          </p:cNvPr>
          <p:cNvSpPr>
            <a:spLocks noGrp="1"/>
          </p:cNvSpPr>
          <p:nvPr/>
        </p:nvSpPr>
        <p:spPr>
          <a:xfrm>
            <a:off x="92671" y="1096045"/>
            <a:ext cx="12677761" cy="86409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zh-TW" altLang="en-US" sz="3200" dirty="0">
                <a:ea typeface="標楷體" panose="03000509000000000000" pitchFamily="65" charset="-120"/>
              </a:rPr>
              <a:t>在 </a:t>
            </a:r>
            <a:r>
              <a:rPr lang="en-US" altLang="zh-TW" sz="3200" dirty="0">
                <a:ea typeface="標楷體" panose="03000509000000000000" pitchFamily="65" charset="-120"/>
              </a:rPr>
              <a:t>Terminal </a:t>
            </a:r>
            <a:r>
              <a:rPr lang="zh-TW" altLang="en-US" sz="3200" dirty="0">
                <a:ea typeface="標楷體" panose="03000509000000000000" pitchFamily="65" charset="-120"/>
              </a:rPr>
              <a:t>下輸入</a:t>
            </a:r>
            <a:r>
              <a:rPr lang="en-US" altLang="zh-TW" sz="3200" dirty="0">
                <a:ea typeface="標楷體" panose="03000509000000000000" pitchFamily="65" charset="-120"/>
              </a:rPr>
              <a:t> </a:t>
            </a:r>
            <a:r>
              <a:rPr lang="en-US" altLang="zh-TW" sz="3200" dirty="0" err="1">
                <a:ea typeface="標楷體" panose="03000509000000000000" pitchFamily="65" charset="-120"/>
              </a:rPr>
              <a:t>hspice</a:t>
            </a:r>
            <a:r>
              <a:rPr lang="en-US" altLang="zh-TW" sz="3200" dirty="0">
                <a:ea typeface="標楷體" panose="03000509000000000000" pitchFamily="65" charset="-120"/>
              </a:rPr>
              <a:t> *.</a:t>
            </a:r>
            <a:r>
              <a:rPr lang="en-US" altLang="zh-TW" sz="3200" dirty="0" err="1">
                <a:ea typeface="標楷體" panose="03000509000000000000" pitchFamily="65" charset="-120"/>
              </a:rPr>
              <a:t>sp</a:t>
            </a:r>
            <a:r>
              <a:rPr lang="en-US" altLang="zh-TW" sz="3200" dirty="0">
                <a:ea typeface="標楷體" panose="03000509000000000000" pitchFamily="65" charset="-120"/>
              </a:rPr>
              <a:t> &gt; *.</a:t>
            </a:r>
            <a:r>
              <a:rPr lang="en-US" altLang="zh-TW" sz="3200" dirty="0" err="1">
                <a:ea typeface="標楷體" panose="03000509000000000000" pitchFamily="65" charset="-120"/>
              </a:rPr>
              <a:t>lis</a:t>
            </a:r>
            <a:endParaRPr lang="en-US" altLang="zh-TW" sz="3200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831077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FAA64CEA-4F63-65B6-CA44-75FCDDFEDB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3731" y="1951598"/>
            <a:ext cx="4468386" cy="4977095"/>
          </a:xfrm>
          <a:prstGeom prst="rect">
            <a:avLst/>
          </a:prstGeom>
        </p:spPr>
      </p:pic>
      <p:sp>
        <p:nvSpPr>
          <p:cNvPr id="41" name="TextBox 8"/>
          <p:cNvSpPr txBox="1"/>
          <p:nvPr/>
        </p:nvSpPr>
        <p:spPr>
          <a:xfrm>
            <a:off x="273695" y="242796"/>
            <a:ext cx="400937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TW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Input Capacitance</a:t>
            </a:r>
            <a:endParaRPr lang="zh-CN" altLang="en-US" sz="3200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0" name="內容版面配置區 3">
            <a:extLst>
              <a:ext uri="{FF2B5EF4-FFF2-40B4-BE49-F238E27FC236}">
                <a16:creationId xmlns:a16="http://schemas.microsoft.com/office/drawing/2014/main" id="{F87A1986-24A9-5AA3-77F2-C2502948B578}"/>
              </a:ext>
            </a:extLst>
          </p:cNvPr>
          <p:cNvSpPr>
            <a:spLocks noGrp="1"/>
          </p:cNvSpPr>
          <p:nvPr/>
        </p:nvSpPr>
        <p:spPr>
          <a:xfrm>
            <a:off x="90494" y="987650"/>
            <a:ext cx="12677761" cy="86409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zh-TW" altLang="en-US" sz="2400" dirty="0">
                <a:ea typeface="標楷體" panose="03000509000000000000" pitchFamily="65" charset="-120"/>
              </a:rPr>
              <a:t>在 </a:t>
            </a:r>
            <a:r>
              <a:rPr lang="en-US" altLang="zh-TW" sz="2400" dirty="0">
                <a:ea typeface="標楷體" panose="03000509000000000000" pitchFamily="65" charset="-120"/>
              </a:rPr>
              <a:t>MOSFET </a:t>
            </a:r>
            <a:r>
              <a:rPr lang="zh-TW" altLang="en-US" sz="2400" dirty="0">
                <a:ea typeface="標楷體" panose="03000509000000000000" pitchFamily="65" charset="-120"/>
              </a:rPr>
              <a:t>中，輸入訊號連接到的是 </a:t>
            </a:r>
            <a:r>
              <a:rPr lang="en-US" altLang="zh-TW" sz="2400" dirty="0">
                <a:ea typeface="標楷體" panose="03000509000000000000" pitchFamily="65" charset="-120"/>
              </a:rPr>
              <a:t>Gate </a:t>
            </a:r>
            <a:r>
              <a:rPr lang="zh-TW" altLang="en-US" sz="2400" dirty="0">
                <a:ea typeface="標楷體" panose="03000509000000000000" pitchFamily="65" charset="-120"/>
              </a:rPr>
              <a:t>端，所以在</a:t>
            </a:r>
            <a:r>
              <a:rPr lang="en-US" altLang="zh-TW" sz="2400" dirty="0">
                <a:ea typeface="標楷體" panose="03000509000000000000" pitchFamily="65" charset="-120"/>
              </a:rPr>
              <a:t>.</a:t>
            </a:r>
            <a:r>
              <a:rPr lang="en-US" altLang="zh-TW" sz="2400" dirty="0" err="1">
                <a:ea typeface="標楷體" panose="03000509000000000000" pitchFamily="65" charset="-120"/>
              </a:rPr>
              <a:t>lis</a:t>
            </a:r>
            <a:r>
              <a:rPr lang="zh-TW" altLang="en-US" sz="2400" dirty="0">
                <a:ea typeface="標楷體" panose="03000509000000000000" pitchFamily="65" charset="-120"/>
              </a:rPr>
              <a:t>檔中 </a:t>
            </a:r>
            <a:r>
              <a:rPr lang="en-US" altLang="zh-TW" sz="2400" dirty="0" err="1">
                <a:ea typeface="標楷體" panose="03000509000000000000" pitchFamily="65" charset="-120"/>
              </a:rPr>
              <a:t>cgtot</a:t>
            </a:r>
            <a:r>
              <a:rPr lang="zh-TW" altLang="en-US" sz="2400" dirty="0">
                <a:ea typeface="標楷體" panose="03000509000000000000" pitchFamily="65" charset="-120"/>
              </a:rPr>
              <a:t> 為輸入電容</a:t>
            </a: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222C98F6-1404-3711-D39C-025F01F242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8307" y="1975919"/>
            <a:ext cx="4320480" cy="4928452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E4CF988E-D2FB-511A-42C3-B6B8D217E183}"/>
              </a:ext>
            </a:extLst>
          </p:cNvPr>
          <p:cNvSpPr/>
          <p:nvPr/>
        </p:nvSpPr>
        <p:spPr>
          <a:xfrm>
            <a:off x="1931209" y="5848573"/>
            <a:ext cx="4370908" cy="2160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F865D828-E1E6-D0CB-5E8F-0C7785BE31D1}"/>
              </a:ext>
            </a:extLst>
          </p:cNvPr>
          <p:cNvSpPr txBox="1"/>
          <p:nvPr/>
        </p:nvSpPr>
        <p:spPr>
          <a:xfrm>
            <a:off x="90493" y="5736495"/>
            <a:ext cx="18407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cgs + </a:t>
            </a:r>
            <a:r>
              <a:rPr lang="en-US" altLang="zh-TW" sz="2000" b="1" dirty="0" err="1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cgd</a:t>
            </a:r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+ </a:t>
            </a:r>
            <a:r>
              <a:rPr lang="en-US" altLang="zh-TW" sz="2000" b="1" dirty="0" err="1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cgb</a:t>
            </a:r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EE9F810-5AB9-75EE-7210-EFBA0DF2EAC4}"/>
              </a:ext>
            </a:extLst>
          </p:cNvPr>
          <p:cNvSpPr txBox="1"/>
          <p:nvPr/>
        </p:nvSpPr>
        <p:spPr>
          <a:xfrm>
            <a:off x="1759022" y="1426085"/>
            <a:ext cx="46178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Inverter</a:t>
            </a:r>
            <a:r>
              <a:rPr lang="zh-TW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總輸入電容為 </a:t>
            </a:r>
            <a:r>
              <a:rPr lang="en-US" altLang="zh-TW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</a:t>
            </a:r>
            <a:r>
              <a:rPr lang="en-US" altLang="zh-TW" sz="2400" b="1" baseline="-25000" dirty="0" err="1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inp</a:t>
            </a:r>
            <a:r>
              <a:rPr lang="en-US" altLang="zh-TW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+ </a:t>
            </a:r>
            <a:r>
              <a:rPr lang="en-US" altLang="zh-TW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</a:t>
            </a:r>
            <a:r>
              <a:rPr lang="en-US" altLang="zh-TW" sz="2400" b="1" baseline="-25000" dirty="0" err="1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inn</a:t>
            </a:r>
            <a:endParaRPr lang="en-US" altLang="zh-TW" sz="2400" b="1" baseline="-25000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4D8FA31-ED8F-6301-C914-D7FCB007EA0B}"/>
              </a:ext>
            </a:extLst>
          </p:cNvPr>
          <p:cNvSpPr txBox="1"/>
          <p:nvPr/>
        </p:nvSpPr>
        <p:spPr>
          <a:xfrm>
            <a:off x="7393443" y="1417925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各個量測數據代表的意義</a:t>
            </a:r>
            <a:endParaRPr lang="en-US" altLang="zh-TW" sz="2400" b="1" baseline="-25000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8164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E5F36D39-0A54-E0AE-A50F-87196B099E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18" y="3472657"/>
            <a:ext cx="7078071" cy="3744068"/>
          </a:xfrm>
          <a:prstGeom prst="rect">
            <a:avLst/>
          </a:prstGeom>
        </p:spPr>
      </p:pic>
      <p:sp>
        <p:nvSpPr>
          <p:cNvPr id="41" name="TextBox 8"/>
          <p:cNvSpPr txBox="1"/>
          <p:nvPr/>
        </p:nvSpPr>
        <p:spPr>
          <a:xfrm>
            <a:off x="273695" y="242796"/>
            <a:ext cx="8027888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TW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Propagation Delay and Transition Time</a:t>
            </a:r>
            <a:endParaRPr lang="zh-CN" altLang="en-US" sz="3200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0" name="內容版面配置區 3">
            <a:extLst>
              <a:ext uri="{FF2B5EF4-FFF2-40B4-BE49-F238E27FC236}">
                <a16:creationId xmlns:a16="http://schemas.microsoft.com/office/drawing/2014/main" id="{F87A1986-24A9-5AA3-77F2-C2502948B578}"/>
              </a:ext>
            </a:extLst>
          </p:cNvPr>
          <p:cNvSpPr>
            <a:spLocks noGrp="1"/>
          </p:cNvSpPr>
          <p:nvPr/>
        </p:nvSpPr>
        <p:spPr>
          <a:xfrm>
            <a:off x="88318" y="1227425"/>
            <a:ext cx="12677761" cy="2515584"/>
          </a:xfrm>
          <a:prstGeom prst="rect">
            <a:avLst/>
          </a:prstGeom>
        </p:spPr>
        <p:txBody>
          <a:bodyPr vert="horz">
            <a:normAutofit lnSpcReduction="1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zh-TW" sz="2400" dirty="0">
                <a:ea typeface="標楷體" panose="03000509000000000000" pitchFamily="65" charset="-120"/>
              </a:rPr>
              <a:t>Maximum Propagation delay: </a:t>
            </a:r>
            <a:r>
              <a:rPr lang="en-US" altLang="zh-TW" sz="2400" dirty="0" err="1">
                <a:ea typeface="標楷體" panose="03000509000000000000" pitchFamily="65" charset="-120"/>
              </a:rPr>
              <a:t>Tpd</a:t>
            </a:r>
            <a:r>
              <a:rPr lang="en-US" altLang="zh-TW" sz="2400" dirty="0">
                <a:ea typeface="標楷體" panose="03000509000000000000" pitchFamily="65" charset="-120"/>
              </a:rPr>
              <a:t> = max(</a:t>
            </a:r>
            <a:r>
              <a:rPr lang="en-US" altLang="zh-TW" sz="2400" dirty="0" err="1">
                <a:ea typeface="標楷體" panose="03000509000000000000" pitchFamily="65" charset="-120"/>
              </a:rPr>
              <a:t>TpHL</a:t>
            </a:r>
            <a:r>
              <a:rPr lang="en-US" altLang="zh-TW" sz="2400" dirty="0">
                <a:ea typeface="標楷體" panose="03000509000000000000" pitchFamily="65" charset="-120"/>
              </a:rPr>
              <a:t>, </a:t>
            </a:r>
            <a:r>
              <a:rPr lang="en-US" altLang="zh-TW" sz="2400" dirty="0" err="1">
                <a:ea typeface="標楷體" panose="03000509000000000000" pitchFamily="65" charset="-120"/>
              </a:rPr>
              <a:t>TpLH</a:t>
            </a:r>
            <a:r>
              <a:rPr lang="en-US" altLang="zh-TW" sz="2400" dirty="0">
                <a:ea typeface="標楷體" panose="03000509000000000000" pitchFamily="65" charset="-120"/>
              </a:rPr>
              <a:t>)</a:t>
            </a:r>
          </a:p>
          <a:p>
            <a:pPr algn="just"/>
            <a:r>
              <a:rPr lang="en-US" altLang="zh-TW" sz="2400" dirty="0">
                <a:ea typeface="標楷體" panose="03000509000000000000" pitchFamily="65" charset="-120"/>
              </a:rPr>
              <a:t>Average Propagation delay: </a:t>
            </a:r>
            <a:r>
              <a:rPr lang="en-US" altLang="zh-TW" sz="2400" dirty="0" err="1">
                <a:ea typeface="標楷體" panose="03000509000000000000" pitchFamily="65" charset="-120"/>
              </a:rPr>
              <a:t>Tpd</a:t>
            </a:r>
            <a:r>
              <a:rPr lang="en-US" altLang="zh-TW" sz="2400" dirty="0">
                <a:ea typeface="標楷體" panose="03000509000000000000" pitchFamily="65" charset="-120"/>
              </a:rPr>
              <a:t> = (</a:t>
            </a:r>
            <a:r>
              <a:rPr lang="en-US" altLang="zh-TW" sz="2400" dirty="0" err="1">
                <a:ea typeface="標楷體" panose="03000509000000000000" pitchFamily="65" charset="-120"/>
              </a:rPr>
              <a:t>TpHL</a:t>
            </a:r>
            <a:r>
              <a:rPr lang="en-US" altLang="zh-TW" sz="2400" dirty="0">
                <a:ea typeface="標楷體" panose="03000509000000000000" pitchFamily="65" charset="-120"/>
              </a:rPr>
              <a:t> + </a:t>
            </a:r>
            <a:r>
              <a:rPr lang="en-US" altLang="zh-TW" sz="2400" dirty="0" err="1">
                <a:ea typeface="標楷體" panose="03000509000000000000" pitchFamily="65" charset="-120"/>
              </a:rPr>
              <a:t>TpLH</a:t>
            </a:r>
            <a:r>
              <a:rPr lang="en-US" altLang="zh-TW" sz="2400" dirty="0">
                <a:ea typeface="標楷體" panose="03000509000000000000" pitchFamily="65" charset="-120"/>
              </a:rPr>
              <a:t>) / 2</a:t>
            </a:r>
          </a:p>
          <a:p>
            <a:pPr algn="just"/>
            <a:r>
              <a:rPr lang="en-US" altLang="zh-TW" sz="2400" dirty="0">
                <a:ea typeface="標楷體" panose="03000509000000000000" pitchFamily="65" charset="-120"/>
              </a:rPr>
              <a:t>Propagation delay high-low: </a:t>
            </a:r>
            <a:r>
              <a:rPr lang="en-US" altLang="zh-TW" sz="2400" dirty="0" err="1">
                <a:ea typeface="標楷體" panose="03000509000000000000" pitchFamily="65" charset="-120"/>
              </a:rPr>
              <a:t>TpHL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 algn="just"/>
            <a:r>
              <a:rPr lang="en-US" altLang="zh-TW" sz="2400" dirty="0">
                <a:ea typeface="標楷體" panose="03000509000000000000" pitchFamily="65" charset="-120"/>
              </a:rPr>
              <a:t>Propagation delay low-high: </a:t>
            </a:r>
            <a:r>
              <a:rPr lang="en-US" altLang="zh-TW" sz="2400" dirty="0" err="1">
                <a:ea typeface="標楷體" panose="03000509000000000000" pitchFamily="65" charset="-120"/>
              </a:rPr>
              <a:t>TpLH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 algn="just"/>
            <a:r>
              <a:rPr lang="en-US" altLang="zh-TW" sz="2400" dirty="0">
                <a:ea typeface="標楷體" panose="03000509000000000000" pitchFamily="65" charset="-120"/>
              </a:rPr>
              <a:t>Output Rise Transition Time: Tr</a:t>
            </a:r>
          </a:p>
          <a:p>
            <a:pPr algn="just"/>
            <a:r>
              <a:rPr lang="en-US" altLang="zh-TW" sz="2400" dirty="0">
                <a:ea typeface="標楷體" panose="03000509000000000000" pitchFamily="65" charset="-120"/>
              </a:rPr>
              <a:t>Output Fall Transition Time: </a:t>
            </a:r>
            <a:r>
              <a:rPr lang="en-US" altLang="zh-TW" sz="2400" dirty="0" err="1">
                <a:ea typeface="標楷體" panose="03000509000000000000" pitchFamily="65" charset="-120"/>
              </a:rPr>
              <a:t>Tf</a:t>
            </a: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3090FD4E-470A-5E4C-F5F1-02BBAF885B40}"/>
              </a:ext>
            </a:extLst>
          </p:cNvPr>
          <p:cNvSpPr txBox="1"/>
          <p:nvPr/>
        </p:nvSpPr>
        <p:spPr>
          <a:xfrm>
            <a:off x="3453050" y="752945"/>
            <a:ext cx="59482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此次作業使用 </a:t>
            </a:r>
            <a:r>
              <a:rPr lang="en-US" altLang="zh-TW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Maximum Propagation delay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F7F3EB5D-A34A-9C48-DABD-6E57DB39A8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7639" y="4247064"/>
            <a:ext cx="8202622" cy="1475521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B97C651-F7A5-0B27-9EBA-4040D08608D1}"/>
              </a:ext>
            </a:extLst>
          </p:cNvPr>
          <p:cNvSpPr/>
          <p:nvPr/>
        </p:nvSpPr>
        <p:spPr>
          <a:xfrm>
            <a:off x="4239531" y="4480769"/>
            <a:ext cx="749684" cy="5040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78C071C-92B4-28F8-E362-069477B30A75}"/>
              </a:ext>
            </a:extLst>
          </p:cNvPr>
          <p:cNvSpPr/>
          <p:nvPr/>
        </p:nvSpPr>
        <p:spPr>
          <a:xfrm>
            <a:off x="4239531" y="4984825"/>
            <a:ext cx="605668" cy="9128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37837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8"/>
          <p:cNvSpPr txBox="1"/>
          <p:nvPr/>
        </p:nvSpPr>
        <p:spPr>
          <a:xfrm>
            <a:off x="273694" y="242796"/>
            <a:ext cx="10548169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zh-TW" altLang="en-US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以 </a:t>
            </a:r>
            <a:r>
              <a:rPr lang="en-US" altLang="zh-TW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NAND2</a:t>
            </a:r>
            <a:r>
              <a:rPr lang="zh-TW" altLang="en-US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 為例量測 </a:t>
            </a:r>
            <a:r>
              <a:rPr lang="en-US" altLang="zh-TW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Propagation Delay </a:t>
            </a:r>
            <a:r>
              <a:rPr lang="zh-TW" altLang="en-US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及 </a:t>
            </a:r>
            <a:r>
              <a:rPr lang="en-US" altLang="zh-TW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Transition Time</a:t>
            </a:r>
            <a:endParaRPr lang="zh-CN" altLang="en-US" sz="3200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6ADE831-FD96-E2A6-9616-99683C21DDD5}"/>
              </a:ext>
            </a:extLst>
          </p:cNvPr>
          <p:cNvSpPr txBox="1"/>
          <p:nvPr/>
        </p:nvSpPr>
        <p:spPr>
          <a:xfrm>
            <a:off x="380703" y="1024037"/>
            <a:ext cx="12097344" cy="1345881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396240" indent="-384175">
              <a:lnSpc>
                <a:spcPct val="100000"/>
              </a:lnSpc>
              <a:spcBef>
                <a:spcPts val="655"/>
              </a:spcBef>
              <a:buFont typeface="Arial"/>
              <a:buChar char="■"/>
              <a:tabLst>
                <a:tab pos="396240" algn="l"/>
                <a:tab pos="396875" algn="l"/>
              </a:tabLst>
            </a:pPr>
            <a:r>
              <a:rPr sz="2400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NAND2</a:t>
            </a:r>
            <a:endParaRPr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27100" lvl="1" indent="-384175">
              <a:lnSpc>
                <a:spcPct val="100000"/>
              </a:lnSpc>
              <a:spcBef>
                <a:spcPts val="555"/>
              </a:spcBef>
              <a:buFont typeface="Arial"/>
              <a:buChar char="–"/>
              <a:tabLst>
                <a:tab pos="926465" algn="l"/>
                <a:tab pos="927100" algn="l"/>
              </a:tabLst>
            </a:pPr>
            <a:r>
              <a:rPr sz="2400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Input</a:t>
            </a:r>
            <a:r>
              <a:rPr sz="2400" spc="-160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sz="2400" spc="5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r>
              <a:rPr lang="en-US" sz="2400" spc="5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sz="2400" spc="175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及</a:t>
            </a:r>
            <a:r>
              <a:rPr lang="en-US" sz="2400" spc="175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Input</a:t>
            </a:r>
            <a:r>
              <a:rPr sz="2400" spc="-40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sz="2400" spc="-5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r>
              <a:rPr lang="en-US" sz="2400" spc="-5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sz="2400" spc="170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</a:t>
            </a:r>
            <a:r>
              <a:rPr lang="en-US" sz="2400" spc="170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</a:t>
            </a:r>
            <a:r>
              <a:rPr sz="2400" spc="-5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ropagation</a:t>
            </a:r>
            <a:r>
              <a:rPr sz="2400" spc="-40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sz="2400" spc="-40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</a:t>
            </a:r>
            <a:r>
              <a:rPr sz="2400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elay</a:t>
            </a:r>
            <a:r>
              <a:rPr lang="en-US" sz="2400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400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及 </a:t>
            </a:r>
            <a:r>
              <a:rPr lang="en-US" altLang="zh-TW" sz="2400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Transition Time </a:t>
            </a:r>
            <a:r>
              <a:rPr sz="2400" spc="170" dirty="0" err="1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測量</a:t>
            </a:r>
            <a:r>
              <a:rPr sz="2400" spc="160" dirty="0" err="1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方</a:t>
            </a:r>
            <a:r>
              <a:rPr sz="2400" spc="145" dirty="0" err="1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法</a:t>
            </a:r>
            <a:r>
              <a:rPr sz="2400" spc="160" dirty="0" err="1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分別</a:t>
            </a:r>
            <a:r>
              <a:rPr sz="2400" spc="155" dirty="0" err="1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為</a:t>
            </a:r>
            <a:r>
              <a:rPr sz="2400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endParaRPr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384300" lvl="2" indent="-384175">
              <a:lnSpc>
                <a:spcPct val="100000"/>
              </a:lnSpc>
              <a:spcBef>
                <a:spcPts val="570"/>
              </a:spcBef>
              <a:buFont typeface="Arial"/>
              <a:buChar char="■"/>
              <a:tabLst>
                <a:tab pos="1383665" algn="l"/>
                <a:tab pos="1384300" algn="l"/>
              </a:tabLst>
            </a:pPr>
            <a:r>
              <a:rPr sz="2400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Input</a:t>
            </a:r>
            <a:r>
              <a:rPr sz="2400" spc="-100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sz="2400" spc="-5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A:</a:t>
            </a:r>
            <a:r>
              <a:rPr sz="2400" spc="-10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400" spc="-10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將 </a:t>
            </a:r>
            <a:r>
              <a:rPr sz="2400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Input</a:t>
            </a:r>
            <a:r>
              <a:rPr sz="2400" spc="5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r>
              <a:rPr lang="en-US" sz="2400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sz="2400" spc="140" dirty="0" err="1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訊號固定</a:t>
            </a:r>
            <a:endParaRPr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pSp>
        <p:nvGrpSpPr>
          <p:cNvPr id="8" name="object 5">
            <a:extLst>
              <a:ext uri="{FF2B5EF4-FFF2-40B4-BE49-F238E27FC236}">
                <a16:creationId xmlns:a16="http://schemas.microsoft.com/office/drawing/2014/main" id="{3169B870-155C-6BF1-B778-4D76F35B58F2}"/>
              </a:ext>
            </a:extLst>
          </p:cNvPr>
          <p:cNvGrpSpPr/>
          <p:nvPr/>
        </p:nvGrpSpPr>
        <p:grpSpPr>
          <a:xfrm>
            <a:off x="7802928" y="2873375"/>
            <a:ext cx="3816350" cy="1485900"/>
            <a:chOff x="2855976" y="2881883"/>
            <a:chExt cx="3816350" cy="1485900"/>
          </a:xfrm>
        </p:grpSpPr>
        <p:sp>
          <p:nvSpPr>
            <p:cNvPr id="9" name="object 6">
              <a:extLst>
                <a:ext uri="{FF2B5EF4-FFF2-40B4-BE49-F238E27FC236}">
                  <a16:creationId xmlns:a16="http://schemas.microsoft.com/office/drawing/2014/main" id="{6166D0EB-73FA-C9E2-D198-80C0DA490693}"/>
                </a:ext>
              </a:extLst>
            </p:cNvPr>
            <p:cNvSpPr/>
            <p:nvPr/>
          </p:nvSpPr>
          <p:spPr>
            <a:xfrm>
              <a:off x="2855976" y="2881883"/>
              <a:ext cx="3816096" cy="14859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EF9B50F1-0BBB-3AA7-BDEE-051B42A9669F}"/>
                </a:ext>
              </a:extLst>
            </p:cNvPr>
            <p:cNvSpPr/>
            <p:nvPr/>
          </p:nvSpPr>
          <p:spPr>
            <a:xfrm>
              <a:off x="3246882" y="3774186"/>
              <a:ext cx="597535" cy="570230"/>
            </a:xfrm>
            <a:custGeom>
              <a:avLst/>
              <a:gdLst/>
              <a:ahLst/>
              <a:cxnLst/>
              <a:rect l="l" t="t" r="r" b="b"/>
              <a:pathLst>
                <a:path w="597535" h="570229">
                  <a:moveTo>
                    <a:pt x="502412" y="0"/>
                  </a:moveTo>
                  <a:lnTo>
                    <a:pt x="94995" y="0"/>
                  </a:lnTo>
                  <a:lnTo>
                    <a:pt x="85343" y="507"/>
                  </a:lnTo>
                  <a:lnTo>
                    <a:pt x="41909" y="16128"/>
                  </a:lnTo>
                  <a:lnTo>
                    <a:pt x="11430" y="49656"/>
                  </a:lnTo>
                  <a:lnTo>
                    <a:pt x="0" y="94995"/>
                  </a:lnTo>
                  <a:lnTo>
                    <a:pt x="0" y="474980"/>
                  </a:lnTo>
                  <a:lnTo>
                    <a:pt x="11504" y="520319"/>
                  </a:lnTo>
                  <a:lnTo>
                    <a:pt x="41909" y="553719"/>
                  </a:lnTo>
                  <a:lnTo>
                    <a:pt x="85343" y="569468"/>
                  </a:lnTo>
                  <a:lnTo>
                    <a:pt x="94995" y="569976"/>
                  </a:lnTo>
                  <a:lnTo>
                    <a:pt x="502412" y="569976"/>
                  </a:lnTo>
                  <a:lnTo>
                    <a:pt x="547623" y="558545"/>
                  </a:lnTo>
                  <a:lnTo>
                    <a:pt x="576074" y="534924"/>
                  </a:lnTo>
                  <a:lnTo>
                    <a:pt x="94995" y="534924"/>
                  </a:lnTo>
                  <a:lnTo>
                    <a:pt x="87121" y="534543"/>
                  </a:lnTo>
                  <a:lnTo>
                    <a:pt x="51307" y="516127"/>
                  </a:lnTo>
                  <a:lnTo>
                    <a:pt x="35179" y="479425"/>
                  </a:lnTo>
                  <a:lnTo>
                    <a:pt x="35052" y="94995"/>
                  </a:lnTo>
                  <a:lnTo>
                    <a:pt x="35432" y="87121"/>
                  </a:lnTo>
                  <a:lnTo>
                    <a:pt x="53847" y="51307"/>
                  </a:lnTo>
                  <a:lnTo>
                    <a:pt x="90551" y="35178"/>
                  </a:lnTo>
                  <a:lnTo>
                    <a:pt x="96773" y="35051"/>
                  </a:lnTo>
                  <a:lnTo>
                    <a:pt x="576067" y="35051"/>
                  </a:lnTo>
                  <a:lnTo>
                    <a:pt x="575691" y="34543"/>
                  </a:lnTo>
                  <a:lnTo>
                    <a:pt x="539369" y="7365"/>
                  </a:lnTo>
                  <a:lnTo>
                    <a:pt x="512191" y="507"/>
                  </a:lnTo>
                  <a:lnTo>
                    <a:pt x="502412" y="0"/>
                  </a:lnTo>
                  <a:close/>
                </a:path>
                <a:path w="597535" h="570229">
                  <a:moveTo>
                    <a:pt x="576067" y="35051"/>
                  </a:moveTo>
                  <a:lnTo>
                    <a:pt x="502412" y="35051"/>
                  </a:lnTo>
                  <a:lnTo>
                    <a:pt x="510413" y="35432"/>
                  </a:lnTo>
                  <a:lnTo>
                    <a:pt x="516381" y="36575"/>
                  </a:lnTo>
                  <a:lnTo>
                    <a:pt x="549656" y="58038"/>
                  </a:lnTo>
                  <a:lnTo>
                    <a:pt x="562356" y="474980"/>
                  </a:lnTo>
                  <a:lnTo>
                    <a:pt x="561975" y="482981"/>
                  </a:lnTo>
                  <a:lnTo>
                    <a:pt x="543559" y="518668"/>
                  </a:lnTo>
                  <a:lnTo>
                    <a:pt x="506856" y="534796"/>
                  </a:lnTo>
                  <a:lnTo>
                    <a:pt x="500760" y="534924"/>
                  </a:lnTo>
                  <a:lnTo>
                    <a:pt x="576074" y="534924"/>
                  </a:lnTo>
                  <a:lnTo>
                    <a:pt x="595503" y="494156"/>
                  </a:lnTo>
                  <a:lnTo>
                    <a:pt x="597407" y="474980"/>
                  </a:lnTo>
                  <a:lnTo>
                    <a:pt x="597407" y="94995"/>
                  </a:lnTo>
                  <a:lnTo>
                    <a:pt x="585978" y="49656"/>
                  </a:lnTo>
                  <a:lnTo>
                    <a:pt x="581152" y="41909"/>
                  </a:lnTo>
                  <a:lnTo>
                    <a:pt x="576067" y="35051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8">
            <a:extLst>
              <a:ext uri="{FF2B5EF4-FFF2-40B4-BE49-F238E27FC236}">
                <a16:creationId xmlns:a16="http://schemas.microsoft.com/office/drawing/2014/main" id="{3832A348-26BF-0875-3399-D38536BAD5D6}"/>
              </a:ext>
            </a:extLst>
          </p:cNvPr>
          <p:cNvGrpSpPr/>
          <p:nvPr/>
        </p:nvGrpSpPr>
        <p:grpSpPr>
          <a:xfrm>
            <a:off x="7803182" y="5155188"/>
            <a:ext cx="3816350" cy="1703070"/>
            <a:chOff x="2855976" y="4949952"/>
            <a:chExt cx="3816350" cy="1703070"/>
          </a:xfrm>
        </p:grpSpPr>
        <p:sp>
          <p:nvSpPr>
            <p:cNvPr id="13" name="object 9">
              <a:extLst>
                <a:ext uri="{FF2B5EF4-FFF2-40B4-BE49-F238E27FC236}">
                  <a16:creationId xmlns:a16="http://schemas.microsoft.com/office/drawing/2014/main" id="{E9775632-D71A-64C6-0B3F-5AB64749EFC4}"/>
                </a:ext>
              </a:extLst>
            </p:cNvPr>
            <p:cNvSpPr/>
            <p:nvPr/>
          </p:nvSpPr>
          <p:spPr>
            <a:xfrm>
              <a:off x="2855976" y="4949952"/>
              <a:ext cx="3816096" cy="170230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0">
              <a:extLst>
                <a:ext uri="{FF2B5EF4-FFF2-40B4-BE49-F238E27FC236}">
                  <a16:creationId xmlns:a16="http://schemas.microsoft.com/office/drawing/2014/main" id="{606C1CC6-D4E5-19C2-9317-08ACF03F1B17}"/>
                </a:ext>
              </a:extLst>
            </p:cNvPr>
            <p:cNvSpPr/>
            <p:nvPr/>
          </p:nvSpPr>
          <p:spPr>
            <a:xfrm>
              <a:off x="4556087" y="5589270"/>
              <a:ext cx="415925" cy="1064260"/>
            </a:xfrm>
            <a:custGeom>
              <a:avLst/>
              <a:gdLst/>
              <a:ahLst/>
              <a:cxnLst/>
              <a:rect l="l" t="t" r="r" b="b"/>
              <a:pathLst>
                <a:path w="415925" h="1064259">
                  <a:moveTo>
                    <a:pt x="415861" y="704545"/>
                  </a:moveTo>
                  <a:lnTo>
                    <a:pt x="415582" y="699325"/>
                  </a:lnTo>
                  <a:lnTo>
                    <a:pt x="414566" y="692365"/>
                  </a:lnTo>
                  <a:lnTo>
                    <a:pt x="413893" y="689902"/>
                  </a:lnTo>
                  <a:lnTo>
                    <a:pt x="412788" y="685800"/>
                  </a:lnTo>
                  <a:lnTo>
                    <a:pt x="412724" y="685634"/>
                  </a:lnTo>
                  <a:lnTo>
                    <a:pt x="412267" y="684364"/>
                  </a:lnTo>
                  <a:lnTo>
                    <a:pt x="410565" y="679615"/>
                  </a:lnTo>
                  <a:lnTo>
                    <a:pt x="410502" y="679411"/>
                  </a:lnTo>
                  <a:lnTo>
                    <a:pt x="410248" y="678903"/>
                  </a:lnTo>
                  <a:lnTo>
                    <a:pt x="408813" y="675894"/>
                  </a:lnTo>
                  <a:lnTo>
                    <a:pt x="407581" y="673315"/>
                  </a:lnTo>
                  <a:lnTo>
                    <a:pt x="406806" y="672033"/>
                  </a:lnTo>
                  <a:lnTo>
                    <a:pt x="404152" y="667600"/>
                  </a:lnTo>
                  <a:lnTo>
                    <a:pt x="395643" y="657313"/>
                  </a:lnTo>
                  <a:lnTo>
                    <a:pt x="385356" y="648843"/>
                  </a:lnTo>
                  <a:lnTo>
                    <a:pt x="380911" y="646176"/>
                  </a:lnTo>
                  <a:lnTo>
                    <a:pt x="380911" y="704545"/>
                  </a:lnTo>
                  <a:lnTo>
                    <a:pt x="380911" y="994410"/>
                  </a:lnTo>
                  <a:lnTo>
                    <a:pt x="358178" y="1026871"/>
                  </a:lnTo>
                  <a:lnTo>
                    <a:pt x="346075" y="1028750"/>
                  </a:lnTo>
                  <a:lnTo>
                    <a:pt x="344716" y="1028750"/>
                  </a:lnTo>
                  <a:lnTo>
                    <a:pt x="69253" y="1028700"/>
                  </a:lnTo>
                  <a:lnTo>
                    <a:pt x="49085" y="1021880"/>
                  </a:lnTo>
                  <a:lnTo>
                    <a:pt x="48221" y="1021168"/>
                  </a:lnTo>
                  <a:lnTo>
                    <a:pt x="45262" y="1018743"/>
                  </a:lnTo>
                  <a:lnTo>
                    <a:pt x="43345" y="1016419"/>
                  </a:lnTo>
                  <a:lnTo>
                    <a:pt x="42291" y="1015136"/>
                  </a:lnTo>
                  <a:lnTo>
                    <a:pt x="40576" y="1013066"/>
                  </a:lnTo>
                  <a:lnTo>
                    <a:pt x="39268" y="1010881"/>
                  </a:lnTo>
                  <a:lnTo>
                    <a:pt x="38392" y="1009421"/>
                  </a:lnTo>
                  <a:lnTo>
                    <a:pt x="36741" y="1005979"/>
                  </a:lnTo>
                  <a:lnTo>
                    <a:pt x="36068" y="1003122"/>
                  </a:lnTo>
                  <a:lnTo>
                    <a:pt x="35344" y="999680"/>
                  </a:lnTo>
                  <a:lnTo>
                    <a:pt x="34963" y="996264"/>
                  </a:lnTo>
                  <a:lnTo>
                    <a:pt x="34963" y="706374"/>
                  </a:lnTo>
                  <a:lnTo>
                    <a:pt x="43345" y="684364"/>
                  </a:lnTo>
                  <a:lnTo>
                    <a:pt x="45262" y="682053"/>
                  </a:lnTo>
                  <a:lnTo>
                    <a:pt x="71158" y="672033"/>
                  </a:lnTo>
                  <a:lnTo>
                    <a:pt x="346621" y="672084"/>
                  </a:lnTo>
                  <a:lnTo>
                    <a:pt x="379006" y="694702"/>
                  </a:lnTo>
                  <a:lnTo>
                    <a:pt x="380911" y="704545"/>
                  </a:lnTo>
                  <a:lnTo>
                    <a:pt x="380911" y="646176"/>
                  </a:lnTo>
                  <a:lnTo>
                    <a:pt x="346621" y="637032"/>
                  </a:lnTo>
                  <a:lnTo>
                    <a:pt x="69253" y="637032"/>
                  </a:lnTo>
                  <a:lnTo>
                    <a:pt x="30518" y="648843"/>
                  </a:lnTo>
                  <a:lnTo>
                    <a:pt x="5372" y="679411"/>
                  </a:lnTo>
                  <a:lnTo>
                    <a:pt x="0" y="704545"/>
                  </a:lnTo>
                  <a:lnTo>
                    <a:pt x="0" y="996264"/>
                  </a:lnTo>
                  <a:lnTo>
                    <a:pt x="11722" y="1033170"/>
                  </a:lnTo>
                  <a:lnTo>
                    <a:pt x="42329" y="1058316"/>
                  </a:lnTo>
                  <a:lnTo>
                    <a:pt x="69253" y="1063752"/>
                  </a:lnTo>
                  <a:lnTo>
                    <a:pt x="346621" y="1063752"/>
                  </a:lnTo>
                  <a:lnTo>
                    <a:pt x="385356" y="1051941"/>
                  </a:lnTo>
                  <a:lnTo>
                    <a:pt x="406793" y="1028750"/>
                  </a:lnTo>
                  <a:lnTo>
                    <a:pt x="407581" y="1027455"/>
                  </a:lnTo>
                  <a:lnTo>
                    <a:pt x="408825" y="1024890"/>
                  </a:lnTo>
                  <a:lnTo>
                    <a:pt x="410286" y="1021880"/>
                  </a:lnTo>
                  <a:lnTo>
                    <a:pt x="410502" y="1021461"/>
                  </a:lnTo>
                  <a:lnTo>
                    <a:pt x="410603" y="1021168"/>
                  </a:lnTo>
                  <a:lnTo>
                    <a:pt x="412305" y="1016419"/>
                  </a:lnTo>
                  <a:lnTo>
                    <a:pt x="412762" y="1015136"/>
                  </a:lnTo>
                  <a:lnTo>
                    <a:pt x="413893" y="1010881"/>
                  </a:lnTo>
                  <a:lnTo>
                    <a:pt x="414566" y="1008405"/>
                  </a:lnTo>
                  <a:lnTo>
                    <a:pt x="415582" y="1001547"/>
                  </a:lnTo>
                  <a:lnTo>
                    <a:pt x="415861" y="996264"/>
                  </a:lnTo>
                  <a:lnTo>
                    <a:pt x="415861" y="704545"/>
                  </a:lnTo>
                  <a:close/>
                </a:path>
                <a:path w="415925" h="1064259">
                  <a:moveTo>
                    <a:pt x="415861" y="67513"/>
                  </a:moveTo>
                  <a:lnTo>
                    <a:pt x="415582" y="62293"/>
                  </a:lnTo>
                  <a:lnTo>
                    <a:pt x="414566" y="55333"/>
                  </a:lnTo>
                  <a:lnTo>
                    <a:pt x="413893" y="52870"/>
                  </a:lnTo>
                  <a:lnTo>
                    <a:pt x="412788" y="48768"/>
                  </a:lnTo>
                  <a:lnTo>
                    <a:pt x="412724" y="48602"/>
                  </a:lnTo>
                  <a:lnTo>
                    <a:pt x="412267" y="47332"/>
                  </a:lnTo>
                  <a:lnTo>
                    <a:pt x="410565" y="42583"/>
                  </a:lnTo>
                  <a:lnTo>
                    <a:pt x="410502" y="42379"/>
                  </a:lnTo>
                  <a:lnTo>
                    <a:pt x="410248" y="41871"/>
                  </a:lnTo>
                  <a:lnTo>
                    <a:pt x="408813" y="38862"/>
                  </a:lnTo>
                  <a:lnTo>
                    <a:pt x="407581" y="36283"/>
                  </a:lnTo>
                  <a:lnTo>
                    <a:pt x="406806" y="35001"/>
                  </a:lnTo>
                  <a:lnTo>
                    <a:pt x="404152" y="30568"/>
                  </a:lnTo>
                  <a:lnTo>
                    <a:pt x="395643" y="20281"/>
                  </a:lnTo>
                  <a:lnTo>
                    <a:pt x="385356" y="11811"/>
                  </a:lnTo>
                  <a:lnTo>
                    <a:pt x="380911" y="9144"/>
                  </a:lnTo>
                  <a:lnTo>
                    <a:pt x="380911" y="67513"/>
                  </a:lnTo>
                  <a:lnTo>
                    <a:pt x="380911" y="357378"/>
                  </a:lnTo>
                  <a:lnTo>
                    <a:pt x="358178" y="389839"/>
                  </a:lnTo>
                  <a:lnTo>
                    <a:pt x="346075" y="391718"/>
                  </a:lnTo>
                  <a:lnTo>
                    <a:pt x="344716" y="391718"/>
                  </a:lnTo>
                  <a:lnTo>
                    <a:pt x="69253" y="391668"/>
                  </a:lnTo>
                  <a:lnTo>
                    <a:pt x="49085" y="384848"/>
                  </a:lnTo>
                  <a:lnTo>
                    <a:pt x="48221" y="384136"/>
                  </a:lnTo>
                  <a:lnTo>
                    <a:pt x="45237" y="381685"/>
                  </a:lnTo>
                  <a:lnTo>
                    <a:pt x="43332" y="379374"/>
                  </a:lnTo>
                  <a:lnTo>
                    <a:pt x="42291" y="378104"/>
                  </a:lnTo>
                  <a:lnTo>
                    <a:pt x="40576" y="376034"/>
                  </a:lnTo>
                  <a:lnTo>
                    <a:pt x="39268" y="373849"/>
                  </a:lnTo>
                  <a:lnTo>
                    <a:pt x="38392" y="372389"/>
                  </a:lnTo>
                  <a:lnTo>
                    <a:pt x="36741" y="368947"/>
                  </a:lnTo>
                  <a:lnTo>
                    <a:pt x="36068" y="366090"/>
                  </a:lnTo>
                  <a:lnTo>
                    <a:pt x="35344" y="362648"/>
                  </a:lnTo>
                  <a:lnTo>
                    <a:pt x="34963" y="359232"/>
                  </a:lnTo>
                  <a:lnTo>
                    <a:pt x="34963" y="69342"/>
                  </a:lnTo>
                  <a:lnTo>
                    <a:pt x="43345" y="47332"/>
                  </a:lnTo>
                  <a:lnTo>
                    <a:pt x="45262" y="45021"/>
                  </a:lnTo>
                  <a:lnTo>
                    <a:pt x="71158" y="35001"/>
                  </a:lnTo>
                  <a:lnTo>
                    <a:pt x="346621" y="35052"/>
                  </a:lnTo>
                  <a:lnTo>
                    <a:pt x="379006" y="57670"/>
                  </a:lnTo>
                  <a:lnTo>
                    <a:pt x="380911" y="67513"/>
                  </a:lnTo>
                  <a:lnTo>
                    <a:pt x="380911" y="9144"/>
                  </a:lnTo>
                  <a:lnTo>
                    <a:pt x="346621" y="0"/>
                  </a:lnTo>
                  <a:lnTo>
                    <a:pt x="69253" y="0"/>
                  </a:lnTo>
                  <a:lnTo>
                    <a:pt x="30518" y="11811"/>
                  </a:lnTo>
                  <a:lnTo>
                    <a:pt x="5372" y="42379"/>
                  </a:lnTo>
                  <a:lnTo>
                    <a:pt x="0" y="67513"/>
                  </a:lnTo>
                  <a:lnTo>
                    <a:pt x="0" y="359232"/>
                  </a:lnTo>
                  <a:lnTo>
                    <a:pt x="11722" y="396138"/>
                  </a:lnTo>
                  <a:lnTo>
                    <a:pt x="42329" y="421284"/>
                  </a:lnTo>
                  <a:lnTo>
                    <a:pt x="69253" y="426720"/>
                  </a:lnTo>
                  <a:lnTo>
                    <a:pt x="346621" y="426720"/>
                  </a:lnTo>
                  <a:lnTo>
                    <a:pt x="385356" y="414909"/>
                  </a:lnTo>
                  <a:lnTo>
                    <a:pt x="406793" y="391718"/>
                  </a:lnTo>
                  <a:lnTo>
                    <a:pt x="407581" y="390423"/>
                  </a:lnTo>
                  <a:lnTo>
                    <a:pt x="408825" y="387858"/>
                  </a:lnTo>
                  <a:lnTo>
                    <a:pt x="410286" y="384848"/>
                  </a:lnTo>
                  <a:lnTo>
                    <a:pt x="410502" y="384429"/>
                  </a:lnTo>
                  <a:lnTo>
                    <a:pt x="410603" y="384136"/>
                  </a:lnTo>
                  <a:lnTo>
                    <a:pt x="412305" y="379374"/>
                  </a:lnTo>
                  <a:lnTo>
                    <a:pt x="412762" y="378104"/>
                  </a:lnTo>
                  <a:lnTo>
                    <a:pt x="413893" y="373849"/>
                  </a:lnTo>
                  <a:lnTo>
                    <a:pt x="414566" y="371373"/>
                  </a:lnTo>
                  <a:lnTo>
                    <a:pt x="415582" y="364515"/>
                  </a:lnTo>
                  <a:lnTo>
                    <a:pt x="415861" y="359232"/>
                  </a:lnTo>
                  <a:lnTo>
                    <a:pt x="415861" y="67513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圖片 15">
            <a:extLst>
              <a:ext uri="{FF2B5EF4-FFF2-40B4-BE49-F238E27FC236}">
                <a16:creationId xmlns:a16="http://schemas.microsoft.com/office/drawing/2014/main" id="{A250B567-F94C-396F-BE7A-C9006244AB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703" y="2721797"/>
            <a:ext cx="7113617" cy="1702308"/>
          </a:xfrm>
          <a:prstGeom prst="rect">
            <a:avLst/>
          </a:prstGeom>
        </p:spPr>
      </p:pic>
      <p:sp>
        <p:nvSpPr>
          <p:cNvPr id="19" name="object 4">
            <a:extLst>
              <a:ext uri="{FF2B5EF4-FFF2-40B4-BE49-F238E27FC236}">
                <a16:creationId xmlns:a16="http://schemas.microsoft.com/office/drawing/2014/main" id="{DCDC4BB9-BDAC-427E-E62A-BF1009ECF4CE}"/>
              </a:ext>
            </a:extLst>
          </p:cNvPr>
          <p:cNvSpPr txBox="1"/>
          <p:nvPr/>
        </p:nvSpPr>
        <p:spPr>
          <a:xfrm>
            <a:off x="1368254" y="4687415"/>
            <a:ext cx="8578597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6240" indent="-384175">
              <a:lnSpc>
                <a:spcPct val="100000"/>
              </a:lnSpc>
              <a:spcBef>
                <a:spcPts val="100"/>
              </a:spcBef>
              <a:buFont typeface="Arial"/>
              <a:buChar char="■"/>
              <a:tabLst>
                <a:tab pos="396240" algn="l"/>
                <a:tab pos="396875" algn="l"/>
              </a:tabLst>
            </a:pPr>
            <a:r>
              <a:rPr sz="2400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Input</a:t>
            </a:r>
            <a:r>
              <a:rPr sz="2400" spc="-5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B: </a:t>
            </a:r>
            <a:r>
              <a:rPr lang="zh-TW" altLang="en-US" sz="2400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將 </a:t>
            </a:r>
            <a:r>
              <a:rPr sz="2400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Input</a:t>
            </a:r>
            <a:r>
              <a:rPr sz="2400" spc="-105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sz="2400" spc="-5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r>
              <a:rPr lang="en-US" sz="2400" spc="-5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sz="2400" spc="140" dirty="0" err="1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訊號固定</a:t>
            </a:r>
            <a:endParaRPr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EAF85124-A4DB-86BD-606A-1BAD3D39CEB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039" y="5279385"/>
            <a:ext cx="7057249" cy="1702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5060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一張含有 文字 的圖片">
            <a:extLst>
              <a:ext uri="{FF2B5EF4-FFF2-40B4-BE49-F238E27FC236}">
                <a16:creationId xmlns:a16="http://schemas.microsoft.com/office/drawing/2014/main" id="{DF206472-52E8-A7F8-34E7-9C6E893170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067" y="663997"/>
            <a:ext cx="6479020" cy="6188482"/>
          </a:xfrm>
          <a:prstGeom prst="rect">
            <a:avLst/>
          </a:prstGeom>
        </p:spPr>
      </p:pic>
      <p:sp>
        <p:nvSpPr>
          <p:cNvPr id="41" name="TextBox 8"/>
          <p:cNvSpPr txBox="1"/>
          <p:nvPr/>
        </p:nvSpPr>
        <p:spPr>
          <a:xfrm>
            <a:off x="273695" y="242796"/>
            <a:ext cx="8027888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TW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Power Measurement (Power)</a:t>
            </a:r>
            <a:endParaRPr lang="zh-CN" altLang="en-US" sz="3200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26A4533E-9826-46B2-FEB0-259EA21F3463}"/>
              </a:ext>
            </a:extLst>
          </p:cNvPr>
          <p:cNvSpPr txBox="1"/>
          <p:nvPr/>
        </p:nvSpPr>
        <p:spPr>
          <a:xfrm>
            <a:off x="60192" y="942236"/>
            <a:ext cx="6355491" cy="5135379"/>
          </a:xfrm>
          <a:prstGeom prst="rect">
            <a:avLst/>
          </a:prstGeom>
        </p:spPr>
        <p:txBody>
          <a:bodyPr vert="horz" wrap="square" lIns="0" tIns="36194" rIns="0" bIns="0" rtlCol="0">
            <a:spAutoFit/>
          </a:bodyPr>
          <a:lstStyle/>
          <a:p>
            <a:pPr marL="396240" indent="-384175">
              <a:lnSpc>
                <a:spcPct val="100000"/>
              </a:lnSpc>
              <a:spcBef>
                <a:spcPts val="284"/>
              </a:spcBef>
              <a:buFont typeface="Arial"/>
              <a:buChar char="■"/>
              <a:tabLst>
                <a:tab pos="396240" algn="l"/>
                <a:tab pos="396875" algn="l"/>
              </a:tabLst>
            </a:pPr>
            <a:r>
              <a:rPr sz="1700" spc="135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</a:t>
            </a:r>
            <a:r>
              <a:rPr sz="1700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*.sp</a:t>
            </a:r>
            <a:r>
              <a:rPr sz="1700" spc="135" dirty="0">
                <a:solidFill>
                  <a:srgbClr val="181B0D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檔中加入以下參數</a:t>
            </a:r>
            <a:endParaRPr sz="17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27100" lvl="1" indent="-384175">
              <a:lnSpc>
                <a:spcPct val="100000"/>
              </a:lnSpc>
              <a:spcBef>
                <a:spcPts val="180"/>
              </a:spcBef>
              <a:buFont typeface="Arial"/>
              <a:buChar char="–"/>
              <a:tabLst>
                <a:tab pos="926465" algn="l"/>
                <a:tab pos="927100" algn="l"/>
              </a:tabLst>
            </a:pPr>
            <a:r>
              <a:rPr sz="1700" spc="14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要測量</a:t>
            </a:r>
            <a:r>
              <a:rPr sz="1700" spc="125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動</a:t>
            </a:r>
            <a:r>
              <a:rPr sz="1700" spc="14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態功</a:t>
            </a:r>
            <a:r>
              <a:rPr sz="1700" spc="125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率</a:t>
            </a:r>
            <a:r>
              <a:rPr sz="1700" spc="14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，需要</a:t>
            </a:r>
            <a:r>
              <a:rPr sz="1700" spc="125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使</a:t>
            </a:r>
            <a:r>
              <a:rPr sz="1700" spc="14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輸入</a:t>
            </a:r>
            <a:r>
              <a:rPr sz="1700" spc="125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端</a:t>
            </a:r>
            <a:r>
              <a:rPr sz="1700" spc="14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電壓值</a:t>
            </a:r>
            <a:r>
              <a:rPr sz="1700" spc="125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浮</a:t>
            </a:r>
            <a:r>
              <a:rPr sz="1700" spc="14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動</a:t>
            </a:r>
            <a:endParaRPr sz="1700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27100" lvl="1" indent="-384175">
              <a:lnSpc>
                <a:spcPct val="100000"/>
              </a:lnSpc>
              <a:spcBef>
                <a:spcPts val="170"/>
              </a:spcBef>
              <a:buFont typeface="Arial"/>
              <a:buChar char="–"/>
              <a:tabLst>
                <a:tab pos="926465" algn="l"/>
                <a:tab pos="927100" algn="l"/>
              </a:tabLst>
            </a:pPr>
            <a:r>
              <a:rPr sz="1700" spc="-25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.PARAM</a:t>
            </a:r>
            <a:endParaRPr sz="1700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42925">
              <a:lnSpc>
                <a:spcPct val="100000"/>
              </a:lnSpc>
              <a:spcBef>
                <a:spcPts val="165"/>
              </a:spcBef>
              <a:tabLst>
                <a:tab pos="926465" algn="l"/>
              </a:tabLst>
            </a:pPr>
            <a:r>
              <a:rPr sz="1700" spc="5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–	</a:t>
            </a:r>
            <a:r>
              <a:rPr sz="1700" spc="-15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+z11 </a:t>
            </a:r>
            <a:r>
              <a:rPr sz="170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</a:t>
            </a:r>
            <a:r>
              <a:rPr sz="1700" spc="-1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sz="170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limit(0.9,0.9) *</a:t>
            </a:r>
            <a:r>
              <a:rPr sz="1700" spc="14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設定它以</a:t>
            </a:r>
            <a:r>
              <a:rPr sz="170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0.9</a:t>
            </a:r>
            <a:r>
              <a:rPr sz="1700" spc="14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為中</a:t>
            </a:r>
            <a:r>
              <a:rPr sz="1700" spc="125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心</a:t>
            </a:r>
            <a:r>
              <a:rPr sz="1700" spc="14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，上</a:t>
            </a:r>
            <a:r>
              <a:rPr sz="1700" spc="125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</a:t>
            </a:r>
            <a:r>
              <a:rPr sz="1700" spc="14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浮</a:t>
            </a:r>
            <a:r>
              <a:rPr sz="1700" spc="135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動</a:t>
            </a:r>
            <a:r>
              <a:rPr sz="1700" spc="-5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0.9</a:t>
            </a:r>
            <a:endParaRPr sz="1700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42925">
              <a:lnSpc>
                <a:spcPct val="100000"/>
              </a:lnSpc>
              <a:spcBef>
                <a:spcPts val="170"/>
              </a:spcBef>
              <a:tabLst>
                <a:tab pos="926465" algn="l"/>
              </a:tabLst>
            </a:pPr>
            <a:r>
              <a:rPr sz="1700" spc="5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–	</a:t>
            </a:r>
            <a:r>
              <a:rPr sz="170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+z12 =</a:t>
            </a:r>
            <a:r>
              <a:rPr sz="1700" spc="-25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sz="170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limit(0.9,0.9)</a:t>
            </a:r>
          </a:p>
          <a:p>
            <a:pPr marL="927100" lvl="1" indent="-384175">
              <a:lnSpc>
                <a:spcPct val="100000"/>
              </a:lnSpc>
              <a:spcBef>
                <a:spcPts val="170"/>
              </a:spcBef>
              <a:buFont typeface="Arial"/>
              <a:buChar char="–"/>
              <a:tabLst>
                <a:tab pos="926465" algn="l"/>
                <a:tab pos="927100" algn="l"/>
              </a:tabLst>
            </a:pPr>
            <a:r>
              <a:rPr sz="1700" spc="14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將輸</a:t>
            </a:r>
            <a:r>
              <a:rPr sz="1700" spc="13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入</a:t>
            </a:r>
            <a:r>
              <a:rPr sz="1700" spc="125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訊</a:t>
            </a:r>
            <a:r>
              <a:rPr sz="1700" spc="14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號改為</a:t>
            </a:r>
            <a:endParaRPr sz="1700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27100" lvl="1" indent="-384175">
              <a:lnSpc>
                <a:spcPct val="100000"/>
              </a:lnSpc>
              <a:spcBef>
                <a:spcPts val="170"/>
              </a:spcBef>
              <a:buFont typeface="Arial"/>
              <a:buChar char="–"/>
              <a:tabLst>
                <a:tab pos="926465" algn="l"/>
                <a:tab pos="927100" algn="l"/>
              </a:tabLst>
            </a:pPr>
            <a:r>
              <a:rPr sz="1700" spc="-5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vin</a:t>
            </a:r>
            <a:r>
              <a:rPr sz="170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sz="1700" spc="-5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</a:t>
            </a:r>
            <a:r>
              <a:rPr sz="1700" spc="-1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sz="170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r>
              <a:rPr sz="1700" spc="5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sz="1700" spc="-1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pulse(z11</a:t>
            </a:r>
            <a:r>
              <a:rPr sz="1700" spc="-2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sz="170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z12</a:t>
            </a:r>
            <a:r>
              <a:rPr sz="1700" spc="-1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sz="170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0n</a:t>
            </a:r>
            <a:r>
              <a:rPr sz="1700" spc="-2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sz="170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</a:t>
            </a: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03</a:t>
            </a:r>
            <a:r>
              <a:rPr sz="170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 </a:t>
            </a:r>
            <a:r>
              <a:rPr sz="1700" dirty="0" err="1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</a:t>
            </a:r>
            <a:r>
              <a:rPr lang="en-US" sz="1700" dirty="0" err="1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03</a:t>
            </a:r>
            <a:r>
              <a:rPr sz="1700" dirty="0" err="1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sz="1700" spc="-15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sz="1700" spc="-15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499.97</a:t>
            </a:r>
            <a:r>
              <a:rPr sz="170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sz="1700" spc="-2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sz="1700" spc="-2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100</a:t>
            </a:r>
            <a:r>
              <a:rPr sz="170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0n)</a:t>
            </a:r>
            <a:endParaRPr lang="en-US" altLang="zh-TW" sz="1700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42925" lvl="1">
              <a:lnSpc>
                <a:spcPct val="100000"/>
              </a:lnSpc>
              <a:spcBef>
                <a:spcPts val="170"/>
              </a:spcBef>
              <a:tabLst>
                <a:tab pos="926465" algn="l"/>
                <a:tab pos="927100" algn="l"/>
              </a:tabLst>
            </a:pPr>
            <a:r>
              <a:rPr lang="en-US" altLang="zh-TW" sz="1700" spc="-1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     </a:t>
            </a:r>
            <a:r>
              <a:rPr sz="1700" spc="-1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sz="170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*</a:t>
            </a:r>
            <a:r>
              <a:rPr sz="1300" spc="10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將電壓源改為參數，使其可以變動</a:t>
            </a:r>
            <a:endParaRPr sz="1300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27100" lvl="1" indent="-384175">
              <a:lnSpc>
                <a:spcPct val="100000"/>
              </a:lnSpc>
              <a:spcBef>
                <a:spcPts val="165"/>
              </a:spcBef>
              <a:buFont typeface="Arial"/>
              <a:buChar char="–"/>
              <a:tabLst>
                <a:tab pos="926465" algn="l"/>
                <a:tab pos="927100" algn="l"/>
              </a:tabLst>
            </a:pPr>
            <a:r>
              <a:rPr sz="17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.MEAS</a:t>
            </a:r>
            <a:r>
              <a:rPr sz="1700" spc="-6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sz="17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TRAN</a:t>
            </a:r>
            <a:r>
              <a:rPr sz="1700" spc="-3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sz="17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average_power</a:t>
            </a:r>
            <a:r>
              <a:rPr sz="1700" spc="-45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sz="17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avg</a:t>
            </a:r>
            <a:r>
              <a:rPr sz="1700" spc="-25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sz="17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power</a:t>
            </a:r>
            <a:endParaRPr lang="en-US" altLang="zh-TW" sz="1700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42925" lvl="1">
              <a:lnSpc>
                <a:spcPct val="100000"/>
              </a:lnSpc>
              <a:spcBef>
                <a:spcPts val="165"/>
              </a:spcBef>
              <a:tabLst>
                <a:tab pos="926465" algn="l"/>
                <a:tab pos="927100" algn="l"/>
              </a:tabLst>
            </a:pPr>
            <a:r>
              <a:rPr lang="en-US" altLang="zh-TW" sz="1700" spc="-5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     </a:t>
            </a:r>
            <a:r>
              <a:rPr sz="1700" spc="-5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sz="130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*</a:t>
            </a:r>
            <a:r>
              <a:rPr sz="1300" spc="140" dirty="0" err="1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設定量測</a:t>
            </a:r>
            <a:r>
              <a:rPr lang="zh-TW" altLang="en-US" sz="1300" spc="14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電路</a:t>
            </a:r>
            <a:r>
              <a:rPr sz="1300" spc="140" dirty="0" err="1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平均</a:t>
            </a:r>
            <a:r>
              <a:rPr lang="zh-TW" altLang="en-US" sz="1300" spc="14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消耗</a:t>
            </a:r>
            <a:r>
              <a:rPr sz="1300" spc="140" dirty="0" err="1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功率</a:t>
            </a:r>
            <a:endParaRPr sz="1300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27100" lvl="1" indent="-384175">
              <a:lnSpc>
                <a:spcPct val="100000"/>
              </a:lnSpc>
              <a:spcBef>
                <a:spcPts val="170"/>
              </a:spcBef>
              <a:buFont typeface="Arial"/>
              <a:buChar char="–"/>
              <a:tabLst>
                <a:tab pos="926465" algn="l"/>
                <a:tab pos="927100" algn="l"/>
              </a:tabLst>
            </a:pPr>
            <a:r>
              <a:rPr sz="17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.MEAS</a:t>
            </a:r>
            <a:r>
              <a:rPr sz="1700" spc="-6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sz="17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TRAN</a:t>
            </a:r>
            <a:r>
              <a:rPr sz="1700" spc="-3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sz="17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min_power</a:t>
            </a:r>
            <a:r>
              <a:rPr sz="1700" spc="-25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sz="1700" spc="-5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min</a:t>
            </a:r>
            <a:r>
              <a:rPr sz="1700" spc="5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sz="17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power</a:t>
            </a:r>
            <a:r>
              <a:rPr sz="1700" spc="42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1700" spc="420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42925" lvl="1">
              <a:lnSpc>
                <a:spcPct val="100000"/>
              </a:lnSpc>
              <a:spcBef>
                <a:spcPts val="170"/>
              </a:spcBef>
              <a:tabLst>
                <a:tab pos="926465" algn="l"/>
                <a:tab pos="927100" algn="l"/>
              </a:tabLst>
            </a:pPr>
            <a:r>
              <a:rPr lang="en-US" altLang="zh-TW" sz="1700" spc="42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</a:t>
            </a:r>
            <a:r>
              <a:rPr sz="130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*</a:t>
            </a:r>
            <a:r>
              <a:rPr sz="1300" spc="140" dirty="0" err="1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設定量測</a:t>
            </a:r>
            <a:r>
              <a:rPr lang="zh-TW" altLang="en-US" sz="1300" spc="14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電路</a:t>
            </a:r>
            <a:r>
              <a:rPr sz="1300" spc="140" dirty="0" err="1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最小功率</a:t>
            </a:r>
            <a:endParaRPr sz="1300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27100" lvl="1" indent="-384175">
              <a:lnSpc>
                <a:spcPct val="100000"/>
              </a:lnSpc>
              <a:spcBef>
                <a:spcPts val="180"/>
              </a:spcBef>
              <a:buFont typeface="Arial"/>
              <a:buChar char="–"/>
              <a:tabLst>
                <a:tab pos="926465" algn="l"/>
                <a:tab pos="927100" algn="l"/>
              </a:tabLst>
            </a:pPr>
            <a:r>
              <a:rPr sz="17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.MEAS</a:t>
            </a:r>
            <a:r>
              <a:rPr sz="1700" spc="-6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sz="17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TRAN</a:t>
            </a:r>
            <a:r>
              <a:rPr sz="1700" spc="-3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sz="17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max_power</a:t>
            </a:r>
            <a:r>
              <a:rPr sz="1700" spc="-35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sz="17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max</a:t>
            </a:r>
            <a:r>
              <a:rPr sz="1700" spc="-1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sz="17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power</a:t>
            </a:r>
            <a:r>
              <a:rPr sz="1700" spc="42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1700" spc="420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42925" lvl="1">
              <a:lnSpc>
                <a:spcPct val="100000"/>
              </a:lnSpc>
              <a:spcBef>
                <a:spcPts val="180"/>
              </a:spcBef>
              <a:tabLst>
                <a:tab pos="926465" algn="l"/>
                <a:tab pos="927100" algn="l"/>
              </a:tabLst>
            </a:pPr>
            <a:r>
              <a:rPr lang="en-US" altLang="zh-TW" sz="1700" spc="42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</a:t>
            </a:r>
            <a:r>
              <a:rPr sz="130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*</a:t>
            </a:r>
            <a:r>
              <a:rPr sz="1300" spc="140" dirty="0" err="1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設定量測</a:t>
            </a:r>
            <a:r>
              <a:rPr lang="zh-TW" altLang="en-US" sz="1300" spc="14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電路</a:t>
            </a:r>
            <a:r>
              <a:rPr sz="1300" spc="140" dirty="0" err="1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最大功率</a:t>
            </a:r>
            <a:endParaRPr lang="en-US" sz="1300" spc="140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27100" lvl="1" indent="-384175">
              <a:lnSpc>
                <a:spcPct val="100000"/>
              </a:lnSpc>
              <a:spcBef>
                <a:spcPts val="180"/>
              </a:spcBef>
              <a:buFont typeface="Arial"/>
              <a:buChar char="–"/>
              <a:tabLst>
                <a:tab pos="926465" algn="l"/>
                <a:tab pos="927100" algn="l"/>
              </a:tabLst>
            </a:pPr>
            <a:r>
              <a:rPr lang="en-US" altLang="zh-TW" sz="17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.MEAS</a:t>
            </a:r>
            <a:r>
              <a:rPr lang="en-US" altLang="zh-TW" sz="1700" spc="-6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7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TRAN</a:t>
            </a:r>
            <a:r>
              <a:rPr lang="en-US" altLang="zh-TW" sz="1700" spc="-3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700" spc="-30" dirty="0" err="1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src</a:t>
            </a:r>
            <a:r>
              <a:rPr lang="en-US" altLang="zh-TW" sz="1700" dirty="0" err="1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_power</a:t>
            </a:r>
            <a:r>
              <a:rPr lang="en-US" altLang="zh-TW" sz="1700" spc="-35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avg</a:t>
            </a:r>
            <a:r>
              <a:rPr lang="en-US" altLang="zh-TW" sz="1700" spc="-1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SRC_PWR</a:t>
            </a:r>
            <a:r>
              <a:rPr lang="en-US" altLang="zh-TW" sz="1700" spc="42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</a:p>
          <a:p>
            <a:pPr marL="542925" lvl="1">
              <a:lnSpc>
                <a:spcPct val="100000"/>
              </a:lnSpc>
              <a:spcBef>
                <a:spcPts val="180"/>
              </a:spcBef>
              <a:tabLst>
                <a:tab pos="926465" algn="l"/>
                <a:tab pos="927100" algn="l"/>
              </a:tabLst>
            </a:pPr>
            <a:r>
              <a:rPr lang="en-US" altLang="zh-TW" spc="42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</a:t>
            </a:r>
            <a:r>
              <a:rPr lang="en-US" altLang="zh-TW" sz="130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*</a:t>
            </a:r>
            <a:r>
              <a:rPr lang="zh-TW" altLang="en-US" sz="1300" spc="14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設定量測電源與輸入訊號之功率總和</a:t>
            </a:r>
            <a:endParaRPr lang="en-US" altLang="zh-TW" sz="1300" spc="140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27100" lvl="1" indent="-384175">
              <a:lnSpc>
                <a:spcPct val="100000"/>
              </a:lnSpc>
              <a:spcBef>
                <a:spcPts val="165"/>
              </a:spcBef>
              <a:buFont typeface="Arial"/>
              <a:buChar char="–"/>
              <a:tabLst>
                <a:tab pos="926465" algn="l"/>
                <a:tab pos="927100" algn="l"/>
              </a:tabLst>
            </a:pPr>
            <a:r>
              <a:rPr lang="zh-TW" altLang="en-US" sz="1700" spc="135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在最後新</a:t>
            </a:r>
            <a:r>
              <a:rPr lang="zh-TW" altLang="en-US" sz="1700" spc="14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增</a:t>
            </a:r>
            <a:r>
              <a:rPr lang="zh-TW" altLang="en-US" sz="1700" spc="-11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sz="1700" spc="-45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START</a:t>
            </a:r>
            <a:r>
              <a:rPr lang="en-US" sz="1700" spc="-65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</a:t>
            </a:r>
            <a:r>
              <a:rPr lang="en-US" sz="1700" spc="-1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 sweep</a:t>
            </a:r>
            <a:r>
              <a:rPr lang="en-US" sz="1700" spc="-2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monte=100</a:t>
            </a:r>
          </a:p>
          <a:p>
            <a:pPr marL="542925" lvl="1">
              <a:lnSpc>
                <a:spcPct val="100000"/>
              </a:lnSpc>
              <a:spcBef>
                <a:spcPts val="175"/>
              </a:spcBef>
              <a:tabLst>
                <a:tab pos="926465" algn="l"/>
                <a:tab pos="927100" algn="l"/>
              </a:tabLst>
            </a:pPr>
            <a:r>
              <a:rPr lang="en-US" altLang="zh-TW" sz="130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         *</a:t>
            </a:r>
            <a:r>
              <a:rPr sz="130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Hspice</a:t>
            </a:r>
            <a:r>
              <a:rPr sz="1300" spc="14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會連續執</a:t>
            </a:r>
            <a:r>
              <a:rPr sz="1300" spc="13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行</a:t>
            </a:r>
            <a:r>
              <a:rPr sz="130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100</a:t>
            </a:r>
            <a:r>
              <a:rPr sz="1300" spc="14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次</a:t>
            </a:r>
            <a:endParaRPr sz="1300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E941430-7F2B-D2C8-41C6-38C380F55E5E}"/>
              </a:ext>
            </a:extLst>
          </p:cNvPr>
          <p:cNvSpPr/>
          <p:nvPr/>
        </p:nvSpPr>
        <p:spPr>
          <a:xfrm>
            <a:off x="6357367" y="5056485"/>
            <a:ext cx="3419822" cy="18894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DD9A3D3-4C4D-1D84-2516-2CFFFA0E2AFF}"/>
              </a:ext>
            </a:extLst>
          </p:cNvPr>
          <p:cNvSpPr/>
          <p:nvPr/>
        </p:nvSpPr>
        <p:spPr>
          <a:xfrm>
            <a:off x="6327601" y="3886669"/>
            <a:ext cx="4494262" cy="3600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2C8B0C7-1F74-B8FB-86D0-B73C48355003}"/>
              </a:ext>
            </a:extLst>
          </p:cNvPr>
          <p:cNvSpPr/>
          <p:nvPr/>
        </p:nvSpPr>
        <p:spPr>
          <a:xfrm>
            <a:off x="6321921" y="2187778"/>
            <a:ext cx="1691630" cy="4924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698208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1AFE5C2D-CE64-68D7-6286-C18FD3A32D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87" y="1384076"/>
            <a:ext cx="6552728" cy="5802057"/>
          </a:xfrm>
          <a:prstGeom prst="rect">
            <a:avLst/>
          </a:prstGeom>
        </p:spPr>
      </p:pic>
      <p:sp>
        <p:nvSpPr>
          <p:cNvPr id="41" name="TextBox 8"/>
          <p:cNvSpPr txBox="1"/>
          <p:nvPr/>
        </p:nvSpPr>
        <p:spPr>
          <a:xfrm>
            <a:off x="273695" y="242796"/>
            <a:ext cx="8027888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TW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Power Measurement (Power)</a:t>
            </a:r>
            <a:endParaRPr lang="zh-CN" altLang="en-US" sz="3200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" name="內容版面配置區 3">
            <a:extLst>
              <a:ext uri="{FF2B5EF4-FFF2-40B4-BE49-F238E27FC236}">
                <a16:creationId xmlns:a16="http://schemas.microsoft.com/office/drawing/2014/main" id="{18A9F647-456F-C7C2-0940-0388FD57D79F}"/>
              </a:ext>
            </a:extLst>
          </p:cNvPr>
          <p:cNvSpPr>
            <a:spLocks noGrp="1"/>
          </p:cNvSpPr>
          <p:nvPr/>
        </p:nvSpPr>
        <p:spPr>
          <a:xfrm>
            <a:off x="90494" y="826158"/>
            <a:ext cx="12677761" cy="602603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zh-TW" altLang="en-US" sz="2800" dirty="0">
                <a:ea typeface="標楷體" panose="03000509000000000000" pitchFamily="65" charset="-120"/>
              </a:rPr>
              <a:t>加入 </a:t>
            </a:r>
            <a:r>
              <a:rPr lang="en-US" altLang="zh-TW" sz="2800" dirty="0">
                <a:ea typeface="標楷體" panose="03000509000000000000" pitchFamily="65" charset="-120"/>
              </a:rPr>
              <a:t>Power</a:t>
            </a:r>
            <a:r>
              <a:rPr lang="zh-TW" altLang="en-US" sz="2800" dirty="0">
                <a:ea typeface="標楷體" panose="03000509000000000000" pitchFamily="65" charset="-120"/>
              </a:rPr>
              <a:t> 相關量測指令後，即可在</a:t>
            </a:r>
            <a:r>
              <a:rPr lang="en-US" altLang="zh-TW" sz="2800" dirty="0">
                <a:ea typeface="標楷體" panose="03000509000000000000" pitchFamily="65" charset="-120"/>
              </a:rPr>
              <a:t>.</a:t>
            </a:r>
            <a:r>
              <a:rPr lang="en-US" altLang="zh-TW" sz="2800" dirty="0" err="1">
                <a:ea typeface="標楷體" panose="03000509000000000000" pitchFamily="65" charset="-120"/>
              </a:rPr>
              <a:t>lis</a:t>
            </a:r>
            <a:r>
              <a:rPr lang="zh-TW" altLang="en-US" sz="2800" dirty="0">
                <a:ea typeface="標楷體" panose="03000509000000000000" pitchFamily="65" charset="-120"/>
              </a:rPr>
              <a:t>檔內看到以下 </a:t>
            </a:r>
            <a:r>
              <a:rPr lang="en-US" altLang="zh-TW" sz="2800" dirty="0">
                <a:ea typeface="標楷體" panose="03000509000000000000" pitchFamily="65" charset="-120"/>
              </a:rPr>
              <a:t>Power </a:t>
            </a:r>
            <a:r>
              <a:rPr lang="zh-TW" altLang="en-US" sz="2800" dirty="0">
                <a:ea typeface="標楷體" panose="03000509000000000000" pitchFamily="65" charset="-120"/>
              </a:rPr>
              <a:t>資訊</a:t>
            </a:r>
            <a:endParaRPr lang="en-US" altLang="zh-TW" sz="2800" dirty="0">
              <a:ea typeface="標楷體" panose="03000509000000000000" pitchFamily="65" charset="-12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D3B85BE-2421-B75C-75DA-A689F006CB78}"/>
              </a:ext>
            </a:extLst>
          </p:cNvPr>
          <p:cNvSpPr/>
          <p:nvPr/>
        </p:nvSpPr>
        <p:spPr>
          <a:xfrm>
            <a:off x="236687" y="3135613"/>
            <a:ext cx="3091501" cy="23014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B3F7EC6-425E-3021-B83E-9D661C2F790F}"/>
              </a:ext>
            </a:extLst>
          </p:cNvPr>
          <p:cNvSpPr/>
          <p:nvPr/>
        </p:nvSpPr>
        <p:spPr>
          <a:xfrm>
            <a:off x="236712" y="6151175"/>
            <a:ext cx="3096344" cy="23014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A86BF2B5-12C4-BF44-5EF2-9CA94E804ECA}"/>
              </a:ext>
            </a:extLst>
          </p:cNvPr>
          <p:cNvSpPr txBox="1"/>
          <p:nvPr/>
        </p:nvSpPr>
        <p:spPr>
          <a:xfrm>
            <a:off x="6613845" y="3383092"/>
            <a:ext cx="56405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min_power</a:t>
            </a:r>
            <a:r>
              <a:rPr lang="en-US" altLang="zh-TW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內的 </a:t>
            </a:r>
            <a:r>
              <a:rPr lang="en-US" altLang="zh-TW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mean </a:t>
            </a:r>
            <a:r>
              <a:rPr lang="zh-TW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為 </a:t>
            </a:r>
            <a:r>
              <a:rPr lang="en-US" altLang="zh-TW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Leakage Power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D98B33F2-8E5E-3285-25F7-1BAF12EC44AC}"/>
              </a:ext>
            </a:extLst>
          </p:cNvPr>
          <p:cNvSpPr txBox="1"/>
          <p:nvPr/>
        </p:nvSpPr>
        <p:spPr>
          <a:xfrm>
            <a:off x="6613845" y="6347054"/>
            <a:ext cx="50704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src_power</a:t>
            </a:r>
            <a:r>
              <a:rPr lang="en-US" altLang="zh-TW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內的 </a:t>
            </a:r>
            <a:r>
              <a:rPr lang="en-US" altLang="zh-TW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mean </a:t>
            </a:r>
            <a:r>
              <a:rPr lang="zh-TW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為 </a:t>
            </a:r>
            <a:r>
              <a:rPr lang="en-US" altLang="zh-TW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Total Power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113B90D6-4B67-3755-3398-E1A11904DE86}"/>
              </a:ext>
            </a:extLst>
          </p:cNvPr>
          <p:cNvSpPr txBox="1"/>
          <p:nvPr/>
        </p:nvSpPr>
        <p:spPr>
          <a:xfrm>
            <a:off x="5637287" y="291101"/>
            <a:ext cx="65348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Total Power = Dynamic Power + Leakage Power</a:t>
            </a:r>
          </a:p>
        </p:txBody>
      </p:sp>
    </p:spTree>
    <p:extLst>
      <p:ext uri="{BB962C8B-B14F-4D97-AF65-F5344CB8AC3E}">
        <p14:creationId xmlns:p14="http://schemas.microsoft.com/office/powerpoint/2010/main" val="21847885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8"/>
          <p:cNvSpPr txBox="1"/>
          <p:nvPr/>
        </p:nvSpPr>
        <p:spPr>
          <a:xfrm>
            <a:off x="273695" y="242796"/>
            <a:ext cx="8027888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TW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Waveform Analysis</a:t>
            </a:r>
            <a:endParaRPr lang="zh-CN" altLang="en-US" sz="3200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2" name="內容版面配置區 3">
            <a:extLst>
              <a:ext uri="{FF2B5EF4-FFF2-40B4-BE49-F238E27FC236}">
                <a16:creationId xmlns:a16="http://schemas.microsoft.com/office/drawing/2014/main" id="{600F0A9B-5197-B727-BE5C-961AF21E7DFF}"/>
              </a:ext>
            </a:extLst>
          </p:cNvPr>
          <p:cNvSpPr>
            <a:spLocks noGrp="1"/>
          </p:cNvSpPr>
          <p:nvPr/>
        </p:nvSpPr>
        <p:spPr>
          <a:xfrm>
            <a:off x="92671" y="1096046"/>
            <a:ext cx="12677761" cy="648071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zh-TW" sz="3200" dirty="0">
                <a:ea typeface="標楷體" panose="03000509000000000000" pitchFamily="65" charset="-120"/>
              </a:rPr>
              <a:t>Terminal </a:t>
            </a:r>
            <a:r>
              <a:rPr lang="zh-TW" altLang="en-US" sz="3200" dirty="0">
                <a:ea typeface="標楷體" panose="03000509000000000000" pitchFamily="65" charset="-120"/>
              </a:rPr>
              <a:t>下輸入 </a:t>
            </a:r>
            <a:r>
              <a:rPr lang="en-US" altLang="zh-TW" sz="3200" dirty="0">
                <a:solidFill>
                  <a:srgbClr val="FF0000"/>
                </a:solidFill>
                <a:ea typeface="標楷體" panose="03000509000000000000" pitchFamily="65" charset="-120"/>
              </a:rPr>
              <a:t>scope &amp;</a:t>
            </a:r>
          </a:p>
        </p:txBody>
      </p:sp>
      <p:grpSp>
        <p:nvGrpSpPr>
          <p:cNvPr id="4" name="object 3">
            <a:extLst>
              <a:ext uri="{FF2B5EF4-FFF2-40B4-BE49-F238E27FC236}">
                <a16:creationId xmlns:a16="http://schemas.microsoft.com/office/drawing/2014/main" id="{3EC7C3B7-8311-41C8-5910-128C57251491}"/>
              </a:ext>
            </a:extLst>
          </p:cNvPr>
          <p:cNvGrpSpPr/>
          <p:nvPr/>
        </p:nvGrpSpPr>
        <p:grpSpPr>
          <a:xfrm>
            <a:off x="1856232" y="2071116"/>
            <a:ext cx="3698875" cy="4490085"/>
            <a:chOff x="1856232" y="2071116"/>
            <a:chExt cx="3698875" cy="4490085"/>
          </a:xfrm>
        </p:grpSpPr>
        <p:sp>
          <p:nvSpPr>
            <p:cNvPr id="5" name="object 4">
              <a:extLst>
                <a:ext uri="{FF2B5EF4-FFF2-40B4-BE49-F238E27FC236}">
                  <a16:creationId xmlns:a16="http://schemas.microsoft.com/office/drawing/2014/main" id="{CC5C1FFF-D82C-6313-396B-6C6BA1F53547}"/>
                </a:ext>
              </a:extLst>
            </p:cNvPr>
            <p:cNvSpPr/>
            <p:nvPr/>
          </p:nvSpPr>
          <p:spPr>
            <a:xfrm>
              <a:off x="1856232" y="2071116"/>
              <a:ext cx="3698748" cy="448970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DCB3862F-F346-0D18-1F13-1AF959A2AC93}"/>
                </a:ext>
              </a:extLst>
            </p:cNvPr>
            <p:cNvSpPr/>
            <p:nvPr/>
          </p:nvSpPr>
          <p:spPr>
            <a:xfrm>
              <a:off x="3522803" y="2678430"/>
              <a:ext cx="857934" cy="23317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" name="圖片 12">
            <a:extLst>
              <a:ext uri="{FF2B5EF4-FFF2-40B4-BE49-F238E27FC236}">
                <a16:creationId xmlns:a16="http://schemas.microsoft.com/office/drawing/2014/main" id="{84F90239-C693-317E-9CB0-E8B0A0EA92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9375" y="2071116"/>
            <a:ext cx="5305358" cy="3532592"/>
          </a:xfrm>
          <a:prstGeom prst="rect">
            <a:avLst/>
          </a:prstGeom>
        </p:spPr>
      </p:pic>
      <p:sp>
        <p:nvSpPr>
          <p:cNvPr id="14" name="TextBox 8">
            <a:extLst>
              <a:ext uri="{FF2B5EF4-FFF2-40B4-BE49-F238E27FC236}">
                <a16:creationId xmlns:a16="http://schemas.microsoft.com/office/drawing/2014/main" id="{F88788DB-B743-7457-007C-4124200F0A90}"/>
              </a:ext>
            </a:extLst>
          </p:cNvPr>
          <p:cNvSpPr txBox="1"/>
          <p:nvPr/>
        </p:nvSpPr>
        <p:spPr>
          <a:xfrm>
            <a:off x="3117007" y="2678430"/>
            <a:ext cx="339377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TW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1.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06BCCD5-8383-E89C-9907-22F910AB5C77}"/>
              </a:ext>
            </a:extLst>
          </p:cNvPr>
          <p:cNvSpPr/>
          <p:nvPr/>
        </p:nvSpPr>
        <p:spPr>
          <a:xfrm>
            <a:off x="7509495" y="5128493"/>
            <a:ext cx="3493023" cy="43204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992DC9EC-D343-3E2D-78F6-F1018AC364E0}"/>
              </a:ext>
            </a:extLst>
          </p:cNvPr>
          <p:cNvSpPr txBox="1"/>
          <p:nvPr/>
        </p:nvSpPr>
        <p:spPr>
          <a:xfrm>
            <a:off x="7168671" y="4886627"/>
            <a:ext cx="339377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TW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2.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181B0F8-39BC-063D-8FF9-46376E2A1BE8}"/>
              </a:ext>
            </a:extLst>
          </p:cNvPr>
          <p:cNvSpPr/>
          <p:nvPr/>
        </p:nvSpPr>
        <p:spPr>
          <a:xfrm>
            <a:off x="9741743" y="4099944"/>
            <a:ext cx="1260775" cy="23646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TextBox 8">
            <a:extLst>
              <a:ext uri="{FF2B5EF4-FFF2-40B4-BE49-F238E27FC236}">
                <a16:creationId xmlns:a16="http://schemas.microsoft.com/office/drawing/2014/main" id="{8FB63C47-C41C-878D-09F1-B27D82998FF5}"/>
              </a:ext>
            </a:extLst>
          </p:cNvPr>
          <p:cNvSpPr txBox="1"/>
          <p:nvPr/>
        </p:nvSpPr>
        <p:spPr>
          <a:xfrm>
            <a:off x="9402366" y="3971952"/>
            <a:ext cx="339377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TW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3.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20" name="object 12">
            <a:extLst>
              <a:ext uri="{FF2B5EF4-FFF2-40B4-BE49-F238E27FC236}">
                <a16:creationId xmlns:a16="http://schemas.microsoft.com/office/drawing/2014/main" id="{881DFCA1-7CE9-04E3-F855-9EC5A065BAFC}"/>
              </a:ext>
            </a:extLst>
          </p:cNvPr>
          <p:cNvSpPr txBox="1"/>
          <p:nvPr/>
        </p:nvSpPr>
        <p:spPr>
          <a:xfrm>
            <a:off x="6419800" y="5692264"/>
            <a:ext cx="5631325" cy="11510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200000"/>
              </a:lnSpc>
              <a:spcBef>
                <a:spcPts val="5"/>
              </a:spcBef>
            </a:pPr>
            <a:r>
              <a:rPr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hspice</a:t>
            </a:r>
            <a:r>
              <a:rPr sz="2000" spc="14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的波形檔副檔名</a:t>
            </a:r>
            <a:r>
              <a:rPr sz="2000" spc="12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為</a:t>
            </a:r>
            <a:r>
              <a:rPr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.tr0</a:t>
            </a:r>
            <a:r>
              <a:rPr sz="2000" spc="-2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(.tr1,</a:t>
            </a:r>
            <a:r>
              <a:rPr sz="2000" spc="-2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.tr2 </a:t>
            </a:r>
            <a:r>
              <a:rPr sz="2000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…</a:t>
            </a:r>
            <a:r>
              <a:rPr sz="2000" spc="14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等</a:t>
            </a:r>
            <a:r>
              <a:rPr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  </a:t>
            </a:r>
            <a:r>
              <a:rPr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nanosim</a:t>
            </a:r>
            <a:r>
              <a:rPr sz="2000" spc="14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的波形副檔名為</a:t>
            </a:r>
            <a:r>
              <a:rPr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.fsdb</a:t>
            </a:r>
            <a:r>
              <a:rPr sz="2000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(.fsdb1,</a:t>
            </a:r>
            <a:r>
              <a:rPr sz="2000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.fsdb2</a:t>
            </a:r>
            <a:r>
              <a:rPr sz="2000" spc="-2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…</a:t>
            </a:r>
            <a:r>
              <a:rPr sz="2000" spc="14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等</a:t>
            </a:r>
            <a:r>
              <a:rPr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373311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8"/>
          <p:cNvSpPr txBox="1"/>
          <p:nvPr/>
        </p:nvSpPr>
        <p:spPr>
          <a:xfrm>
            <a:off x="273695" y="242796"/>
            <a:ext cx="8027888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TW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Waveform Analysis</a:t>
            </a:r>
            <a:endParaRPr lang="zh-CN" altLang="en-US" sz="3200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7E29F105-30CD-2DE0-891A-37901F1F04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5860" y="200622"/>
            <a:ext cx="7344816" cy="6872087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79EC577B-25D8-A59B-B3C6-D1815397705B}"/>
              </a:ext>
            </a:extLst>
          </p:cNvPr>
          <p:cNvSpPr/>
          <p:nvPr/>
        </p:nvSpPr>
        <p:spPr>
          <a:xfrm>
            <a:off x="8517607" y="4192389"/>
            <a:ext cx="1440160" cy="3600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597D9E37-2845-ECB0-2D47-437DF1A9321B}"/>
              </a:ext>
            </a:extLst>
          </p:cNvPr>
          <p:cNvSpPr txBox="1"/>
          <p:nvPr/>
        </p:nvSpPr>
        <p:spPr>
          <a:xfrm>
            <a:off x="5781303" y="4170273"/>
            <a:ext cx="2664296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2400" spc="140" dirty="0" err="1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cwTeXHeiBold"/>
              </a:rPr>
              <a:t>雙擊即</a:t>
            </a:r>
            <a:r>
              <a:rPr lang="zh-TW" altLang="en-US" sz="2400" spc="14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cwTeXHeiBold"/>
              </a:rPr>
              <a:t>可</a:t>
            </a:r>
            <a:r>
              <a:rPr sz="2400" spc="140" dirty="0" err="1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cwTeXHeiBold"/>
              </a:rPr>
              <a:t>出現波形</a:t>
            </a:r>
            <a:endParaRPr sz="2400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cwTeXHeiBold"/>
            </a:endParaRPr>
          </a:p>
        </p:txBody>
      </p:sp>
    </p:spTree>
    <p:extLst>
      <p:ext uri="{BB962C8B-B14F-4D97-AF65-F5344CB8AC3E}">
        <p14:creationId xmlns:p14="http://schemas.microsoft.com/office/powerpoint/2010/main" val="12014471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8"/>
          <p:cNvSpPr txBox="1"/>
          <p:nvPr/>
        </p:nvSpPr>
        <p:spPr>
          <a:xfrm>
            <a:off x="273695" y="242796"/>
            <a:ext cx="8027888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TW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Waveform Analysis</a:t>
            </a:r>
            <a:endParaRPr lang="zh-CN" altLang="en-US" sz="3200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40651C8A-C444-648D-2D20-40ECF4F49460}"/>
              </a:ext>
            </a:extLst>
          </p:cNvPr>
          <p:cNvSpPr txBox="1"/>
          <p:nvPr/>
        </p:nvSpPr>
        <p:spPr>
          <a:xfrm>
            <a:off x="3870430" y="272219"/>
            <a:ext cx="6372708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zh-TW" altLang="en-US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量測波型時間 </a:t>
            </a:r>
            <a:r>
              <a:rPr lang="en-US" altLang="zh-TW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(</a:t>
            </a:r>
            <a:r>
              <a:rPr lang="zh-TW" altLang="en-US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以 </a:t>
            </a:r>
            <a:r>
              <a:rPr lang="en-US" altLang="zh-TW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50% </a:t>
            </a:r>
            <a:r>
              <a:rPr lang="en-US" altLang="zh-TW" sz="3200" b="1" dirty="0" err="1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vdd</a:t>
            </a:r>
            <a:r>
              <a:rPr lang="en-US" altLang="zh-TW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zh-TW" altLang="en-US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為例</a:t>
            </a:r>
            <a:r>
              <a:rPr lang="en-US" altLang="zh-TW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)</a:t>
            </a:r>
            <a:endParaRPr lang="zh-CN" altLang="en-US" sz="3200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7CE310D-520D-4E96-1B67-E9B2A410A2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24" y="1487057"/>
            <a:ext cx="12406039" cy="565766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30CBA71-AB88-F3E6-A6AD-3088E0519655}"/>
              </a:ext>
            </a:extLst>
          </p:cNvPr>
          <p:cNvSpPr/>
          <p:nvPr/>
        </p:nvSpPr>
        <p:spPr>
          <a:xfrm>
            <a:off x="12107676" y="1913176"/>
            <a:ext cx="514387" cy="2880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FC0CD3FE-38E5-9A19-D9D5-A52DCDB6C622}"/>
              </a:ext>
            </a:extLst>
          </p:cNvPr>
          <p:cNvSpPr txBox="1"/>
          <p:nvPr/>
        </p:nvSpPr>
        <p:spPr>
          <a:xfrm>
            <a:off x="12282686" y="2201208"/>
            <a:ext cx="339377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TW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1.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0" name="內容版面配置區 3">
            <a:extLst>
              <a:ext uri="{FF2B5EF4-FFF2-40B4-BE49-F238E27FC236}">
                <a16:creationId xmlns:a16="http://schemas.microsoft.com/office/drawing/2014/main" id="{1193357F-48B7-235C-7645-95EE4366F08C}"/>
              </a:ext>
            </a:extLst>
          </p:cNvPr>
          <p:cNvSpPr>
            <a:spLocks noGrp="1"/>
          </p:cNvSpPr>
          <p:nvPr/>
        </p:nvSpPr>
        <p:spPr>
          <a:xfrm>
            <a:off x="90493" y="867642"/>
            <a:ext cx="12677761" cy="516435"/>
          </a:xfrm>
          <a:prstGeom prst="rect">
            <a:avLst/>
          </a:prstGeom>
        </p:spPr>
        <p:txBody>
          <a:bodyPr vert="horz">
            <a:normAutofit fontScale="92500" lnSpcReduction="1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zh-TW" altLang="en-US" sz="3200" dirty="0">
                <a:ea typeface="標楷體" panose="03000509000000000000" pitchFamily="65" charset="-120"/>
              </a:rPr>
              <a:t>按下 </a:t>
            </a:r>
            <a:r>
              <a:rPr lang="en-US" altLang="zh-TW" sz="3200" dirty="0">
                <a:ea typeface="標楷體" panose="03000509000000000000" pitchFamily="65" charset="-120"/>
              </a:rPr>
              <a:t>”M”</a:t>
            </a:r>
            <a:r>
              <a:rPr lang="zh-TW" altLang="en-US" sz="3200" dirty="0">
                <a:ea typeface="標楷體" panose="03000509000000000000" pitchFamily="65" charset="-120"/>
              </a:rPr>
              <a:t> 即可跳出 </a:t>
            </a:r>
            <a:r>
              <a:rPr lang="en-US" altLang="zh-TW" sz="3200" dirty="0">
                <a:ea typeface="標楷體" panose="03000509000000000000" pitchFamily="65" charset="-120"/>
              </a:rPr>
              <a:t>Measurement </a:t>
            </a:r>
            <a:r>
              <a:rPr lang="zh-TW" altLang="en-US" sz="3200" dirty="0">
                <a:ea typeface="標楷體" panose="03000509000000000000" pitchFamily="65" charset="-120"/>
              </a:rPr>
              <a:t>視窗</a:t>
            </a:r>
            <a:endParaRPr lang="en-US" altLang="zh-TW" sz="3200" dirty="0">
              <a:ea typeface="標楷體" panose="03000509000000000000" pitchFamily="65" charset="-12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42B4B1F-8C49-41DD-FCEA-C2772F2E5E9D}"/>
              </a:ext>
            </a:extLst>
          </p:cNvPr>
          <p:cNvSpPr/>
          <p:nvPr/>
        </p:nvSpPr>
        <p:spPr>
          <a:xfrm>
            <a:off x="7941543" y="2303413"/>
            <a:ext cx="1152128" cy="23279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D11CD7D0-C9F5-170F-1E00-BE388E0B8C4C}"/>
              </a:ext>
            </a:extLst>
          </p:cNvPr>
          <p:cNvSpPr txBox="1"/>
          <p:nvPr/>
        </p:nvSpPr>
        <p:spPr>
          <a:xfrm>
            <a:off x="6717407" y="867642"/>
            <a:ext cx="339377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TW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2.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8C020918-19D6-C622-1BB1-0300CF474AC3}"/>
              </a:ext>
            </a:extLst>
          </p:cNvPr>
          <p:cNvSpPr txBox="1"/>
          <p:nvPr/>
        </p:nvSpPr>
        <p:spPr>
          <a:xfrm>
            <a:off x="8229575" y="1888133"/>
            <a:ext cx="339377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TW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3.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44248CA-0ADF-EC82-38AD-4C1A6E9F3D55}"/>
              </a:ext>
            </a:extLst>
          </p:cNvPr>
          <p:cNvSpPr/>
          <p:nvPr/>
        </p:nvSpPr>
        <p:spPr>
          <a:xfrm>
            <a:off x="7247135" y="2820899"/>
            <a:ext cx="1846536" cy="23279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TextBox 8">
            <a:extLst>
              <a:ext uri="{FF2B5EF4-FFF2-40B4-BE49-F238E27FC236}">
                <a16:creationId xmlns:a16="http://schemas.microsoft.com/office/drawing/2014/main" id="{B9C67582-D83E-9409-E00F-18C571C9D5F3}"/>
              </a:ext>
            </a:extLst>
          </p:cNvPr>
          <p:cNvSpPr txBox="1"/>
          <p:nvPr/>
        </p:nvSpPr>
        <p:spPr>
          <a:xfrm>
            <a:off x="9207983" y="2691073"/>
            <a:ext cx="339377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TW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4.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E5318A3-F74C-5747-A1DA-068F1542DFC6}"/>
              </a:ext>
            </a:extLst>
          </p:cNvPr>
          <p:cNvSpPr/>
          <p:nvPr/>
        </p:nvSpPr>
        <p:spPr>
          <a:xfrm>
            <a:off x="216024" y="2850715"/>
            <a:ext cx="3654406" cy="66560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DB3F76B5-409D-EEF4-5885-3D800E3F54CF}"/>
              </a:ext>
            </a:extLst>
          </p:cNvPr>
          <p:cNvSpPr txBox="1"/>
          <p:nvPr/>
        </p:nvSpPr>
        <p:spPr>
          <a:xfrm>
            <a:off x="637740" y="2464888"/>
            <a:ext cx="1152129" cy="36933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TW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Result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95983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8"/>
          <p:cNvSpPr txBox="1"/>
          <p:nvPr/>
        </p:nvSpPr>
        <p:spPr>
          <a:xfrm>
            <a:off x="273695" y="242796"/>
            <a:ext cx="8027888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TW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Waveform Analysis</a:t>
            </a:r>
            <a:endParaRPr lang="zh-CN" altLang="en-US" sz="3200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40651C8A-C444-648D-2D20-40ECF4F49460}"/>
              </a:ext>
            </a:extLst>
          </p:cNvPr>
          <p:cNvSpPr txBox="1"/>
          <p:nvPr/>
        </p:nvSpPr>
        <p:spPr>
          <a:xfrm>
            <a:off x="3243019" y="243858"/>
            <a:ext cx="6372708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zh-TW" altLang="en-US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顯示精確度設定</a:t>
            </a:r>
            <a:endParaRPr lang="zh-CN" altLang="en-US" sz="3200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0" name="內容版面配置區 3">
            <a:extLst>
              <a:ext uri="{FF2B5EF4-FFF2-40B4-BE49-F238E27FC236}">
                <a16:creationId xmlns:a16="http://schemas.microsoft.com/office/drawing/2014/main" id="{1193357F-48B7-235C-7645-95EE4366F08C}"/>
              </a:ext>
            </a:extLst>
          </p:cNvPr>
          <p:cNvSpPr>
            <a:spLocks noGrp="1"/>
          </p:cNvSpPr>
          <p:nvPr/>
        </p:nvSpPr>
        <p:spPr>
          <a:xfrm>
            <a:off x="90492" y="1037712"/>
            <a:ext cx="12677761" cy="516435"/>
          </a:xfrm>
          <a:prstGeom prst="rect">
            <a:avLst/>
          </a:prstGeom>
        </p:spPr>
        <p:txBody>
          <a:bodyPr vert="horz">
            <a:normAutofit fontScale="92500" lnSpcReduction="1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zh-TW" altLang="en-US" sz="3200" dirty="0">
                <a:ea typeface="標楷體" panose="03000509000000000000" pitchFamily="65" charset="-120"/>
              </a:rPr>
              <a:t>按下 </a:t>
            </a:r>
            <a:r>
              <a:rPr lang="en-US" altLang="zh-TW" sz="3200" dirty="0">
                <a:ea typeface="標楷體" panose="03000509000000000000" pitchFamily="65" charset="-120"/>
              </a:rPr>
              <a:t>”M”</a:t>
            </a:r>
            <a:r>
              <a:rPr lang="zh-TW" altLang="en-US" sz="3200" dirty="0">
                <a:ea typeface="標楷體" panose="03000509000000000000" pitchFamily="65" charset="-120"/>
              </a:rPr>
              <a:t> 即可跳出 </a:t>
            </a:r>
            <a:r>
              <a:rPr lang="en-US" altLang="zh-TW" sz="3200" dirty="0">
                <a:ea typeface="標楷體" panose="03000509000000000000" pitchFamily="65" charset="-120"/>
              </a:rPr>
              <a:t>Measurement </a:t>
            </a:r>
            <a:r>
              <a:rPr lang="zh-TW" altLang="en-US" sz="3200" dirty="0">
                <a:ea typeface="標楷體" panose="03000509000000000000" pitchFamily="65" charset="-120"/>
              </a:rPr>
              <a:t>視窗</a:t>
            </a:r>
            <a:endParaRPr lang="en-US" altLang="zh-TW" sz="3200" dirty="0">
              <a:ea typeface="標楷體" panose="03000509000000000000" pitchFamily="65" charset="-12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3760C809-4CD1-82B1-6EDC-B12332548E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055" y="1925413"/>
            <a:ext cx="4389183" cy="4931272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57D19A2C-884A-073E-D02A-622C871735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9552" y="1959248"/>
            <a:ext cx="6402837" cy="4897437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1D90F382-9495-27D1-72BF-FEA5B1885127}"/>
              </a:ext>
            </a:extLst>
          </p:cNvPr>
          <p:cNvSpPr/>
          <p:nvPr/>
        </p:nvSpPr>
        <p:spPr>
          <a:xfrm>
            <a:off x="812751" y="2392189"/>
            <a:ext cx="617283" cy="3600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7035D21-B44A-262D-776B-77566CCE2884}"/>
              </a:ext>
            </a:extLst>
          </p:cNvPr>
          <p:cNvSpPr/>
          <p:nvPr/>
        </p:nvSpPr>
        <p:spPr>
          <a:xfrm>
            <a:off x="812750" y="2752229"/>
            <a:ext cx="2664297" cy="3600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3DDDD373-F02A-1626-266B-5AEB697FB58B}"/>
              </a:ext>
            </a:extLst>
          </p:cNvPr>
          <p:cNvSpPr txBox="1"/>
          <p:nvPr/>
        </p:nvSpPr>
        <p:spPr>
          <a:xfrm>
            <a:off x="1560641" y="2290188"/>
            <a:ext cx="339377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TW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1.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21" name="TextBox 8">
            <a:extLst>
              <a:ext uri="{FF2B5EF4-FFF2-40B4-BE49-F238E27FC236}">
                <a16:creationId xmlns:a16="http://schemas.microsoft.com/office/drawing/2014/main" id="{A038575C-AE79-63DE-F94D-FF99C27DCAE9}"/>
              </a:ext>
            </a:extLst>
          </p:cNvPr>
          <p:cNvSpPr txBox="1"/>
          <p:nvPr/>
        </p:nvSpPr>
        <p:spPr>
          <a:xfrm>
            <a:off x="3161284" y="2686027"/>
            <a:ext cx="339377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TW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2.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8A8472D-210B-7EB4-EFE4-1ECD5919FE81}"/>
              </a:ext>
            </a:extLst>
          </p:cNvPr>
          <p:cNvSpPr/>
          <p:nvPr/>
        </p:nvSpPr>
        <p:spPr>
          <a:xfrm>
            <a:off x="5748885" y="2536205"/>
            <a:ext cx="2552698" cy="25783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TextBox 8">
            <a:extLst>
              <a:ext uri="{FF2B5EF4-FFF2-40B4-BE49-F238E27FC236}">
                <a16:creationId xmlns:a16="http://schemas.microsoft.com/office/drawing/2014/main" id="{ED40D962-7C1E-84E2-AD15-3D60EB63AE77}"/>
              </a:ext>
            </a:extLst>
          </p:cNvPr>
          <p:cNvSpPr txBox="1"/>
          <p:nvPr/>
        </p:nvSpPr>
        <p:spPr>
          <a:xfrm>
            <a:off x="8373591" y="2393603"/>
            <a:ext cx="339377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TW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3.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C5C52AC-A785-256E-7A82-0300DD157B62}"/>
              </a:ext>
            </a:extLst>
          </p:cNvPr>
          <p:cNvSpPr/>
          <p:nvPr/>
        </p:nvSpPr>
        <p:spPr>
          <a:xfrm>
            <a:off x="6100124" y="6568653"/>
            <a:ext cx="617283" cy="25783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TextBox 8">
            <a:extLst>
              <a:ext uri="{FF2B5EF4-FFF2-40B4-BE49-F238E27FC236}">
                <a16:creationId xmlns:a16="http://schemas.microsoft.com/office/drawing/2014/main" id="{5693A233-8375-73A6-B17A-B24C98D60C25}"/>
              </a:ext>
            </a:extLst>
          </p:cNvPr>
          <p:cNvSpPr txBox="1"/>
          <p:nvPr/>
        </p:nvSpPr>
        <p:spPr>
          <a:xfrm>
            <a:off x="6350359" y="6769343"/>
            <a:ext cx="339377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TW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4.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46738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C1D3C8E2-52DD-D489-49C6-A942C84951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7080" y="735239"/>
            <a:ext cx="4812115" cy="6451407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95873FBE-246A-42D4-4C01-493887C886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924" y="1464150"/>
            <a:ext cx="6372709" cy="1125663"/>
          </a:xfrm>
          <a:prstGeom prst="rect">
            <a:avLst/>
          </a:prstGeom>
        </p:spPr>
      </p:pic>
      <p:sp>
        <p:nvSpPr>
          <p:cNvPr id="41" name="TextBox 8"/>
          <p:cNvSpPr txBox="1"/>
          <p:nvPr/>
        </p:nvSpPr>
        <p:spPr>
          <a:xfrm>
            <a:off x="273695" y="242796"/>
            <a:ext cx="8027888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TW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HSPICE </a:t>
            </a:r>
            <a:r>
              <a:rPr lang="zh-TW" altLang="en-US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附錄</a:t>
            </a:r>
            <a:endParaRPr lang="zh-CN" altLang="en-US" sz="3200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40651C8A-C444-648D-2D20-40ECF4F49460}"/>
              </a:ext>
            </a:extLst>
          </p:cNvPr>
          <p:cNvSpPr txBox="1"/>
          <p:nvPr/>
        </p:nvSpPr>
        <p:spPr>
          <a:xfrm>
            <a:off x="3870430" y="272219"/>
            <a:ext cx="6372708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zh-TW" altLang="en-US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連續量測不同負載電容的方法</a:t>
            </a:r>
            <a:endParaRPr lang="zh-CN" altLang="en-US" sz="3200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8F2ADA2-1127-7C41-581F-8F6DAD354F9E}"/>
              </a:ext>
            </a:extLst>
          </p:cNvPr>
          <p:cNvSpPr/>
          <p:nvPr/>
        </p:nvSpPr>
        <p:spPr>
          <a:xfrm>
            <a:off x="3426130" y="2257012"/>
            <a:ext cx="3147261" cy="33280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0DDD6608-97B9-860A-EB1B-4275976C7DDA}"/>
              </a:ext>
            </a:extLst>
          </p:cNvPr>
          <p:cNvSpPr txBox="1"/>
          <p:nvPr/>
        </p:nvSpPr>
        <p:spPr>
          <a:xfrm>
            <a:off x="88887" y="2680221"/>
            <a:ext cx="767581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4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輸出負載</a:t>
            </a:r>
            <a:r>
              <a:rPr lang="zh-TW" altLang="en-US" sz="2400" spc="14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電容</a:t>
            </a:r>
            <a:r>
              <a:rPr sz="2400" b="0" spc="155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從</a:t>
            </a:r>
            <a:r>
              <a:rPr lang="zh-TW" altLang="en-US" sz="2400" b="0" spc="155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0pf</a:t>
            </a:r>
            <a:r>
              <a:rPr lang="zh-TW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sz="2400" b="0" spc="15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至</a:t>
            </a:r>
            <a:r>
              <a:rPr lang="zh-TW" altLang="en-US" sz="2400" b="0" spc="15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sz="2400" b="1" spc="25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</a:t>
            </a:r>
            <a:r>
              <a:rPr lang="en-US" altLang="zh-TW" sz="2400" b="1" spc="25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03</a:t>
            </a:r>
            <a:r>
              <a:rPr sz="2400" b="1" spc="25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pf</a:t>
            </a:r>
            <a:r>
              <a:rPr lang="zh-TW" altLang="en-US" sz="2400" b="1" spc="25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sz="2400" b="0" spc="14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每</a:t>
            </a:r>
            <a:r>
              <a:rPr lang="zh-TW" altLang="en-US" sz="2400" b="0" spc="14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0.0</a:t>
            </a:r>
            <a:r>
              <a:rPr lang="en-US" altLang="zh-TW" sz="2400" b="1" spc="-5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sz="2400" b="1" spc="-5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pf</a:t>
            </a:r>
            <a:r>
              <a:rPr lang="zh-TW" altLang="en-US" sz="2400" b="1" spc="-5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sz="2400" b="0" spc="150" dirty="0" err="1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掃</a:t>
            </a:r>
            <a:r>
              <a:rPr sz="2400" b="0" spc="145" dirty="0" err="1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描一</a:t>
            </a:r>
            <a:r>
              <a:rPr lang="zh-TW" altLang="en-US" sz="2400" spc="135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次</a:t>
            </a:r>
            <a:endParaRPr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435DE65F-08D8-F665-FC3C-F416345B4360}"/>
              </a:ext>
            </a:extLst>
          </p:cNvPr>
          <p:cNvSpPr txBox="1"/>
          <p:nvPr/>
        </p:nvSpPr>
        <p:spPr>
          <a:xfrm>
            <a:off x="10749855" y="1503611"/>
            <a:ext cx="648072" cy="36933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0pf</a:t>
            </a:r>
            <a:endParaRPr lang="zh-CN" altLang="en-US" sz="2400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21" name="TextBox 8">
            <a:extLst>
              <a:ext uri="{FF2B5EF4-FFF2-40B4-BE49-F238E27FC236}">
                <a16:creationId xmlns:a16="http://schemas.microsoft.com/office/drawing/2014/main" id="{74972066-7B7D-A293-92F6-4FEC31EE22ED}"/>
              </a:ext>
            </a:extLst>
          </p:cNvPr>
          <p:cNvSpPr txBox="1"/>
          <p:nvPr/>
        </p:nvSpPr>
        <p:spPr>
          <a:xfrm>
            <a:off x="10749855" y="3227844"/>
            <a:ext cx="864096" cy="36933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0.01pf</a:t>
            </a:r>
            <a:endParaRPr lang="zh-CN" altLang="en-US" sz="2400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22" name="TextBox 8">
            <a:extLst>
              <a:ext uri="{FF2B5EF4-FFF2-40B4-BE49-F238E27FC236}">
                <a16:creationId xmlns:a16="http://schemas.microsoft.com/office/drawing/2014/main" id="{1ACFAFCF-940E-59EB-A024-70287478702C}"/>
              </a:ext>
            </a:extLst>
          </p:cNvPr>
          <p:cNvSpPr txBox="1"/>
          <p:nvPr/>
        </p:nvSpPr>
        <p:spPr>
          <a:xfrm>
            <a:off x="10749855" y="4931896"/>
            <a:ext cx="864096" cy="36933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0.02pf</a:t>
            </a:r>
            <a:endParaRPr lang="zh-CN" altLang="en-US" sz="2400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23" name="TextBox 8">
            <a:extLst>
              <a:ext uri="{FF2B5EF4-FFF2-40B4-BE49-F238E27FC236}">
                <a16:creationId xmlns:a16="http://schemas.microsoft.com/office/drawing/2014/main" id="{600428C9-6DA6-39F6-82B0-6BCC2F2E88BE}"/>
              </a:ext>
            </a:extLst>
          </p:cNvPr>
          <p:cNvSpPr txBox="1"/>
          <p:nvPr/>
        </p:nvSpPr>
        <p:spPr>
          <a:xfrm>
            <a:off x="10749855" y="6656635"/>
            <a:ext cx="864096" cy="36933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0.03pf</a:t>
            </a:r>
            <a:endParaRPr lang="zh-CN" altLang="en-US" sz="2400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78147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8"/>
          <p:cNvSpPr txBox="1"/>
          <p:nvPr/>
        </p:nvSpPr>
        <p:spPr>
          <a:xfrm>
            <a:off x="273695" y="242796"/>
            <a:ext cx="400937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TW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Homework </a:t>
            </a:r>
            <a:r>
              <a:rPr lang="zh-TW" altLang="en-US" sz="3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需求</a:t>
            </a:r>
            <a:endParaRPr lang="zh-CN" altLang="en-US" sz="3200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" name="內容版面配置區 3">
            <a:extLst>
              <a:ext uri="{FF2B5EF4-FFF2-40B4-BE49-F238E27FC236}">
                <a16:creationId xmlns:a16="http://schemas.microsoft.com/office/drawing/2014/main" id="{8B89CDDB-5E1E-2983-5EFE-0DC114D60647}"/>
              </a:ext>
            </a:extLst>
          </p:cNvPr>
          <p:cNvSpPr>
            <a:spLocks noGrp="1"/>
          </p:cNvSpPr>
          <p:nvPr/>
        </p:nvSpPr>
        <p:spPr>
          <a:xfrm>
            <a:off x="92671" y="1096045"/>
            <a:ext cx="12677761" cy="5472608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zh-TW" altLang="en-US" sz="2800" dirty="0">
                <a:ea typeface="標楷體" panose="03000509000000000000" pitchFamily="65" charset="-120"/>
              </a:rPr>
              <a:t>將下列檔案壓縮上傳至網路大學，</a:t>
            </a:r>
            <a:r>
              <a:rPr lang="en-US" altLang="zh-TW" sz="2800" dirty="0">
                <a:ea typeface="標楷體" panose="03000509000000000000" pitchFamily="65" charset="-120"/>
              </a:rPr>
              <a:t>Word </a:t>
            </a:r>
            <a:r>
              <a:rPr lang="zh-TW" altLang="en-US" sz="2800" dirty="0">
                <a:ea typeface="標楷體" panose="03000509000000000000" pitchFamily="65" charset="-120"/>
              </a:rPr>
              <a:t>及壓縮檔命名格式皆為：</a:t>
            </a:r>
            <a:endParaRPr lang="en-US" altLang="zh-TW" sz="2800" dirty="0">
              <a:ea typeface="標楷體" panose="03000509000000000000" pitchFamily="65" charset="-120"/>
            </a:endParaRPr>
          </a:p>
          <a:p>
            <a:pPr marL="0" indent="0" algn="just">
              <a:buNone/>
            </a:pPr>
            <a:r>
              <a:rPr lang="zh-TW" altLang="en-US" sz="2800" dirty="0">
                <a:ea typeface="標楷體" panose="03000509000000000000" pitchFamily="65" charset="-120"/>
              </a:rPr>
              <a:t>   </a:t>
            </a:r>
            <a:r>
              <a:rPr lang="en-US" altLang="zh-TW" sz="2800" dirty="0">
                <a:ea typeface="標楷體" panose="03000509000000000000" pitchFamily="65" charset="-120"/>
              </a:rPr>
              <a:t>2023VLSI_HW1_</a:t>
            </a:r>
            <a:r>
              <a:rPr lang="zh-TW" altLang="en-US" sz="2800" dirty="0">
                <a:ea typeface="標楷體" panose="03000509000000000000" pitchFamily="65" charset="-120"/>
              </a:rPr>
              <a:t>學號</a:t>
            </a:r>
            <a:endParaRPr lang="en-US" altLang="zh-TW" sz="2800" dirty="0">
              <a:ea typeface="標楷體" panose="03000509000000000000" pitchFamily="65" charset="-120"/>
            </a:endParaRPr>
          </a:p>
          <a:p>
            <a:pPr algn="just"/>
            <a:r>
              <a:rPr lang="zh-TW" altLang="en-US" sz="2800" dirty="0">
                <a:ea typeface="標楷體" panose="03000509000000000000" pitchFamily="65" charset="-120"/>
              </a:rPr>
              <a:t>壓縮檔內需附上：</a:t>
            </a:r>
            <a:r>
              <a:rPr lang="en-US" altLang="zh-TW" sz="2800" dirty="0">
                <a:ea typeface="標楷體" panose="03000509000000000000" pitchFamily="65" charset="-120"/>
              </a:rPr>
              <a:t>spice</a:t>
            </a:r>
            <a:r>
              <a:rPr lang="zh-TW" altLang="en-US" sz="2800" dirty="0">
                <a:ea typeface="標楷體" panose="03000509000000000000" pitchFamily="65" charset="-120"/>
              </a:rPr>
              <a:t>檔</a:t>
            </a:r>
            <a:r>
              <a:rPr lang="en-US" altLang="zh-TW" sz="2800" dirty="0">
                <a:ea typeface="標楷體" panose="03000509000000000000" pitchFamily="65" charset="-120"/>
              </a:rPr>
              <a:t>(.</a:t>
            </a:r>
            <a:r>
              <a:rPr lang="en-US" altLang="zh-TW" sz="2800" dirty="0" err="1">
                <a:ea typeface="標楷體" panose="03000509000000000000" pitchFamily="65" charset="-120"/>
              </a:rPr>
              <a:t>sp</a:t>
            </a:r>
            <a:r>
              <a:rPr lang="en-US" altLang="zh-TW" sz="2800" dirty="0">
                <a:ea typeface="標楷體" panose="03000509000000000000" pitchFamily="65" charset="-120"/>
              </a:rPr>
              <a:t>) </a:t>
            </a:r>
            <a:r>
              <a:rPr lang="zh-TW" altLang="en-US" sz="2800" dirty="0">
                <a:ea typeface="標楷體" panose="03000509000000000000" pitchFamily="65" charset="-120"/>
              </a:rPr>
              <a:t>及 </a:t>
            </a:r>
            <a:r>
              <a:rPr lang="en-US" altLang="zh-TW" sz="2800" dirty="0">
                <a:ea typeface="標楷體" panose="03000509000000000000" pitchFamily="65" charset="-120"/>
              </a:rPr>
              <a:t>Word</a:t>
            </a:r>
            <a:r>
              <a:rPr lang="zh-TW" altLang="en-US" sz="2800" dirty="0">
                <a:ea typeface="標楷體" panose="03000509000000000000" pitchFamily="65" charset="-120"/>
              </a:rPr>
              <a:t> 報告 </a:t>
            </a:r>
            <a:r>
              <a:rPr lang="en-US" altLang="zh-TW" sz="2800" dirty="0">
                <a:ea typeface="標楷體" panose="03000509000000000000" pitchFamily="65" charset="-120"/>
              </a:rPr>
              <a:t>(</a:t>
            </a:r>
            <a:r>
              <a:rPr lang="zh-TW" altLang="en-US" sz="2800" dirty="0">
                <a:ea typeface="標楷體" panose="03000509000000000000" pitchFamily="65" charset="-120"/>
              </a:rPr>
              <a:t>包含波型截圖，量測數據表格等</a:t>
            </a:r>
            <a:r>
              <a:rPr lang="en-US" altLang="zh-TW" sz="2800" dirty="0">
                <a:ea typeface="標楷體" panose="03000509000000000000" pitchFamily="65" charset="-120"/>
              </a:rPr>
              <a:t>)</a:t>
            </a:r>
          </a:p>
          <a:p>
            <a:pPr algn="just"/>
            <a:r>
              <a:rPr lang="zh-TW" altLang="en-US" sz="2800" dirty="0">
                <a:ea typeface="標楷體" panose="03000509000000000000" pitchFamily="65" charset="-120"/>
              </a:rPr>
              <a:t>請實作以下四種變因：</a:t>
            </a:r>
            <a:endParaRPr lang="en-US" altLang="zh-TW" sz="2800" dirty="0">
              <a:ea typeface="標楷體" panose="03000509000000000000" pitchFamily="65" charset="-120"/>
            </a:endParaRPr>
          </a:p>
          <a:p>
            <a:pPr marL="0" indent="0" algn="just">
              <a:buNone/>
            </a:pPr>
            <a:r>
              <a:rPr lang="zh-TW" altLang="en-US" sz="2800" dirty="0">
                <a:ea typeface="標楷體" panose="03000509000000000000" pitchFamily="65" charset="-120"/>
              </a:rPr>
              <a:t>   </a:t>
            </a:r>
            <a:r>
              <a:rPr lang="en-US" altLang="zh-TW" sz="2800" dirty="0">
                <a:ea typeface="標楷體" panose="03000509000000000000" pitchFamily="65" charset="-120"/>
              </a:rPr>
              <a:t>1.</a:t>
            </a:r>
            <a:r>
              <a:rPr lang="zh-TW" altLang="en-US" sz="2800" dirty="0">
                <a:ea typeface="標楷體" panose="03000509000000000000" pitchFamily="65" charset="-120"/>
              </a:rPr>
              <a:t> </a:t>
            </a:r>
            <a:r>
              <a:rPr lang="en-US" altLang="zh-TW" sz="2800" dirty="0">
                <a:ea typeface="標楷體" panose="03000509000000000000" pitchFamily="65" charset="-120"/>
              </a:rPr>
              <a:t>load capacitance [0pf, 0.01pf, 0.02pf, 0.03pf]</a:t>
            </a:r>
          </a:p>
          <a:p>
            <a:pPr marL="0" indent="0" algn="just">
              <a:buNone/>
            </a:pPr>
            <a:r>
              <a:rPr lang="en-US" altLang="zh-TW" sz="2800" dirty="0">
                <a:ea typeface="標楷體" panose="03000509000000000000" pitchFamily="65" charset="-120"/>
              </a:rPr>
              <a:t>   2. Process Corner [TT, SS]</a:t>
            </a:r>
            <a:r>
              <a:rPr lang="zh-TW" altLang="en-US" sz="2800" dirty="0">
                <a:ea typeface="標楷體" panose="03000509000000000000" pitchFamily="65" charset="-120"/>
              </a:rPr>
              <a:t> </a:t>
            </a:r>
            <a:r>
              <a:rPr lang="en-US" altLang="zh-TW" sz="2800" dirty="0">
                <a:ea typeface="標楷體" panose="03000509000000000000" pitchFamily="65" charset="-120"/>
              </a:rPr>
              <a:t>(</a:t>
            </a:r>
            <a:r>
              <a:rPr lang="zh-TW" altLang="en-US" sz="2800" dirty="0">
                <a:solidFill>
                  <a:srgbClr val="FF0000"/>
                </a:solidFill>
                <a:ea typeface="標楷體" panose="03000509000000000000" pitchFamily="65" charset="-120"/>
              </a:rPr>
              <a:t>碩士班</a:t>
            </a:r>
            <a:r>
              <a:rPr lang="en-US" altLang="zh-TW" sz="2800" dirty="0">
                <a:ea typeface="標楷體" panose="03000509000000000000" pitchFamily="65" charset="-120"/>
              </a:rPr>
              <a:t>)</a:t>
            </a:r>
            <a:r>
              <a:rPr lang="zh-TW" altLang="en-US" sz="2800" dirty="0">
                <a:ea typeface="標楷體" panose="03000509000000000000" pitchFamily="65" charset="-120"/>
              </a:rPr>
              <a:t>；</a:t>
            </a:r>
            <a:r>
              <a:rPr lang="en-US" altLang="zh-TW" sz="2800" dirty="0">
                <a:ea typeface="標楷體" panose="03000509000000000000" pitchFamily="65" charset="-120"/>
              </a:rPr>
              <a:t>Process Corner [TT] (</a:t>
            </a:r>
            <a:r>
              <a:rPr lang="zh-TW" altLang="en-US" sz="2800" dirty="0">
                <a:solidFill>
                  <a:srgbClr val="FF0000"/>
                </a:solidFill>
                <a:ea typeface="標楷體" panose="03000509000000000000" pitchFamily="65" charset="-120"/>
              </a:rPr>
              <a:t>大學部</a:t>
            </a:r>
            <a:r>
              <a:rPr lang="en-US" altLang="zh-TW" sz="2800" dirty="0">
                <a:ea typeface="標楷體" panose="03000509000000000000" pitchFamily="65" charset="-120"/>
              </a:rPr>
              <a:t>)</a:t>
            </a:r>
          </a:p>
          <a:p>
            <a:pPr marL="0" indent="0" algn="just">
              <a:buNone/>
            </a:pPr>
            <a:r>
              <a:rPr lang="zh-TW" altLang="en-US" sz="2800" dirty="0">
                <a:ea typeface="標楷體" panose="03000509000000000000" pitchFamily="65" charset="-120"/>
              </a:rPr>
              <a:t>   </a:t>
            </a:r>
            <a:r>
              <a:rPr lang="en-US" altLang="zh-TW" sz="2800" dirty="0">
                <a:ea typeface="標楷體" panose="03000509000000000000" pitchFamily="65" charset="-120"/>
              </a:rPr>
              <a:t>3.</a:t>
            </a:r>
            <a:r>
              <a:rPr lang="zh-TW" altLang="en-US" sz="2800" dirty="0">
                <a:ea typeface="標楷體" panose="03000509000000000000" pitchFamily="65" charset="-120"/>
              </a:rPr>
              <a:t> </a:t>
            </a:r>
            <a:r>
              <a:rPr lang="en-US" altLang="zh-TW" sz="2800" dirty="0">
                <a:ea typeface="標楷體" panose="03000509000000000000" pitchFamily="65" charset="-120"/>
              </a:rPr>
              <a:t>Temperature [25</a:t>
            </a:r>
            <a:r>
              <a:rPr lang="en-US" altLang="zh-TW" sz="2800" spc="7" baseline="25641" dirty="0">
                <a:solidFill>
                  <a:srgbClr val="181B0D"/>
                </a:solidFill>
                <a:latin typeface="Times New Roman"/>
                <a:cs typeface="Times New Roman"/>
              </a:rPr>
              <a:t>o</a:t>
            </a:r>
            <a:r>
              <a:rPr lang="en-US" altLang="zh-TW" sz="2800" dirty="0">
                <a:ea typeface="標楷體" panose="03000509000000000000" pitchFamily="65" charset="-120"/>
              </a:rPr>
              <a:t>C] </a:t>
            </a:r>
          </a:p>
          <a:p>
            <a:pPr marL="0" indent="0" algn="just">
              <a:buNone/>
            </a:pPr>
            <a:r>
              <a:rPr lang="en-US" altLang="zh-TW" sz="2800" dirty="0">
                <a:ea typeface="標楷體" panose="03000509000000000000" pitchFamily="65" charset="-120"/>
              </a:rPr>
              <a:t>   4. </a:t>
            </a:r>
            <a:r>
              <a:rPr lang="zh-TW" altLang="en-US" sz="2800" dirty="0">
                <a:ea typeface="標楷體" panose="03000509000000000000" pitchFamily="65" charset="-120"/>
              </a:rPr>
              <a:t>若輸入 </a:t>
            </a:r>
            <a:r>
              <a:rPr lang="en-US" altLang="zh-TW" sz="2800" dirty="0">
                <a:ea typeface="標楷體" panose="03000509000000000000" pitchFamily="65" charset="-120"/>
              </a:rPr>
              <a:t>Pin</a:t>
            </a:r>
            <a:r>
              <a:rPr lang="zh-TW" altLang="en-US" sz="2800" dirty="0">
                <a:ea typeface="標楷體" panose="03000509000000000000" pitchFamily="65" charset="-120"/>
              </a:rPr>
              <a:t> 腳有 </a:t>
            </a:r>
            <a:r>
              <a:rPr lang="en-US" altLang="zh-TW" sz="2800" dirty="0">
                <a:ea typeface="標楷體" panose="03000509000000000000" pitchFamily="65" charset="-120"/>
              </a:rPr>
              <a:t>A</a:t>
            </a:r>
            <a:r>
              <a:rPr lang="zh-TW" altLang="en-US" sz="2800" dirty="0">
                <a:ea typeface="標楷體" panose="03000509000000000000" pitchFamily="65" charset="-120"/>
              </a:rPr>
              <a:t>、</a:t>
            </a:r>
            <a:r>
              <a:rPr lang="en-US" altLang="zh-TW" sz="2800" dirty="0">
                <a:ea typeface="標楷體" panose="03000509000000000000" pitchFamily="65" charset="-120"/>
              </a:rPr>
              <a:t>B</a:t>
            </a:r>
            <a:r>
              <a:rPr lang="zh-TW" altLang="en-US" sz="2800" dirty="0">
                <a:ea typeface="標楷體" panose="03000509000000000000" pitchFamily="65" charset="-120"/>
              </a:rPr>
              <a:t> 兩個，請固定 </a:t>
            </a:r>
            <a:r>
              <a:rPr lang="en-US" altLang="zh-TW" sz="2800" dirty="0">
                <a:ea typeface="標楷體" panose="03000509000000000000" pitchFamily="65" charset="-120"/>
              </a:rPr>
              <a:t>A</a:t>
            </a:r>
            <a:r>
              <a:rPr lang="zh-TW" altLang="en-US" sz="2800" dirty="0">
                <a:ea typeface="標楷體" panose="03000509000000000000" pitchFamily="65" charset="-120"/>
              </a:rPr>
              <a:t> 後測量 </a:t>
            </a:r>
            <a:r>
              <a:rPr lang="en-US" altLang="zh-TW" sz="2800" dirty="0">
                <a:ea typeface="標楷體" panose="03000509000000000000" pitchFamily="65" charset="-120"/>
              </a:rPr>
              <a:t>B</a:t>
            </a:r>
            <a:r>
              <a:rPr lang="zh-TW" altLang="en-US" sz="2800" dirty="0">
                <a:ea typeface="標楷體" panose="03000509000000000000" pitchFamily="65" charset="-120"/>
              </a:rPr>
              <a:t>，再固定 </a:t>
            </a:r>
            <a:r>
              <a:rPr lang="en-US" altLang="zh-TW" sz="2800" dirty="0">
                <a:ea typeface="標楷體" panose="03000509000000000000" pitchFamily="65" charset="-120"/>
              </a:rPr>
              <a:t>B</a:t>
            </a:r>
            <a:r>
              <a:rPr lang="zh-TW" altLang="en-US" sz="2800" dirty="0">
                <a:ea typeface="標楷體" panose="03000509000000000000" pitchFamily="65" charset="-120"/>
              </a:rPr>
              <a:t> 測量 </a:t>
            </a:r>
            <a:r>
              <a:rPr lang="en-US" altLang="zh-TW" sz="2800" dirty="0">
                <a:ea typeface="標楷體" panose="03000509000000000000" pitchFamily="65" charset="-12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3694113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11971288" y="303957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模板下载：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www.1ppt.com/moban/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www.1ppt.com/hangye/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节日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www.1ppt.com/jieri/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素材下载：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www.1ppt.com/sucai/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背景图片：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www.1ppt.com/beijing/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图表下载：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www.1ppt.com/tubiao/    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优秀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www.1ppt.com/xiazai/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www.1ppt.com/powerpoint/    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Word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www.1ppt.com/word/              Excel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教程：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www.1ppt.com/excel/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资料下载：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www.1ppt.com/ziliao/     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课件下载：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www.1ppt.com/kejian/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范文下载：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www.1ppt.com/fanwen/        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试卷下载：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www.1ppt.com/shiti/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教案下载：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www.1ppt.com/jiaoan/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论坛：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www.1ppt.cn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 </a:t>
            </a:r>
            <a:endParaRPr kumimoji="0" lang="zh-CN" altLang="en-US" sz="1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</a:endParaRPr>
          </a:p>
        </p:txBody>
      </p:sp>
      <p:sp>
        <p:nvSpPr>
          <p:cNvPr id="6" name="Freeform 6"/>
          <p:cNvSpPr>
            <a:spLocks/>
          </p:cNvSpPr>
          <p:nvPr/>
        </p:nvSpPr>
        <p:spPr bwMode="auto">
          <a:xfrm>
            <a:off x="354" y="5187510"/>
            <a:ext cx="9453357" cy="2045141"/>
          </a:xfrm>
          <a:custGeom>
            <a:avLst/>
            <a:gdLst>
              <a:gd name="T0" fmla="*/ 2 w 4183"/>
              <a:gd name="T1" fmla="*/ 0 h 904"/>
              <a:gd name="T2" fmla="*/ 4183 w 4183"/>
              <a:gd name="T3" fmla="*/ 902 h 904"/>
              <a:gd name="T4" fmla="*/ 0 w 4183"/>
              <a:gd name="T5" fmla="*/ 904 h 904"/>
              <a:gd name="T6" fmla="*/ 2 w 4183"/>
              <a:gd name="T7" fmla="*/ 0 h 9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183" h="904">
                <a:moveTo>
                  <a:pt x="2" y="0"/>
                </a:moveTo>
                <a:lnTo>
                  <a:pt x="4183" y="902"/>
                </a:lnTo>
                <a:lnTo>
                  <a:pt x="0" y="904"/>
                </a:lnTo>
                <a:lnTo>
                  <a:pt x="2" y="0"/>
                </a:lnTo>
                <a:close/>
              </a:path>
            </a:pathLst>
          </a:custGeom>
          <a:solidFill>
            <a:srgbClr val="1F4C6B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8580" tIns="64290" rIns="128580" bIns="6429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Freeform 7"/>
          <p:cNvSpPr>
            <a:spLocks/>
          </p:cNvSpPr>
          <p:nvPr/>
        </p:nvSpPr>
        <p:spPr bwMode="auto">
          <a:xfrm>
            <a:off x="354" y="1"/>
            <a:ext cx="12858043" cy="2081338"/>
          </a:xfrm>
          <a:custGeom>
            <a:avLst/>
            <a:gdLst>
              <a:gd name="T0" fmla="*/ 0 w 5687"/>
              <a:gd name="T1" fmla="*/ 0 h 920"/>
              <a:gd name="T2" fmla="*/ 5687 w 5687"/>
              <a:gd name="T3" fmla="*/ 0 h 920"/>
              <a:gd name="T4" fmla="*/ 5687 w 5687"/>
              <a:gd name="T5" fmla="*/ 920 h 920"/>
              <a:gd name="T6" fmla="*/ 0 w 5687"/>
              <a:gd name="T7" fmla="*/ 0 h 9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687" h="920">
                <a:moveTo>
                  <a:pt x="0" y="0"/>
                </a:moveTo>
                <a:lnTo>
                  <a:pt x="5687" y="0"/>
                </a:lnTo>
                <a:lnTo>
                  <a:pt x="5687" y="920"/>
                </a:lnTo>
                <a:lnTo>
                  <a:pt x="0" y="0"/>
                </a:lnTo>
                <a:close/>
              </a:path>
            </a:pathLst>
          </a:custGeom>
          <a:solidFill>
            <a:srgbClr val="1F4C6B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8580" tIns="64290" rIns="128580" bIns="6429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Freeform 8"/>
          <p:cNvSpPr>
            <a:spLocks/>
          </p:cNvSpPr>
          <p:nvPr/>
        </p:nvSpPr>
        <p:spPr bwMode="auto">
          <a:xfrm>
            <a:off x="354" y="1"/>
            <a:ext cx="12858043" cy="2081338"/>
          </a:xfrm>
          <a:custGeom>
            <a:avLst/>
            <a:gdLst>
              <a:gd name="T0" fmla="*/ 0 w 5687"/>
              <a:gd name="T1" fmla="*/ 0 h 920"/>
              <a:gd name="T2" fmla="*/ 5687 w 5687"/>
              <a:gd name="T3" fmla="*/ 920 h 920"/>
              <a:gd name="T4" fmla="*/ 0 w 5687"/>
              <a:gd name="T5" fmla="*/ 320 h 920"/>
              <a:gd name="T6" fmla="*/ 0 w 5687"/>
              <a:gd name="T7" fmla="*/ 0 h 9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687" h="920">
                <a:moveTo>
                  <a:pt x="0" y="0"/>
                </a:moveTo>
                <a:lnTo>
                  <a:pt x="5687" y="920"/>
                </a:lnTo>
                <a:lnTo>
                  <a:pt x="0" y="32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8580" tIns="64290" rIns="128580" bIns="6429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" name="矩形 259"/>
          <p:cNvSpPr>
            <a:spLocks noChangeArrowheads="1"/>
          </p:cNvSpPr>
          <p:nvPr/>
        </p:nvSpPr>
        <p:spPr bwMode="auto">
          <a:xfrm>
            <a:off x="2234295" y="2846333"/>
            <a:ext cx="8390162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en-US" altLang="zh-CN" sz="9600" b="1" cap="all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  <a:endParaRPr lang="zh-CN" altLang="en-US" sz="9600" b="1" cap="all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 259"/>
          <p:cNvSpPr>
            <a:spLocks noChangeArrowheads="1"/>
          </p:cNvSpPr>
          <p:nvPr/>
        </p:nvSpPr>
        <p:spPr bwMode="auto">
          <a:xfrm>
            <a:off x="4668871" y="4336405"/>
            <a:ext cx="352100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zh-TW" altLang="en-US" sz="2800" dirty="0">
                <a:solidFill>
                  <a:schemeClr val="bg1">
                    <a:lumMod val="6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anose="020B0604020202020204" pitchFamily="34" charset="0"/>
              </a:rPr>
              <a:t>感謝大家的聆聽</a:t>
            </a:r>
            <a:endParaRPr lang="zh-CN" altLang="en-US" sz="2800" dirty="0">
              <a:solidFill>
                <a:schemeClr val="bg1">
                  <a:lumMod val="6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813965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LTRA_SCORM_COURSE_ID" val="9E7965BD-BA7C-4284-B303-3DF26FF20985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OUTPUT_FOLDER" val="C:\Users\Administrator\Desktop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PRESENTATION_TITLE" val="bt043"/>
</p:tagLst>
</file>

<file path=ppt/theme/theme1.xml><?xml version="1.0" encoding="utf-8"?>
<a:theme xmlns:a="http://schemas.openxmlformats.org/drawingml/2006/main" name="第一PPT，www.1ppt.com">
  <a:themeElements>
    <a:clrScheme name="自定义 21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4C6B"/>
      </a:accent1>
      <a:accent2>
        <a:srgbClr val="D14E5B"/>
      </a:accent2>
      <a:accent3>
        <a:srgbClr val="1F4C6B"/>
      </a:accent3>
      <a:accent4>
        <a:srgbClr val="D14E5B"/>
      </a:accent4>
      <a:accent5>
        <a:srgbClr val="1F4C6B"/>
      </a:accent5>
      <a:accent6>
        <a:srgbClr val="D14E5B"/>
      </a:accent6>
      <a:hlink>
        <a:srgbClr val="1F4C6B"/>
      </a:hlink>
      <a:folHlink>
        <a:srgbClr val="D14E5B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2156</Words>
  <Application>Microsoft Office PowerPoint</Application>
  <PresentationFormat>自訂</PresentationFormat>
  <Paragraphs>319</Paragraphs>
  <Slides>40</Slides>
  <Notes>38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40</vt:i4>
      </vt:variant>
    </vt:vector>
  </HeadingPairs>
  <TitlesOfParts>
    <vt:vector size="47" baseType="lpstr">
      <vt:lpstr>標楷體</vt:lpstr>
      <vt:lpstr>Arial</vt:lpstr>
      <vt:lpstr>Calibri</vt:lpstr>
      <vt:lpstr>Calibri Light</vt:lpstr>
      <vt:lpstr>Times New Roman</vt:lpstr>
      <vt:lpstr>Wingdings 3</vt:lpstr>
      <vt:lpstr>第一PPT，www.1ppt.com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https://www.ypppt.com/</dc:title>
  <dc:subject>https://www.ypppt.com/</dc:subject>
  <dc:creator/>
  <cp:keywords/>
  <cp:lastModifiedBy/>
  <cp:revision>1</cp:revision>
  <dcterms:created xsi:type="dcterms:W3CDTF">2016-10-31T14:24:29Z</dcterms:created>
  <dcterms:modified xsi:type="dcterms:W3CDTF">2023-03-09T03:26:53Z</dcterms:modified>
</cp:coreProperties>
</file>