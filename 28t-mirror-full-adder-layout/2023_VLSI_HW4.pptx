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7" r:id="rId1"/>
  </p:sldMasterIdLst>
  <p:notesMasterIdLst>
    <p:notesMasterId r:id="rId14"/>
  </p:notesMasterIdLst>
  <p:handoutMasterIdLst>
    <p:handoutMasterId r:id="rId15"/>
  </p:handoutMasterIdLst>
  <p:sldIdLst>
    <p:sldId id="2775" r:id="rId2"/>
    <p:sldId id="2908" r:id="rId3"/>
    <p:sldId id="2909" r:id="rId4"/>
    <p:sldId id="2921" r:id="rId5"/>
    <p:sldId id="2922" r:id="rId6"/>
    <p:sldId id="2923" r:id="rId7"/>
    <p:sldId id="2865" r:id="rId8"/>
    <p:sldId id="2924" r:id="rId9"/>
    <p:sldId id="2910" r:id="rId10"/>
    <p:sldId id="2919" r:id="rId11"/>
    <p:sldId id="2860" r:id="rId12"/>
    <p:sldId id="2794" r:id="rId13"/>
  </p:sldIdLst>
  <p:sldSz cx="12858750" cy="7232650"/>
  <p:notesSz cx="6858000" cy="9144000"/>
  <p:custDataLst>
    <p:tags r:id="rId1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763" indent="-1825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638" indent="-5540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pos="557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497" userDrawn="1">
          <p15:clr>
            <a:srgbClr val="A4A3A4"/>
          </p15:clr>
        </p15:guide>
        <p15:guide id="7" pos="69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99"/>
    <a:srgbClr val="99FF66"/>
    <a:srgbClr val="2DDE45"/>
    <a:srgbClr val="003366"/>
    <a:srgbClr val="009999"/>
    <a:srgbClr val="058D2A"/>
    <a:srgbClr val="FFFFFF"/>
    <a:srgbClr val="1F4C6B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5394" autoAdjust="0"/>
  </p:normalViewPr>
  <p:slideViewPr>
    <p:cSldViewPr>
      <p:cViewPr varScale="1">
        <p:scale>
          <a:sx n="100" d="100"/>
          <a:sy n="100" d="100"/>
        </p:scale>
        <p:origin x="930" y="96"/>
      </p:cViewPr>
      <p:guideLst>
        <p:guide orient="horz" pos="328"/>
        <p:guide pos="4050"/>
        <p:guide pos="557"/>
        <p:guide orient="horz" pos="4183"/>
        <p:guide pos="7497"/>
        <p:guide pos="6908"/>
      </p:guideLst>
    </p:cSldViewPr>
  </p:slideViewPr>
  <p:outlineViewPr>
    <p:cViewPr>
      <p:scale>
        <a:sx n="100" d="100"/>
        <a:sy n="100" d="100"/>
      </p:scale>
      <p:origin x="0" y="-205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660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2023/4/11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493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6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788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691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024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4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799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361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791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909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410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478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191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274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28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656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82D2-7A68-459D-A996-9BDDA2518FA4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05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/>
          </p:cNvSpPr>
          <p:nvPr/>
        </p:nvSpPr>
        <p:spPr bwMode="auto">
          <a:xfrm>
            <a:off x="354" y="5187510"/>
            <a:ext cx="9453357" cy="2045141"/>
          </a:xfrm>
          <a:custGeom>
            <a:avLst/>
            <a:gdLst>
              <a:gd name="T0" fmla="*/ 2 w 4183"/>
              <a:gd name="T1" fmla="*/ 0 h 904"/>
              <a:gd name="T2" fmla="*/ 4183 w 4183"/>
              <a:gd name="T3" fmla="*/ 902 h 904"/>
              <a:gd name="T4" fmla="*/ 0 w 4183"/>
              <a:gd name="T5" fmla="*/ 904 h 904"/>
              <a:gd name="T6" fmla="*/ 2 w 4183"/>
              <a:gd name="T7" fmla="*/ 0 h 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83" h="904">
                <a:moveTo>
                  <a:pt x="2" y="0"/>
                </a:moveTo>
                <a:lnTo>
                  <a:pt x="4183" y="902"/>
                </a:lnTo>
                <a:lnTo>
                  <a:pt x="0" y="904"/>
                </a:lnTo>
                <a:lnTo>
                  <a:pt x="2" y="0"/>
                </a:lnTo>
                <a:close/>
              </a:path>
            </a:pathLst>
          </a:custGeom>
          <a:solidFill>
            <a:srgbClr val="1F4C6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354" y="1"/>
            <a:ext cx="12858043" cy="2081338"/>
          </a:xfrm>
          <a:custGeom>
            <a:avLst/>
            <a:gdLst>
              <a:gd name="T0" fmla="*/ 0 w 5687"/>
              <a:gd name="T1" fmla="*/ 0 h 920"/>
              <a:gd name="T2" fmla="*/ 5687 w 5687"/>
              <a:gd name="T3" fmla="*/ 0 h 920"/>
              <a:gd name="T4" fmla="*/ 5687 w 5687"/>
              <a:gd name="T5" fmla="*/ 920 h 920"/>
              <a:gd name="T6" fmla="*/ 0 w 5687"/>
              <a:gd name="T7" fmla="*/ 0 h 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87" h="920">
                <a:moveTo>
                  <a:pt x="0" y="0"/>
                </a:moveTo>
                <a:lnTo>
                  <a:pt x="5687" y="0"/>
                </a:lnTo>
                <a:lnTo>
                  <a:pt x="5687" y="920"/>
                </a:lnTo>
                <a:lnTo>
                  <a:pt x="0" y="0"/>
                </a:lnTo>
                <a:close/>
              </a:path>
            </a:pathLst>
          </a:custGeom>
          <a:solidFill>
            <a:srgbClr val="1F4C6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354" y="1"/>
            <a:ext cx="12858043" cy="2081338"/>
          </a:xfrm>
          <a:custGeom>
            <a:avLst/>
            <a:gdLst>
              <a:gd name="T0" fmla="*/ 0 w 5687"/>
              <a:gd name="T1" fmla="*/ 0 h 920"/>
              <a:gd name="T2" fmla="*/ 5687 w 5687"/>
              <a:gd name="T3" fmla="*/ 920 h 920"/>
              <a:gd name="T4" fmla="*/ 0 w 5687"/>
              <a:gd name="T5" fmla="*/ 320 h 920"/>
              <a:gd name="T6" fmla="*/ 0 w 5687"/>
              <a:gd name="T7" fmla="*/ 0 h 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87" h="920">
                <a:moveTo>
                  <a:pt x="0" y="0"/>
                </a:moveTo>
                <a:lnTo>
                  <a:pt x="5687" y="920"/>
                </a:lnTo>
                <a:lnTo>
                  <a:pt x="0" y="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矩形 259"/>
          <p:cNvSpPr>
            <a:spLocks noChangeArrowheads="1"/>
          </p:cNvSpPr>
          <p:nvPr/>
        </p:nvSpPr>
        <p:spPr bwMode="auto">
          <a:xfrm>
            <a:off x="645565" y="2079093"/>
            <a:ext cx="1156761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Homework</a:t>
            </a:r>
            <a:r>
              <a:rPr lang="en-US" altLang="zh-TW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lang="zh-CN" altLang="en-US" sz="4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E96ED2-E3AA-4D8E-97BF-EDBDB66CABE3}"/>
              </a:ext>
            </a:extLst>
          </p:cNvPr>
          <p:cNvSpPr/>
          <p:nvPr/>
        </p:nvSpPr>
        <p:spPr>
          <a:xfrm>
            <a:off x="9957767" y="6496645"/>
            <a:ext cx="280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Date 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: 2023.05.11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D12F47-9B4A-C702-7E34-5BF221F047E8}"/>
              </a:ext>
            </a:extLst>
          </p:cNvPr>
          <p:cNvSpPr/>
          <p:nvPr/>
        </p:nvSpPr>
        <p:spPr>
          <a:xfrm>
            <a:off x="3513050" y="5175038"/>
            <a:ext cx="58326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TA1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：何堡棋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email: pokeyisgod@gmail.com</a:t>
            </a:r>
          </a:p>
          <a:p>
            <a:pPr defTabSz="609585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TA2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：郭厚均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email: tim84611@gmail.com</a:t>
            </a:r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A3BFDC13-539B-8016-EAD8-C4DA11643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565" y="3057886"/>
            <a:ext cx="11567617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TW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Full Adder (FA) Design</a:t>
            </a:r>
          </a:p>
          <a:p>
            <a:pPr algn="ctr">
              <a:buNone/>
            </a:pPr>
            <a:r>
              <a:rPr lang="en-US" altLang="zh-CN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(28T </a:t>
            </a:r>
            <a:r>
              <a:rPr lang="en-US" altLang="zh-TW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Mirror FA Layout</a:t>
            </a:r>
            <a:r>
              <a:rPr lang="en-US" altLang="zh-CN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316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12420376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Virtuoso (Mirror FA Design)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92199A0E-73F8-E2FF-D1EE-84BAF9D6797C}"/>
              </a:ext>
            </a:extLst>
          </p:cNvPr>
          <p:cNvSpPr>
            <a:spLocks noGrp="1"/>
          </p:cNvSpPr>
          <p:nvPr/>
        </p:nvSpPr>
        <p:spPr>
          <a:xfrm>
            <a:off x="92671" y="880021"/>
            <a:ext cx="6768752" cy="374441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800" spc="-5" dirty="0">
                <a:ea typeface="標楷體" panose="03000509000000000000" pitchFamily="65" charset="-120"/>
              </a:rPr>
              <a:t>打開 </a:t>
            </a:r>
            <a:r>
              <a:rPr lang="en-US" altLang="zh-TW" sz="2800" spc="-5" dirty="0">
                <a:ea typeface="標楷體" panose="03000509000000000000" pitchFamily="65" charset="-120"/>
              </a:rPr>
              <a:t>Virtuoso</a:t>
            </a:r>
          </a:p>
          <a:p>
            <a:pPr algn="just"/>
            <a:r>
              <a:rPr lang="zh-TW" altLang="en-US" sz="2800" spc="-5" dirty="0">
                <a:ea typeface="標楷體" panose="03000509000000000000" pitchFamily="65" charset="-120"/>
              </a:rPr>
              <a:t>創建新的 </a:t>
            </a:r>
            <a:r>
              <a:rPr lang="en-US" altLang="zh-TW" sz="2800" spc="-5" dirty="0">
                <a:ea typeface="標楷體" panose="03000509000000000000" pitchFamily="65" charset="-120"/>
              </a:rPr>
              <a:t>Library (Homework4)</a:t>
            </a:r>
          </a:p>
          <a:p>
            <a:pPr algn="just"/>
            <a:r>
              <a:rPr lang="en-US" altLang="zh-TW" sz="2800" spc="-5" dirty="0">
                <a:ea typeface="標楷體" panose="03000509000000000000" pitchFamily="65" charset="-120"/>
              </a:rPr>
              <a:t>Library </a:t>
            </a:r>
            <a:r>
              <a:rPr lang="zh-TW" altLang="en-US" sz="2800" spc="-5" dirty="0">
                <a:ea typeface="標楷體" panose="03000509000000000000" pitchFamily="65" charset="-120"/>
              </a:rPr>
              <a:t>建立方法與之前作業一樣</a:t>
            </a:r>
            <a:endParaRPr lang="en-US" altLang="zh-TW" sz="2800" spc="-5" dirty="0">
              <a:ea typeface="標楷體" panose="03000509000000000000" pitchFamily="65" charset="-120"/>
            </a:endParaRPr>
          </a:p>
          <a:p>
            <a:pPr algn="just"/>
            <a:r>
              <a:rPr lang="en-US" altLang="zh-TW" sz="2800" spc="-5" dirty="0">
                <a:ea typeface="標楷體" panose="03000509000000000000" pitchFamily="65" charset="-120"/>
              </a:rPr>
              <a:t>Cell </a:t>
            </a:r>
            <a:r>
              <a:rPr lang="zh-TW" altLang="en-US" sz="2800" spc="-5" dirty="0">
                <a:ea typeface="標楷體" panose="03000509000000000000" pitchFamily="65" charset="-120"/>
              </a:rPr>
              <a:t>取名為 </a:t>
            </a:r>
            <a:r>
              <a:rPr lang="en-US" altLang="zh-TW" sz="2800" spc="-5" dirty="0">
                <a:ea typeface="標楷體" panose="03000509000000000000" pitchFamily="65" charset="-120"/>
              </a:rPr>
              <a:t>CMOS_FA</a:t>
            </a:r>
          </a:p>
          <a:p>
            <a:pPr algn="just"/>
            <a:r>
              <a:rPr lang="zh-TW" altLang="en-US" sz="2800" spc="-5" dirty="0">
                <a:ea typeface="標楷體" panose="03000509000000000000" pitchFamily="65" charset="-120"/>
              </a:rPr>
              <a:t>需先建立好 </a:t>
            </a:r>
            <a:r>
              <a:rPr lang="en-US" altLang="zh-TW" sz="2800" spc="-5" dirty="0">
                <a:ea typeface="標楷體" panose="03000509000000000000" pitchFamily="65" charset="-120"/>
              </a:rPr>
              <a:t>schematic</a:t>
            </a:r>
            <a:r>
              <a:rPr lang="zh-TW" altLang="en-US" sz="2800" spc="-5" dirty="0">
                <a:ea typeface="標楷體" panose="03000509000000000000" pitchFamily="65" charset="-120"/>
              </a:rPr>
              <a:t> </a:t>
            </a:r>
            <a:r>
              <a:rPr lang="en-US" altLang="zh-TW" sz="2800" spc="-5" dirty="0">
                <a:ea typeface="標楷體" panose="03000509000000000000" pitchFamily="65" charset="-120"/>
              </a:rPr>
              <a:t>(</a:t>
            </a:r>
            <a:r>
              <a:rPr lang="zh-TW" altLang="en-US" sz="2800" spc="-5" dirty="0">
                <a:ea typeface="標楷體" panose="03000509000000000000" pitchFamily="65" charset="-120"/>
              </a:rPr>
              <a:t>電路圖在下頁</a:t>
            </a:r>
            <a:r>
              <a:rPr lang="en-US" altLang="zh-TW" sz="2800" spc="-5" dirty="0">
                <a:ea typeface="標楷體" panose="03000509000000000000" pitchFamily="65" charset="-120"/>
              </a:rPr>
              <a:t>)</a:t>
            </a:r>
          </a:p>
          <a:p>
            <a:pPr algn="just"/>
            <a:r>
              <a:rPr lang="zh-TW" altLang="en-US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確認 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CMOS_FA </a:t>
            </a:r>
            <a:r>
              <a:rPr lang="zh-TW" altLang="en-US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功能無誤後，即可開始跑 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Pre-Layout Simulation </a:t>
            </a:r>
            <a:r>
              <a:rPr lang="zh-TW" altLang="en-US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及 </a:t>
            </a:r>
            <a:r>
              <a:rPr lang="en-US" altLang="zh-TW" sz="2800" spc="-5">
                <a:solidFill>
                  <a:srgbClr val="FF0000"/>
                </a:solidFill>
                <a:ea typeface="標楷體" panose="03000509000000000000" pitchFamily="65" charset="-120"/>
              </a:rPr>
              <a:t>Layout</a:t>
            </a:r>
            <a:endParaRPr lang="en-US" altLang="zh-TW" sz="2800" spc="-5" dirty="0">
              <a:solidFill>
                <a:srgbClr val="FF0000"/>
              </a:solidFill>
              <a:ea typeface="標楷體" panose="03000509000000000000" pitchFamily="65" charset="-120"/>
            </a:endParaRPr>
          </a:p>
          <a:p>
            <a:pPr algn="just"/>
            <a:endParaRPr lang="en-US" altLang="zh-TW" sz="2800" spc="-5" dirty="0">
              <a:ea typeface="標楷體" panose="03000509000000000000" pitchFamily="65" charset="-120"/>
            </a:endParaRPr>
          </a:p>
          <a:p>
            <a:pPr algn="just"/>
            <a:endParaRPr lang="en-US" altLang="zh-TW" sz="2800" spc="-5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0D8DF74-6926-364F-4000-F1157B6DB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894" y="1276065"/>
            <a:ext cx="5820185" cy="453650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114FF16-57B6-BD5F-1DEE-212E5FE1442D}"/>
              </a:ext>
            </a:extLst>
          </p:cNvPr>
          <p:cNvSpPr/>
          <p:nvPr/>
        </p:nvSpPr>
        <p:spPr>
          <a:xfrm flipH="1">
            <a:off x="7000402" y="1816125"/>
            <a:ext cx="3401876" cy="10081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1193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12420376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28T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Full adder schematic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E9977A8-9B16-CAFE-94D4-9F062A92DB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903" y="2429468"/>
            <a:ext cx="9073008" cy="480318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F345E3E-6146-4375-390C-7D4056193A0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612951" y="5840620"/>
            <a:ext cx="1805046" cy="102401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DEDFB44-022A-D4F7-0F14-862E9A788597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503568" y="2967897"/>
            <a:ext cx="2922454" cy="1296853"/>
          </a:xfrm>
          <a:prstGeom prst="rect">
            <a:avLst/>
          </a:prstGeom>
        </p:spPr>
      </p:pic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7FFDA200-697E-443F-262D-1A534EA0D187}"/>
              </a:ext>
            </a:extLst>
          </p:cNvPr>
          <p:cNvSpPr>
            <a:spLocks noGrp="1"/>
          </p:cNvSpPr>
          <p:nvPr/>
        </p:nvSpPr>
        <p:spPr>
          <a:xfrm>
            <a:off x="92671" y="880020"/>
            <a:ext cx="12420376" cy="156744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800" spc="-5" dirty="0">
                <a:ea typeface="標楷體" panose="03000509000000000000" pitchFamily="65" charset="-120"/>
              </a:rPr>
              <a:t>28T Full adder schematic (Mirror FA)</a:t>
            </a:r>
          </a:p>
          <a:p>
            <a:pPr algn="just"/>
            <a:r>
              <a:rPr lang="en-US" altLang="zh-TW" sz="2800" spc="-5" dirty="0">
                <a:ea typeface="標楷體" panose="03000509000000000000" pitchFamily="65" charset="-120"/>
              </a:rPr>
              <a:t>CMOS_F1</a:t>
            </a:r>
            <a:r>
              <a:rPr lang="zh-TW" altLang="en-US" sz="2800" spc="-5" dirty="0">
                <a:ea typeface="標楷體" panose="03000509000000000000" pitchFamily="65" charset="-120"/>
              </a:rPr>
              <a:t> 及 </a:t>
            </a:r>
            <a:r>
              <a:rPr lang="en-US" altLang="zh-TW" sz="2800" spc="-5" dirty="0">
                <a:ea typeface="標楷體" panose="03000509000000000000" pitchFamily="65" charset="-120"/>
              </a:rPr>
              <a:t>CMOS_F2 </a:t>
            </a:r>
            <a:r>
              <a:rPr lang="zh-TW" altLang="en-US" sz="2800" spc="-5" dirty="0">
                <a:ea typeface="標楷體" panose="03000509000000000000" pitchFamily="65" charset="-120"/>
              </a:rPr>
              <a:t>驅動能力需與 </a:t>
            </a:r>
            <a:r>
              <a:rPr lang="en-US" altLang="zh-TW" sz="2800" spc="-5" dirty="0">
                <a:ea typeface="標楷體" panose="03000509000000000000" pitchFamily="65" charset="-120"/>
              </a:rPr>
              <a:t>INV_X1</a:t>
            </a:r>
            <a:r>
              <a:rPr lang="zh-TW" altLang="en-US" sz="2800" spc="-5" dirty="0">
                <a:ea typeface="標楷體" panose="03000509000000000000" pitchFamily="65" charset="-120"/>
              </a:rPr>
              <a:t> 一致 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(</a:t>
            </a:r>
            <a:r>
              <a:rPr lang="zh-TW" altLang="en-US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請自行設計 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Pull-up </a:t>
            </a:r>
            <a:r>
              <a:rPr lang="zh-TW" altLang="en-US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及 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Pull-down</a:t>
            </a:r>
            <a:r>
              <a:rPr lang="zh-TW" altLang="en-US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Networks </a:t>
            </a:r>
            <a:r>
              <a:rPr lang="zh-TW" altLang="en-US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各 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PMOS </a:t>
            </a:r>
            <a:r>
              <a:rPr lang="zh-TW" altLang="en-US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及 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NMOS </a:t>
            </a:r>
            <a:r>
              <a:rPr lang="zh-TW" altLang="en-US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的寬度，長度固定為 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0.18 um)</a:t>
            </a:r>
          </a:p>
          <a:p>
            <a:pPr algn="just"/>
            <a:endParaRPr lang="en-US" altLang="zh-TW" sz="2800" spc="-5" dirty="0">
              <a:ea typeface="標楷體" panose="03000509000000000000" pitchFamily="65" charset="-120"/>
            </a:endParaRPr>
          </a:p>
          <a:p>
            <a:pPr algn="just"/>
            <a:endParaRPr lang="en-US" altLang="zh-TW" sz="2800" spc="-5" dirty="0">
              <a:ea typeface="標楷體" panose="03000509000000000000" pitchFamily="65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D04F72-0B70-D640-6133-587BBE2E5BE2}"/>
              </a:ext>
            </a:extLst>
          </p:cNvPr>
          <p:cNvSpPr/>
          <p:nvPr/>
        </p:nvSpPr>
        <p:spPr>
          <a:xfrm flipH="1">
            <a:off x="2252911" y="2815483"/>
            <a:ext cx="2304256" cy="28890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E7AC377-2344-9FFD-1253-B9889BD4C108}"/>
              </a:ext>
            </a:extLst>
          </p:cNvPr>
          <p:cNvSpPr txBox="1"/>
          <p:nvPr/>
        </p:nvSpPr>
        <p:spPr>
          <a:xfrm>
            <a:off x="2759390" y="2752229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CMOS_F1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EC0AA7-7AFE-2771-958A-7210DB55EE1A}"/>
              </a:ext>
            </a:extLst>
          </p:cNvPr>
          <p:cNvSpPr/>
          <p:nvPr/>
        </p:nvSpPr>
        <p:spPr>
          <a:xfrm flipH="1">
            <a:off x="4629175" y="2447469"/>
            <a:ext cx="2736304" cy="3977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D11E49F-327D-5C54-248E-2CAF0349522F}"/>
              </a:ext>
            </a:extLst>
          </p:cNvPr>
          <p:cNvSpPr txBox="1"/>
          <p:nvPr/>
        </p:nvSpPr>
        <p:spPr>
          <a:xfrm>
            <a:off x="5025219" y="2518246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CMOS_F2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DF61C67-B3BF-2A20-B021-6E4524BDD052}"/>
              </a:ext>
            </a:extLst>
          </p:cNvPr>
          <p:cNvSpPr txBox="1"/>
          <p:nvPr/>
        </p:nvSpPr>
        <p:spPr>
          <a:xfrm>
            <a:off x="7417771" y="5504501"/>
            <a:ext cx="1154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INV_X1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216088C-447A-F6C9-870D-4268286187D7}"/>
              </a:ext>
            </a:extLst>
          </p:cNvPr>
          <p:cNvSpPr txBox="1"/>
          <p:nvPr/>
        </p:nvSpPr>
        <p:spPr>
          <a:xfrm>
            <a:off x="10372971" y="3416269"/>
            <a:ext cx="1154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INV_X1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C6ECF8C-11AF-38C3-89B6-BB7B2778AA44}"/>
              </a:ext>
            </a:extLst>
          </p:cNvPr>
          <p:cNvSpPr txBox="1"/>
          <p:nvPr/>
        </p:nvSpPr>
        <p:spPr>
          <a:xfrm>
            <a:off x="8429642" y="6070694"/>
            <a:ext cx="34612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0.50 um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；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 = 0.18 um</a:t>
            </a:r>
          </a:p>
          <a:p>
            <a:r>
              <a:rPr lang="en-US" altLang="zh-TW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0.25 um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；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 = 0.18 um</a:t>
            </a:r>
          </a:p>
        </p:txBody>
      </p:sp>
    </p:spTree>
    <p:extLst>
      <p:ext uri="{BB962C8B-B14F-4D97-AF65-F5344CB8AC3E}">
        <p14:creationId xmlns:p14="http://schemas.microsoft.com/office/powerpoint/2010/main" val="4001630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12420376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電路功能驗證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5880B4A-88AB-2873-118C-F4208CFA3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6" y="1466932"/>
            <a:ext cx="12802278" cy="567778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8633424-C69B-C9EA-35C6-A987F19AE5A7}"/>
              </a:ext>
            </a:extLst>
          </p:cNvPr>
          <p:cNvSpPr txBox="1"/>
          <p:nvPr/>
        </p:nvSpPr>
        <p:spPr>
          <a:xfrm>
            <a:off x="956767" y="200730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C84475A-7845-735B-935E-38A8D4EB5DBE}"/>
              </a:ext>
            </a:extLst>
          </p:cNvPr>
          <p:cNvSpPr txBox="1"/>
          <p:nvPr/>
        </p:nvSpPr>
        <p:spPr>
          <a:xfrm>
            <a:off x="956767" y="2912744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1074C9F-F7A3-D370-4774-77BD9C7A2C03}"/>
              </a:ext>
            </a:extLst>
          </p:cNvPr>
          <p:cNvSpPr txBox="1"/>
          <p:nvPr/>
        </p:nvSpPr>
        <p:spPr>
          <a:xfrm>
            <a:off x="956767" y="4035025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D231372-13B0-B065-06D7-E183E67940FE}"/>
              </a:ext>
            </a:extLst>
          </p:cNvPr>
          <p:cNvSpPr txBox="1"/>
          <p:nvPr/>
        </p:nvSpPr>
        <p:spPr>
          <a:xfrm>
            <a:off x="956767" y="4965098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38AF16A-BE77-7D8B-4567-76F18B128F79}"/>
              </a:ext>
            </a:extLst>
          </p:cNvPr>
          <p:cNvSpPr txBox="1"/>
          <p:nvPr/>
        </p:nvSpPr>
        <p:spPr>
          <a:xfrm>
            <a:off x="956767" y="610084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EEB2EE7-E693-2B01-C401-B59F33D803EA}"/>
              </a:ext>
            </a:extLst>
          </p:cNvPr>
          <p:cNvSpPr txBox="1"/>
          <p:nvPr/>
        </p:nvSpPr>
        <p:spPr>
          <a:xfrm>
            <a:off x="2540943" y="200730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67F44BA-FC02-880A-9718-BC8BAA206798}"/>
              </a:ext>
            </a:extLst>
          </p:cNvPr>
          <p:cNvSpPr txBox="1"/>
          <p:nvPr/>
        </p:nvSpPr>
        <p:spPr>
          <a:xfrm>
            <a:off x="2540943" y="2912744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5F5DD55-10E8-10AD-840B-A050E8ECA4ED}"/>
              </a:ext>
            </a:extLst>
          </p:cNvPr>
          <p:cNvSpPr txBox="1"/>
          <p:nvPr/>
        </p:nvSpPr>
        <p:spPr>
          <a:xfrm>
            <a:off x="2540943" y="4035025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1CA0676-2B1A-1E10-A460-FFA801A094C5}"/>
              </a:ext>
            </a:extLst>
          </p:cNvPr>
          <p:cNvSpPr txBox="1"/>
          <p:nvPr/>
        </p:nvSpPr>
        <p:spPr>
          <a:xfrm>
            <a:off x="2540943" y="4965098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F8AC0C1-0225-ECA9-FB61-2FCCB1DA871D}"/>
              </a:ext>
            </a:extLst>
          </p:cNvPr>
          <p:cNvSpPr txBox="1"/>
          <p:nvPr/>
        </p:nvSpPr>
        <p:spPr>
          <a:xfrm>
            <a:off x="2540943" y="610084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34549E64-0D50-F8A7-BFAC-0578D796157F}"/>
              </a:ext>
            </a:extLst>
          </p:cNvPr>
          <p:cNvSpPr txBox="1"/>
          <p:nvPr/>
        </p:nvSpPr>
        <p:spPr>
          <a:xfrm>
            <a:off x="4125119" y="200730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5C8BEE1-192E-E45B-BB33-6CE81DFDA812}"/>
              </a:ext>
            </a:extLst>
          </p:cNvPr>
          <p:cNvSpPr txBox="1"/>
          <p:nvPr/>
        </p:nvSpPr>
        <p:spPr>
          <a:xfrm>
            <a:off x="4125119" y="2912744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AA99920-65E1-778B-5196-EA7F081D5529}"/>
              </a:ext>
            </a:extLst>
          </p:cNvPr>
          <p:cNvSpPr txBox="1"/>
          <p:nvPr/>
        </p:nvSpPr>
        <p:spPr>
          <a:xfrm>
            <a:off x="4125119" y="4035025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73E1C1A-9CB3-C832-CECD-094EF8F85AFA}"/>
              </a:ext>
            </a:extLst>
          </p:cNvPr>
          <p:cNvSpPr txBox="1"/>
          <p:nvPr/>
        </p:nvSpPr>
        <p:spPr>
          <a:xfrm>
            <a:off x="4125119" y="4965098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1539405-6909-776D-2558-99B490756A02}"/>
              </a:ext>
            </a:extLst>
          </p:cNvPr>
          <p:cNvSpPr txBox="1"/>
          <p:nvPr/>
        </p:nvSpPr>
        <p:spPr>
          <a:xfrm>
            <a:off x="4125119" y="610084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DE3FA11-72AC-6A8E-5C96-2154BE74B3B6}"/>
              </a:ext>
            </a:extLst>
          </p:cNvPr>
          <p:cNvSpPr txBox="1"/>
          <p:nvPr/>
        </p:nvSpPr>
        <p:spPr>
          <a:xfrm>
            <a:off x="5518284" y="200730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9E4BB6F-7FC5-C7A8-9F6A-9022CB96ED95}"/>
              </a:ext>
            </a:extLst>
          </p:cNvPr>
          <p:cNvSpPr txBox="1"/>
          <p:nvPr/>
        </p:nvSpPr>
        <p:spPr>
          <a:xfrm>
            <a:off x="5518284" y="2912744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79B30821-F1E8-09B5-C530-111CA19C96A1}"/>
              </a:ext>
            </a:extLst>
          </p:cNvPr>
          <p:cNvSpPr txBox="1"/>
          <p:nvPr/>
        </p:nvSpPr>
        <p:spPr>
          <a:xfrm>
            <a:off x="5518284" y="4035025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747E196-B511-2B07-FA3C-8CD1070F6965}"/>
              </a:ext>
            </a:extLst>
          </p:cNvPr>
          <p:cNvSpPr txBox="1"/>
          <p:nvPr/>
        </p:nvSpPr>
        <p:spPr>
          <a:xfrm>
            <a:off x="5518284" y="4965098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7D3B72F-5198-A8EC-C76E-1C0789220534}"/>
              </a:ext>
            </a:extLst>
          </p:cNvPr>
          <p:cNvSpPr txBox="1"/>
          <p:nvPr/>
        </p:nvSpPr>
        <p:spPr>
          <a:xfrm>
            <a:off x="5518284" y="610084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0A6765B-932E-1B16-092D-A79FBA744BB5}"/>
              </a:ext>
            </a:extLst>
          </p:cNvPr>
          <p:cNvSpPr txBox="1"/>
          <p:nvPr/>
        </p:nvSpPr>
        <p:spPr>
          <a:xfrm>
            <a:off x="7077447" y="200730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67AAB673-2731-D5ED-CDA5-FC3C8E6136ED}"/>
              </a:ext>
            </a:extLst>
          </p:cNvPr>
          <p:cNvSpPr txBox="1"/>
          <p:nvPr/>
        </p:nvSpPr>
        <p:spPr>
          <a:xfrm>
            <a:off x="7077447" y="2912744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BCE5E40-5E8D-8F69-F739-F8D389E259DA}"/>
              </a:ext>
            </a:extLst>
          </p:cNvPr>
          <p:cNvSpPr txBox="1"/>
          <p:nvPr/>
        </p:nvSpPr>
        <p:spPr>
          <a:xfrm>
            <a:off x="7077447" y="4035025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CD73E5D-DC76-2D96-0666-17E0202E5528}"/>
              </a:ext>
            </a:extLst>
          </p:cNvPr>
          <p:cNvSpPr txBox="1"/>
          <p:nvPr/>
        </p:nvSpPr>
        <p:spPr>
          <a:xfrm>
            <a:off x="7077447" y="4965098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E3200482-BE60-74AE-2FE0-3C3BCEC773F2}"/>
              </a:ext>
            </a:extLst>
          </p:cNvPr>
          <p:cNvSpPr txBox="1"/>
          <p:nvPr/>
        </p:nvSpPr>
        <p:spPr>
          <a:xfrm>
            <a:off x="7077447" y="610084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E57658B0-3FCB-196D-CA33-F55E84618C80}"/>
              </a:ext>
            </a:extLst>
          </p:cNvPr>
          <p:cNvSpPr txBox="1"/>
          <p:nvPr/>
        </p:nvSpPr>
        <p:spPr>
          <a:xfrm>
            <a:off x="8445599" y="200730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FDA5D4A8-820F-D452-65D6-7880F55E6D62}"/>
              </a:ext>
            </a:extLst>
          </p:cNvPr>
          <p:cNvSpPr txBox="1"/>
          <p:nvPr/>
        </p:nvSpPr>
        <p:spPr>
          <a:xfrm>
            <a:off x="8445599" y="2912744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93D50EA9-403D-5249-F63A-050358406056}"/>
              </a:ext>
            </a:extLst>
          </p:cNvPr>
          <p:cNvSpPr txBox="1"/>
          <p:nvPr/>
        </p:nvSpPr>
        <p:spPr>
          <a:xfrm>
            <a:off x="8445599" y="4035025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8E987C2-9EF7-0204-F558-097EAF60E7A1}"/>
              </a:ext>
            </a:extLst>
          </p:cNvPr>
          <p:cNvSpPr txBox="1"/>
          <p:nvPr/>
        </p:nvSpPr>
        <p:spPr>
          <a:xfrm>
            <a:off x="8445599" y="4965098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5F11590C-3C6A-E32F-8397-F589F01C8DCE}"/>
              </a:ext>
            </a:extLst>
          </p:cNvPr>
          <p:cNvSpPr txBox="1"/>
          <p:nvPr/>
        </p:nvSpPr>
        <p:spPr>
          <a:xfrm>
            <a:off x="8445599" y="610084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52C1149F-C242-E590-BE07-22AE4324C5B0}"/>
              </a:ext>
            </a:extLst>
          </p:cNvPr>
          <p:cNvSpPr txBox="1"/>
          <p:nvPr/>
        </p:nvSpPr>
        <p:spPr>
          <a:xfrm>
            <a:off x="10029775" y="200730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2CB4B0A8-0074-993A-9F90-E86B64D605C3}"/>
              </a:ext>
            </a:extLst>
          </p:cNvPr>
          <p:cNvSpPr txBox="1"/>
          <p:nvPr/>
        </p:nvSpPr>
        <p:spPr>
          <a:xfrm>
            <a:off x="10029775" y="2912744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87C52C6F-171B-C0A0-E563-6FD9252AA107}"/>
              </a:ext>
            </a:extLst>
          </p:cNvPr>
          <p:cNvSpPr txBox="1"/>
          <p:nvPr/>
        </p:nvSpPr>
        <p:spPr>
          <a:xfrm>
            <a:off x="10029775" y="4035025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DEAF7C99-8931-274E-8BC3-BAB65ED1E46C}"/>
              </a:ext>
            </a:extLst>
          </p:cNvPr>
          <p:cNvSpPr txBox="1"/>
          <p:nvPr/>
        </p:nvSpPr>
        <p:spPr>
          <a:xfrm>
            <a:off x="10029775" y="4965098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F6C0755A-1931-52B8-0194-E5D1012CFE6A}"/>
              </a:ext>
            </a:extLst>
          </p:cNvPr>
          <p:cNvSpPr txBox="1"/>
          <p:nvPr/>
        </p:nvSpPr>
        <p:spPr>
          <a:xfrm>
            <a:off x="10029775" y="610084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EF2801D6-C65D-19A6-E926-5B6E1A370D87}"/>
              </a:ext>
            </a:extLst>
          </p:cNvPr>
          <p:cNvSpPr txBox="1"/>
          <p:nvPr/>
        </p:nvSpPr>
        <p:spPr>
          <a:xfrm>
            <a:off x="11519961" y="200730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D3ED0499-B907-4FEB-3EC0-89A89E71387F}"/>
              </a:ext>
            </a:extLst>
          </p:cNvPr>
          <p:cNvSpPr txBox="1"/>
          <p:nvPr/>
        </p:nvSpPr>
        <p:spPr>
          <a:xfrm>
            <a:off x="11519961" y="2912744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870F3F42-F3FD-DA44-22CF-CB26A7726B0C}"/>
              </a:ext>
            </a:extLst>
          </p:cNvPr>
          <p:cNvSpPr txBox="1"/>
          <p:nvPr/>
        </p:nvSpPr>
        <p:spPr>
          <a:xfrm>
            <a:off x="11519961" y="4035025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418DF70-7D41-08B6-445D-7AD5E1BD192A}"/>
              </a:ext>
            </a:extLst>
          </p:cNvPr>
          <p:cNvSpPr txBox="1"/>
          <p:nvPr/>
        </p:nvSpPr>
        <p:spPr>
          <a:xfrm>
            <a:off x="11519961" y="4965098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BF7CC88A-EC88-EBEB-FF13-B9AFBC1DE195}"/>
              </a:ext>
            </a:extLst>
          </p:cNvPr>
          <p:cNvSpPr txBox="1"/>
          <p:nvPr/>
        </p:nvSpPr>
        <p:spPr>
          <a:xfrm>
            <a:off x="11519961" y="6100842"/>
            <a:ext cx="3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5" name="內容版面配置區 3">
            <a:extLst>
              <a:ext uri="{FF2B5EF4-FFF2-40B4-BE49-F238E27FC236}">
                <a16:creationId xmlns:a16="http://schemas.microsoft.com/office/drawing/2014/main" id="{08097C10-CA49-39A3-E3B6-FBE7AAAA21EA}"/>
              </a:ext>
            </a:extLst>
          </p:cNvPr>
          <p:cNvSpPr>
            <a:spLocks noGrp="1"/>
          </p:cNvSpPr>
          <p:nvPr/>
        </p:nvSpPr>
        <p:spPr>
          <a:xfrm>
            <a:off x="92671" y="808013"/>
            <a:ext cx="12420376" cy="5869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800" spc="-5" dirty="0">
                <a:ea typeface="標楷體" panose="03000509000000000000" pitchFamily="65" charset="-120"/>
              </a:rPr>
              <a:t>透過波型來驗證電路功能是否符合 </a:t>
            </a:r>
            <a:r>
              <a:rPr lang="en-US" altLang="zh-TW" sz="2800" spc="-5" dirty="0">
                <a:ea typeface="標楷體" panose="03000509000000000000" pitchFamily="65" charset="-120"/>
              </a:rPr>
              <a:t>Full adder </a:t>
            </a:r>
            <a:r>
              <a:rPr lang="zh-TW" altLang="en-US" sz="2800" spc="-5" dirty="0">
                <a:ea typeface="標楷體" panose="03000509000000000000" pitchFamily="65" charset="-120"/>
              </a:rPr>
              <a:t>的真值表</a:t>
            </a:r>
            <a:endParaRPr lang="en-US" altLang="zh-TW" sz="2800" spc="-5" dirty="0">
              <a:ea typeface="標楷體" panose="03000509000000000000" pitchFamily="65" charset="-120"/>
            </a:endParaRPr>
          </a:p>
          <a:p>
            <a:pPr algn="just"/>
            <a:endParaRPr lang="en-US" altLang="zh-TW" sz="2800" spc="-5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00464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12420376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Euler Path Example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2" name="內容版面配置區 3">
            <a:extLst>
              <a:ext uri="{FF2B5EF4-FFF2-40B4-BE49-F238E27FC236}">
                <a16:creationId xmlns:a16="http://schemas.microsoft.com/office/drawing/2014/main" id="{3689CEB7-8AC0-BE25-8CF0-2F825981B3E7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676" y="2827536"/>
            <a:ext cx="2528886" cy="434703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100F9708-3E45-E8B3-9FB1-460680BF2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998" y="1097857"/>
            <a:ext cx="4358585" cy="252293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FE7A8B7-0DCE-F655-CE00-D51D58E18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9998" y="4080952"/>
            <a:ext cx="4358585" cy="3063765"/>
          </a:xfrm>
          <a:prstGeom prst="rect">
            <a:avLst/>
          </a:prstGeom>
        </p:spPr>
      </p:pic>
      <p:sp>
        <p:nvSpPr>
          <p:cNvPr id="7" name="文字方塊 8">
            <a:extLst>
              <a:ext uri="{FF2B5EF4-FFF2-40B4-BE49-F238E27FC236}">
                <a16:creationId xmlns:a16="http://schemas.microsoft.com/office/drawing/2014/main" id="{FDD76CBA-1950-DD58-AE04-699B59351680}"/>
              </a:ext>
            </a:extLst>
          </p:cNvPr>
          <p:cNvSpPr txBox="1"/>
          <p:nvPr/>
        </p:nvSpPr>
        <p:spPr>
          <a:xfrm>
            <a:off x="10100019" y="683110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PMOS</a:t>
            </a:r>
            <a:endParaRPr lang="zh-TW" altLang="en-US" dirty="0"/>
          </a:p>
        </p:txBody>
      </p:sp>
      <p:sp>
        <p:nvSpPr>
          <p:cNvPr id="9" name="文字方塊 9">
            <a:extLst>
              <a:ext uri="{FF2B5EF4-FFF2-40B4-BE49-F238E27FC236}">
                <a16:creationId xmlns:a16="http://schemas.microsoft.com/office/drawing/2014/main" id="{6FD1A12F-ED90-F8E7-3198-5B0C5E3F457A}"/>
              </a:ext>
            </a:extLst>
          </p:cNvPr>
          <p:cNvSpPr txBox="1"/>
          <p:nvPr/>
        </p:nvSpPr>
        <p:spPr>
          <a:xfrm>
            <a:off x="10084789" y="3679041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NMOS</a:t>
            </a:r>
            <a:endParaRPr lang="zh-TW" altLang="en-US" dirty="0"/>
          </a:p>
        </p:txBody>
      </p: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4DA11714-34AF-8112-1B63-982D71908598}"/>
              </a:ext>
            </a:extLst>
          </p:cNvPr>
          <p:cNvSpPr>
            <a:spLocks noGrp="1"/>
          </p:cNvSpPr>
          <p:nvPr/>
        </p:nvSpPr>
        <p:spPr>
          <a:xfrm>
            <a:off x="92671" y="880019"/>
            <a:ext cx="8064896" cy="208823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800" spc="-5" dirty="0">
                <a:ea typeface="標楷體" panose="03000509000000000000" pitchFamily="65" charset="-120"/>
              </a:rPr>
              <a:t>務必使用 </a:t>
            </a:r>
            <a:r>
              <a:rPr lang="en-US" altLang="zh-TW" sz="2800" spc="-5" dirty="0">
                <a:ea typeface="標楷體" panose="03000509000000000000" pitchFamily="65" charset="-120"/>
              </a:rPr>
              <a:t>Euler Path </a:t>
            </a:r>
            <a:r>
              <a:rPr lang="zh-TW" altLang="en-US" sz="2800" spc="-5" dirty="0">
                <a:ea typeface="標楷體" panose="03000509000000000000" pitchFamily="65" charset="-120"/>
              </a:rPr>
              <a:t>來設計 </a:t>
            </a:r>
            <a:r>
              <a:rPr lang="en-US" altLang="zh-TW" sz="2800" spc="-5" dirty="0">
                <a:ea typeface="標楷體" panose="03000509000000000000" pitchFamily="65" charset="-120"/>
              </a:rPr>
              <a:t>Mirror FA 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(</a:t>
            </a:r>
            <a:r>
              <a:rPr lang="zh-TW" altLang="en-US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利用 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Euler Path </a:t>
            </a:r>
            <a:r>
              <a:rPr lang="zh-TW" altLang="en-US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可有效降低面積，且更好 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Layout)</a:t>
            </a:r>
          </a:p>
          <a:p>
            <a:pPr algn="just"/>
            <a:r>
              <a:rPr lang="zh-TW" altLang="en-US" sz="2800" spc="-5" dirty="0">
                <a:ea typeface="標楷體" panose="03000509000000000000" pitchFamily="65" charset="-120"/>
              </a:rPr>
              <a:t>以下為 </a:t>
            </a:r>
            <a:r>
              <a:rPr lang="en-US" altLang="zh-TW" sz="2800" spc="-5" dirty="0">
                <a:ea typeface="標楷體" panose="03000509000000000000" pitchFamily="65" charset="-120"/>
              </a:rPr>
              <a:t>Euler Path </a:t>
            </a:r>
            <a:r>
              <a:rPr lang="zh-TW" altLang="en-US" sz="2800" spc="-5" dirty="0">
                <a:ea typeface="標楷體" panose="03000509000000000000" pitchFamily="65" charset="-120"/>
              </a:rPr>
              <a:t>的範例 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(</a:t>
            </a:r>
            <a:r>
              <a:rPr lang="zh-TW" altLang="en-US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每個人的 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Euler Path </a:t>
            </a:r>
            <a:r>
              <a:rPr lang="zh-TW" altLang="en-US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皆不同，請自行設計，沒有一定的答案</a:t>
            </a:r>
            <a:r>
              <a:rPr lang="en-US" altLang="zh-TW" sz="2800" spc="-5" dirty="0">
                <a:solidFill>
                  <a:srgbClr val="FF0000"/>
                </a:solidFill>
                <a:ea typeface="標楷體" panose="03000509000000000000" pitchFamily="65" charset="-120"/>
              </a:rPr>
              <a:t>)</a:t>
            </a:r>
          </a:p>
          <a:p>
            <a:pPr algn="just"/>
            <a:endParaRPr lang="en-US" altLang="zh-TW" sz="2800" spc="-5" dirty="0">
              <a:ea typeface="標楷體" panose="03000509000000000000" pitchFamily="65" charset="-120"/>
            </a:endParaRPr>
          </a:p>
          <a:p>
            <a:pPr algn="just"/>
            <a:endParaRPr lang="en-US" altLang="zh-TW" sz="2800" spc="-5" dirty="0">
              <a:ea typeface="標楷體" panose="03000509000000000000" pitchFamily="65" charset="-120"/>
            </a:endParaRPr>
          </a:p>
          <a:p>
            <a:pPr algn="just"/>
            <a:endParaRPr lang="en-US" altLang="zh-TW" sz="2800" spc="-5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9465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12420376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CMOS Folding technique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4DA11714-34AF-8112-1B63-982D71908598}"/>
              </a:ext>
            </a:extLst>
          </p:cNvPr>
          <p:cNvSpPr>
            <a:spLocks noGrp="1"/>
          </p:cNvSpPr>
          <p:nvPr/>
        </p:nvSpPr>
        <p:spPr>
          <a:xfrm>
            <a:off x="92670" y="880020"/>
            <a:ext cx="12766079" cy="242873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hangingPunct="0"/>
            <a:r>
              <a:rPr lang="zh-TW" altLang="en-US" sz="2400" spc="-5" dirty="0">
                <a:ea typeface="標楷體" panose="03000509000000000000" pitchFamily="65" charset="-120"/>
              </a:rPr>
              <a:t>利用 </a:t>
            </a:r>
            <a:r>
              <a:rPr lang="en-US" altLang="zh-TW" sz="2400" spc="-5" dirty="0">
                <a:ea typeface="標楷體" panose="03000509000000000000" pitchFamily="65" charset="-120"/>
              </a:rPr>
              <a:t>Folding technique </a:t>
            </a:r>
            <a:r>
              <a:rPr lang="zh-TW" altLang="en-US" sz="2400" spc="-5" dirty="0">
                <a:ea typeface="標楷體" panose="03000509000000000000" pitchFamily="65" charset="-120"/>
              </a:rPr>
              <a:t>可有效降低 </a:t>
            </a:r>
            <a:r>
              <a:rPr lang="en-US" altLang="zh-TW" sz="2400" spc="-5" dirty="0">
                <a:ea typeface="標楷體" panose="03000509000000000000" pitchFamily="65" charset="-120"/>
              </a:rPr>
              <a:t>MOS </a:t>
            </a:r>
            <a:r>
              <a:rPr lang="zh-TW" altLang="en-US" sz="2400" spc="-5" dirty="0">
                <a:ea typeface="標楷體" panose="03000509000000000000" pitchFamily="65" charset="-120"/>
              </a:rPr>
              <a:t>的寬度 </a:t>
            </a:r>
            <a:r>
              <a:rPr lang="en-US" altLang="zh-TW" sz="2400" spc="-5" dirty="0">
                <a:ea typeface="標楷體" panose="03000509000000000000" pitchFamily="65" charset="-120"/>
              </a:rPr>
              <a:t>(</a:t>
            </a:r>
            <a:r>
              <a:rPr lang="zh-TW" altLang="en-US" sz="2400" spc="-5" dirty="0">
                <a:ea typeface="標楷體" panose="03000509000000000000" pitchFamily="65" charset="-120"/>
              </a:rPr>
              <a:t>也就是 </a:t>
            </a:r>
            <a:r>
              <a:rPr lang="en-US" altLang="zh-TW" sz="2400" spc="-5" dirty="0">
                <a:ea typeface="標楷體" panose="03000509000000000000" pitchFamily="65" charset="-120"/>
              </a:rPr>
              <a:t>Diffusion </a:t>
            </a:r>
            <a:r>
              <a:rPr lang="zh-TW" altLang="en-US" sz="2400" spc="-5" dirty="0">
                <a:ea typeface="標楷體" panose="03000509000000000000" pitchFamily="65" charset="-120"/>
              </a:rPr>
              <a:t>的寬度</a:t>
            </a:r>
            <a:r>
              <a:rPr lang="en-US" altLang="zh-TW" sz="2400" spc="-5" dirty="0">
                <a:ea typeface="標楷體" panose="03000509000000000000" pitchFamily="65" charset="-120"/>
              </a:rPr>
              <a:t>)</a:t>
            </a:r>
          </a:p>
          <a:p>
            <a:pPr algn="just" hangingPunct="0"/>
            <a:r>
              <a:rPr lang="zh-TW" altLang="en-US" sz="2400" spc="-5" dirty="0">
                <a:ea typeface="標楷體" panose="03000509000000000000" pitchFamily="65" charset="-120"/>
              </a:rPr>
              <a:t>以下為折數 </a:t>
            </a:r>
            <a:r>
              <a:rPr lang="en-US" altLang="zh-TW" sz="2400" spc="-5" dirty="0">
                <a:ea typeface="標楷體" panose="03000509000000000000" pitchFamily="65" charset="-120"/>
              </a:rPr>
              <a:t>(M</a:t>
            </a:r>
            <a:r>
              <a:rPr lang="zh-TW" altLang="en-US" sz="2400" spc="-5" dirty="0">
                <a:ea typeface="標楷體" panose="03000509000000000000" pitchFamily="65" charset="-120"/>
              </a:rPr>
              <a:t> </a:t>
            </a:r>
            <a:r>
              <a:rPr lang="en-US" altLang="zh-TW" sz="2400" spc="-5" dirty="0">
                <a:ea typeface="標楷體" panose="03000509000000000000" pitchFamily="65" charset="-120"/>
              </a:rPr>
              <a:t>=</a:t>
            </a:r>
            <a:r>
              <a:rPr lang="zh-TW" altLang="en-US" sz="2400" spc="-5" dirty="0">
                <a:ea typeface="標楷體" panose="03000509000000000000" pitchFamily="65" charset="-120"/>
              </a:rPr>
              <a:t> </a:t>
            </a:r>
            <a:r>
              <a:rPr lang="en-US" altLang="zh-TW" sz="2400" spc="-5" dirty="0">
                <a:ea typeface="標楷體" panose="03000509000000000000" pitchFamily="65" charset="-120"/>
              </a:rPr>
              <a:t>3)</a:t>
            </a:r>
            <a:r>
              <a:rPr lang="zh-TW" altLang="en-US" sz="2400" spc="-5" dirty="0">
                <a:ea typeface="標楷體" panose="03000509000000000000" pitchFamily="65" charset="-120"/>
              </a:rPr>
              <a:t> 的例子，將原本 </a:t>
            </a:r>
            <a:r>
              <a:rPr lang="en-US" altLang="zh-TW" sz="2400" spc="-5" dirty="0">
                <a:ea typeface="標楷體" panose="03000509000000000000" pitchFamily="65" charset="-120"/>
              </a:rPr>
              <a:t>W = 15 um </a:t>
            </a:r>
            <a:r>
              <a:rPr lang="zh-TW" altLang="en-US" sz="2400" spc="-5" dirty="0">
                <a:ea typeface="標楷體" panose="03000509000000000000" pitchFamily="65" charset="-120"/>
              </a:rPr>
              <a:t>的 </a:t>
            </a:r>
            <a:r>
              <a:rPr lang="en-US" altLang="zh-TW" sz="2400" spc="-5" dirty="0">
                <a:ea typeface="標楷體" panose="03000509000000000000" pitchFamily="65" charset="-120"/>
              </a:rPr>
              <a:t>PMOS</a:t>
            </a:r>
            <a:r>
              <a:rPr lang="zh-TW" altLang="en-US" sz="2400" spc="-5" dirty="0">
                <a:ea typeface="標楷體" panose="03000509000000000000" pitchFamily="65" charset="-120"/>
              </a:rPr>
              <a:t>，透過 </a:t>
            </a:r>
            <a:r>
              <a:rPr lang="en-US" altLang="zh-TW" sz="2400" spc="-5" dirty="0">
                <a:ea typeface="標楷體" panose="03000509000000000000" pitchFamily="65" charset="-120"/>
              </a:rPr>
              <a:t>Folding (</a:t>
            </a:r>
            <a:r>
              <a:rPr lang="zh-TW" altLang="en-US" sz="2400" spc="-5" dirty="0">
                <a:ea typeface="標楷體" panose="03000509000000000000" pitchFamily="65" charset="-120"/>
              </a:rPr>
              <a:t>也就是 </a:t>
            </a:r>
            <a:r>
              <a:rPr lang="en-US" altLang="zh-TW" sz="2400" spc="-5" dirty="0">
                <a:ea typeface="標楷體" panose="03000509000000000000" pitchFamily="65" charset="-120"/>
              </a:rPr>
              <a:t>PMOS </a:t>
            </a:r>
            <a:r>
              <a:rPr lang="zh-TW" altLang="en-US" sz="2400" spc="-5" dirty="0">
                <a:ea typeface="標楷體" panose="03000509000000000000" pitchFamily="65" charset="-120"/>
              </a:rPr>
              <a:t>並聯</a:t>
            </a:r>
            <a:r>
              <a:rPr lang="en-US" altLang="zh-TW" sz="2400" spc="-5" dirty="0">
                <a:ea typeface="標楷體" panose="03000509000000000000" pitchFamily="65" charset="-120"/>
              </a:rPr>
              <a:t>)</a:t>
            </a:r>
            <a:r>
              <a:rPr lang="zh-TW" altLang="en-US" sz="2400" spc="-5" dirty="0">
                <a:ea typeface="標楷體" panose="03000509000000000000" pitchFamily="65" charset="-120"/>
              </a:rPr>
              <a:t>，即可等效成 </a:t>
            </a:r>
            <a:r>
              <a:rPr lang="en-US" altLang="zh-TW" sz="2400" spc="-5" dirty="0">
                <a:ea typeface="標楷體" panose="03000509000000000000" pitchFamily="65" charset="-120"/>
              </a:rPr>
              <a:t>3</a:t>
            </a:r>
            <a:r>
              <a:rPr lang="zh-TW" altLang="en-US" sz="2400" spc="-5" dirty="0">
                <a:ea typeface="標楷體" panose="03000509000000000000" pitchFamily="65" charset="-120"/>
              </a:rPr>
              <a:t> 個 </a:t>
            </a:r>
            <a:r>
              <a:rPr lang="en-US" altLang="zh-TW" sz="2400" spc="-5" dirty="0">
                <a:ea typeface="標楷體" panose="03000509000000000000" pitchFamily="65" charset="-120"/>
              </a:rPr>
              <a:t>PMOS</a:t>
            </a:r>
            <a:r>
              <a:rPr lang="zh-TW" altLang="en-US" sz="2400" spc="-5" dirty="0">
                <a:ea typeface="標楷體" panose="03000509000000000000" pitchFamily="65" charset="-120"/>
              </a:rPr>
              <a:t> 寬度為 </a:t>
            </a:r>
            <a:r>
              <a:rPr lang="en-US" altLang="zh-TW" sz="2400" spc="-5" dirty="0">
                <a:ea typeface="標楷體" panose="03000509000000000000" pitchFamily="65" charset="-120"/>
              </a:rPr>
              <a:t>5 um</a:t>
            </a:r>
            <a:r>
              <a:rPr lang="zh-TW" altLang="en-US" sz="2400" spc="-5" dirty="0">
                <a:ea typeface="標楷體" panose="03000509000000000000" pitchFamily="65" charset="-120"/>
              </a:rPr>
              <a:t> 的並聯電路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(G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、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D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、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S 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務必連接正確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)</a:t>
            </a:r>
          </a:p>
          <a:p>
            <a:pPr algn="just" hangingPunct="0"/>
            <a:r>
              <a:rPr lang="zh-TW" altLang="en-US" sz="2400" spc="-5" dirty="0">
                <a:ea typeface="標楷體" panose="03000509000000000000" pitchFamily="65" charset="-120"/>
              </a:rPr>
              <a:t>注意 </a:t>
            </a:r>
            <a:r>
              <a:rPr lang="en-US" altLang="zh-TW" sz="2400" spc="-5" dirty="0">
                <a:ea typeface="標楷體" panose="03000509000000000000" pitchFamily="65" charset="-120"/>
              </a:rPr>
              <a:t>Folding </a:t>
            </a:r>
            <a:r>
              <a:rPr lang="zh-TW" altLang="en-US" sz="2400" spc="-5" dirty="0">
                <a:ea typeface="標楷體" panose="03000509000000000000" pitchFamily="65" charset="-120"/>
              </a:rPr>
              <a:t>過後的 </a:t>
            </a:r>
            <a:r>
              <a:rPr lang="en-US" altLang="zh-TW" sz="2400" spc="-5" dirty="0">
                <a:ea typeface="標楷體" panose="03000509000000000000" pitchFamily="65" charset="-120"/>
              </a:rPr>
              <a:t>Diffusion </a:t>
            </a:r>
            <a:r>
              <a:rPr lang="zh-TW" altLang="en-US" sz="2400" spc="-5" dirty="0">
                <a:ea typeface="標楷體" panose="03000509000000000000" pitchFamily="65" charset="-120"/>
              </a:rPr>
              <a:t>寬度需在小數點第二位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(Example W = 0.50 um is valid, but W = 0.375 um is invalid)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972B44A-B91C-42AB-D349-93D2D7099D97}"/>
              </a:ext>
            </a:extLst>
          </p:cNvPr>
          <p:cNvSpPr/>
          <p:nvPr/>
        </p:nvSpPr>
        <p:spPr>
          <a:xfrm>
            <a:off x="3699208" y="3184277"/>
            <a:ext cx="667168" cy="14824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B818DCEE-24C2-717C-A811-4ECD0F793BEB}"/>
              </a:ext>
            </a:extLst>
          </p:cNvPr>
          <p:cNvSpPr/>
          <p:nvPr/>
        </p:nvSpPr>
        <p:spPr>
          <a:xfrm>
            <a:off x="4810593" y="5380190"/>
            <a:ext cx="668456" cy="14824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86E3B2FC-5149-A6FB-A6C6-58E78D632CDB}"/>
              </a:ext>
            </a:extLst>
          </p:cNvPr>
          <p:cNvSpPr/>
          <p:nvPr/>
        </p:nvSpPr>
        <p:spPr>
          <a:xfrm>
            <a:off x="4281375" y="4833295"/>
            <a:ext cx="343887" cy="3683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2256A5AA-CB43-6A9A-3120-43875F114938}"/>
              </a:ext>
            </a:extLst>
          </p:cNvPr>
          <p:cNvSpPr txBox="1"/>
          <p:nvPr/>
        </p:nvSpPr>
        <p:spPr>
          <a:xfrm>
            <a:off x="5738999" y="5681498"/>
            <a:ext cx="857841" cy="7463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W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lang="en-US"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lang="en-US"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3B4D0522-CF7B-9BE1-84A1-670B35D950CB}"/>
              </a:ext>
            </a:extLst>
          </p:cNvPr>
          <p:cNvSpPr txBox="1"/>
          <p:nvPr/>
        </p:nvSpPr>
        <p:spPr>
          <a:xfrm>
            <a:off x="4581351" y="3612948"/>
            <a:ext cx="105593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W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15</a:t>
            </a:r>
            <a:r>
              <a:rPr lang="en-US"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3FEBC723-CF86-AE8F-E15E-65D2BD83D5B5}"/>
              </a:ext>
            </a:extLst>
          </p:cNvPr>
          <p:cNvSpPr/>
          <p:nvPr/>
        </p:nvSpPr>
        <p:spPr>
          <a:xfrm>
            <a:off x="7639289" y="2811987"/>
            <a:ext cx="3182574" cy="43327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6DDE6B0D-4134-EB93-7BE1-662F4CD10699}"/>
              </a:ext>
            </a:extLst>
          </p:cNvPr>
          <p:cNvSpPr/>
          <p:nvPr/>
        </p:nvSpPr>
        <p:spPr>
          <a:xfrm>
            <a:off x="3768144" y="5380187"/>
            <a:ext cx="668456" cy="14824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18811802-362E-1E4C-77B3-FF50AFE29BBE}"/>
              </a:ext>
            </a:extLst>
          </p:cNvPr>
          <p:cNvSpPr/>
          <p:nvPr/>
        </p:nvSpPr>
        <p:spPr>
          <a:xfrm>
            <a:off x="2698721" y="5380188"/>
            <a:ext cx="668456" cy="14824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B251C537-6567-CC21-119C-056A7C1425ED}"/>
              </a:ext>
            </a:extLst>
          </p:cNvPr>
          <p:cNvCxnSpPr>
            <a:cxnSpLocks/>
          </p:cNvCxnSpPr>
          <p:nvPr/>
        </p:nvCxnSpPr>
        <p:spPr>
          <a:xfrm>
            <a:off x="3367177" y="5380188"/>
            <a:ext cx="21118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7F8595EB-A2A6-4572-6B94-9A4CAEF20290}"/>
              </a:ext>
            </a:extLst>
          </p:cNvPr>
          <p:cNvCxnSpPr>
            <a:cxnSpLocks/>
          </p:cNvCxnSpPr>
          <p:nvPr/>
        </p:nvCxnSpPr>
        <p:spPr>
          <a:xfrm>
            <a:off x="3361040" y="6862640"/>
            <a:ext cx="21118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E30B6F56-CAA6-FE23-1FA5-B03B98485B7E}"/>
              </a:ext>
            </a:extLst>
          </p:cNvPr>
          <p:cNvCxnSpPr>
            <a:cxnSpLocks/>
          </p:cNvCxnSpPr>
          <p:nvPr/>
        </p:nvCxnSpPr>
        <p:spPr>
          <a:xfrm>
            <a:off x="2382705" y="6071252"/>
            <a:ext cx="24278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61A8A7C2-07CD-8203-0959-DD427270B549}"/>
              </a:ext>
            </a:extLst>
          </p:cNvPr>
          <p:cNvCxnSpPr>
            <a:cxnSpLocks/>
          </p:cNvCxnSpPr>
          <p:nvPr/>
        </p:nvCxnSpPr>
        <p:spPr>
          <a:xfrm>
            <a:off x="3339168" y="3854909"/>
            <a:ext cx="347211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bject 7">
            <a:extLst>
              <a:ext uri="{FF2B5EF4-FFF2-40B4-BE49-F238E27FC236}">
                <a16:creationId xmlns:a16="http://schemas.microsoft.com/office/drawing/2014/main" id="{12172467-CC6E-6E7B-8CAD-BB7C9C284DAF}"/>
              </a:ext>
            </a:extLst>
          </p:cNvPr>
          <p:cNvSpPr txBox="1"/>
          <p:nvPr/>
        </p:nvSpPr>
        <p:spPr>
          <a:xfrm>
            <a:off x="3041800" y="3709997"/>
            <a:ext cx="29095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71FB1141-F863-5EE2-57E6-458410B7C06D}"/>
              </a:ext>
            </a:extLst>
          </p:cNvPr>
          <p:cNvSpPr txBox="1"/>
          <p:nvPr/>
        </p:nvSpPr>
        <p:spPr>
          <a:xfrm>
            <a:off x="2138817" y="5926340"/>
            <a:ext cx="29095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C9171DC7-AB36-E003-8E32-D83F9450ABA4}"/>
              </a:ext>
            </a:extLst>
          </p:cNvPr>
          <p:cNvSpPr txBox="1"/>
          <p:nvPr/>
        </p:nvSpPr>
        <p:spPr>
          <a:xfrm>
            <a:off x="3425970" y="5926340"/>
            <a:ext cx="29095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7CA96E6E-342B-63D1-24DC-D63BF5AD5066}"/>
              </a:ext>
            </a:extLst>
          </p:cNvPr>
          <p:cNvSpPr txBox="1"/>
          <p:nvPr/>
        </p:nvSpPr>
        <p:spPr>
          <a:xfrm>
            <a:off x="4532092" y="5922989"/>
            <a:ext cx="29095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9" name="object 7">
            <a:extLst>
              <a:ext uri="{FF2B5EF4-FFF2-40B4-BE49-F238E27FC236}">
                <a16:creationId xmlns:a16="http://schemas.microsoft.com/office/drawing/2014/main" id="{29493BC7-D23C-5FB4-BCB8-1EECC215BFD5}"/>
              </a:ext>
            </a:extLst>
          </p:cNvPr>
          <p:cNvSpPr txBox="1"/>
          <p:nvPr/>
        </p:nvSpPr>
        <p:spPr>
          <a:xfrm>
            <a:off x="8359369" y="4647012"/>
            <a:ext cx="29095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G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0" name="object 7">
            <a:extLst>
              <a:ext uri="{FF2B5EF4-FFF2-40B4-BE49-F238E27FC236}">
                <a16:creationId xmlns:a16="http://schemas.microsoft.com/office/drawing/2014/main" id="{5FB51134-732E-17C4-2CF7-8D44F0056922}"/>
              </a:ext>
            </a:extLst>
          </p:cNvPr>
          <p:cNvSpPr txBox="1"/>
          <p:nvPr/>
        </p:nvSpPr>
        <p:spPr>
          <a:xfrm>
            <a:off x="9079449" y="4650209"/>
            <a:ext cx="29095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G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1" name="object 7">
            <a:extLst>
              <a:ext uri="{FF2B5EF4-FFF2-40B4-BE49-F238E27FC236}">
                <a16:creationId xmlns:a16="http://schemas.microsoft.com/office/drawing/2014/main" id="{3162AC6D-B3C2-4D49-1B0A-3A0BB47426A3}"/>
              </a:ext>
            </a:extLst>
          </p:cNvPr>
          <p:cNvSpPr txBox="1"/>
          <p:nvPr/>
        </p:nvSpPr>
        <p:spPr>
          <a:xfrm>
            <a:off x="9799529" y="4651370"/>
            <a:ext cx="29095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G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2" name="object 7">
            <a:extLst>
              <a:ext uri="{FF2B5EF4-FFF2-40B4-BE49-F238E27FC236}">
                <a16:creationId xmlns:a16="http://schemas.microsoft.com/office/drawing/2014/main" id="{90B34C3E-965F-3DFF-A135-373EF9C227BB}"/>
              </a:ext>
            </a:extLst>
          </p:cNvPr>
          <p:cNvSpPr txBox="1"/>
          <p:nvPr/>
        </p:nvSpPr>
        <p:spPr>
          <a:xfrm>
            <a:off x="7999329" y="2785089"/>
            <a:ext cx="29095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3" name="object 7">
            <a:extLst>
              <a:ext uri="{FF2B5EF4-FFF2-40B4-BE49-F238E27FC236}">
                <a16:creationId xmlns:a16="http://schemas.microsoft.com/office/drawing/2014/main" id="{805E146D-2023-C186-9392-C87AF83EEE47}"/>
              </a:ext>
            </a:extLst>
          </p:cNvPr>
          <p:cNvSpPr txBox="1"/>
          <p:nvPr/>
        </p:nvSpPr>
        <p:spPr>
          <a:xfrm>
            <a:off x="9410596" y="2785089"/>
            <a:ext cx="29095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4" name="object 7">
            <a:extLst>
              <a:ext uri="{FF2B5EF4-FFF2-40B4-BE49-F238E27FC236}">
                <a16:creationId xmlns:a16="http://schemas.microsoft.com/office/drawing/2014/main" id="{A4D245F4-A9F5-82DF-ABC4-477A6B38FA7E}"/>
              </a:ext>
            </a:extLst>
          </p:cNvPr>
          <p:cNvSpPr txBox="1"/>
          <p:nvPr/>
        </p:nvSpPr>
        <p:spPr>
          <a:xfrm>
            <a:off x="8704962" y="2785088"/>
            <a:ext cx="29095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5" name="object 7">
            <a:extLst>
              <a:ext uri="{FF2B5EF4-FFF2-40B4-BE49-F238E27FC236}">
                <a16:creationId xmlns:a16="http://schemas.microsoft.com/office/drawing/2014/main" id="{BD8E631A-82B2-2642-FE25-FB9B0D5A31F8}"/>
              </a:ext>
            </a:extLst>
          </p:cNvPr>
          <p:cNvSpPr txBox="1"/>
          <p:nvPr/>
        </p:nvSpPr>
        <p:spPr>
          <a:xfrm>
            <a:off x="10116229" y="2785088"/>
            <a:ext cx="29095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6351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715520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VIA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E3DB9ADC-7E54-9876-CA7F-F87F73C7EC24}"/>
              </a:ext>
            </a:extLst>
          </p:cNvPr>
          <p:cNvSpPr/>
          <p:nvPr/>
        </p:nvSpPr>
        <p:spPr>
          <a:xfrm>
            <a:off x="1244799" y="2857427"/>
            <a:ext cx="4967699" cy="42152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733C06AA-4214-C806-D387-CB71380CD5D2}"/>
              </a:ext>
            </a:extLst>
          </p:cNvPr>
          <p:cNvSpPr/>
          <p:nvPr/>
        </p:nvSpPr>
        <p:spPr>
          <a:xfrm>
            <a:off x="10173791" y="733525"/>
            <a:ext cx="1725168" cy="37307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91CEB6B2-7AFC-DA88-9D4D-EBBD06B397F2}"/>
              </a:ext>
            </a:extLst>
          </p:cNvPr>
          <p:cNvSpPr txBox="1"/>
          <p:nvPr/>
        </p:nvSpPr>
        <p:spPr>
          <a:xfrm>
            <a:off x="7654365" y="1073504"/>
            <a:ext cx="1782445" cy="951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0" dirty="0">
                <a:solidFill>
                  <a:srgbClr val="00AF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連接</a:t>
            </a:r>
            <a:r>
              <a:rPr sz="2000" spc="-40" dirty="0">
                <a:solidFill>
                  <a:srgbClr val="00AF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sz="2000" spc="-95" dirty="0">
                <a:solidFill>
                  <a:srgbClr val="00AF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sz="2000" spc="-60" dirty="0">
                <a:solidFill>
                  <a:srgbClr val="00AF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sz="2000" b="0" dirty="0">
                <a:solidFill>
                  <a:srgbClr val="00AF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sz="2000" spc="-80" dirty="0">
                <a:solidFill>
                  <a:srgbClr val="00AF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ME2</a:t>
            </a:r>
            <a:endParaRPr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b="0" dirty="0">
                <a:solidFill>
                  <a:srgbClr val="00AF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連接</a:t>
            </a:r>
            <a:r>
              <a:rPr sz="2000" spc="-40" dirty="0">
                <a:solidFill>
                  <a:srgbClr val="00AF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sz="2000" spc="-95" dirty="0">
                <a:solidFill>
                  <a:srgbClr val="00AF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sz="2000" spc="-60" dirty="0">
                <a:solidFill>
                  <a:srgbClr val="00AF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sz="2000" b="0" dirty="0">
                <a:solidFill>
                  <a:srgbClr val="00AF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sz="2000" spc="-80" dirty="0">
                <a:solidFill>
                  <a:srgbClr val="00AF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ME3</a:t>
            </a:r>
            <a:endParaRPr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3FB6CE3A-F1F6-0B25-C403-B07B46A2CF2D}"/>
              </a:ext>
            </a:extLst>
          </p:cNvPr>
          <p:cNvSpPr/>
          <p:nvPr/>
        </p:nvSpPr>
        <p:spPr>
          <a:xfrm>
            <a:off x="9532186" y="1155674"/>
            <a:ext cx="574675" cy="184785"/>
          </a:xfrm>
          <a:custGeom>
            <a:avLst/>
            <a:gdLst/>
            <a:ahLst/>
            <a:cxnLst/>
            <a:rect l="l" t="t" r="r" b="b"/>
            <a:pathLst>
              <a:path w="574675" h="184785">
                <a:moveTo>
                  <a:pt x="482346" y="0"/>
                </a:moveTo>
                <a:lnTo>
                  <a:pt x="482346" y="46100"/>
                </a:lnTo>
                <a:lnTo>
                  <a:pt x="0" y="46100"/>
                </a:lnTo>
                <a:lnTo>
                  <a:pt x="0" y="138302"/>
                </a:lnTo>
                <a:lnTo>
                  <a:pt x="482346" y="138302"/>
                </a:lnTo>
                <a:lnTo>
                  <a:pt x="482346" y="184403"/>
                </a:lnTo>
                <a:lnTo>
                  <a:pt x="574548" y="92201"/>
                </a:lnTo>
                <a:lnTo>
                  <a:pt x="482346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15BB8857-A1A4-DE71-C024-F3AF16D8C085}"/>
              </a:ext>
            </a:extLst>
          </p:cNvPr>
          <p:cNvSpPr/>
          <p:nvPr/>
        </p:nvSpPr>
        <p:spPr>
          <a:xfrm>
            <a:off x="9529139" y="1804898"/>
            <a:ext cx="574675" cy="184785"/>
          </a:xfrm>
          <a:custGeom>
            <a:avLst/>
            <a:gdLst/>
            <a:ahLst/>
            <a:cxnLst/>
            <a:rect l="l" t="t" r="r" b="b"/>
            <a:pathLst>
              <a:path w="574675" h="184785">
                <a:moveTo>
                  <a:pt x="482345" y="0"/>
                </a:moveTo>
                <a:lnTo>
                  <a:pt x="482345" y="46100"/>
                </a:lnTo>
                <a:lnTo>
                  <a:pt x="0" y="46100"/>
                </a:lnTo>
                <a:lnTo>
                  <a:pt x="0" y="138302"/>
                </a:lnTo>
                <a:lnTo>
                  <a:pt x="482345" y="138302"/>
                </a:lnTo>
                <a:lnTo>
                  <a:pt x="482345" y="184403"/>
                </a:lnTo>
                <a:lnTo>
                  <a:pt x="574547" y="92201"/>
                </a:lnTo>
                <a:lnTo>
                  <a:pt x="482345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內容版面配置區 3">
            <a:extLst>
              <a:ext uri="{FF2B5EF4-FFF2-40B4-BE49-F238E27FC236}">
                <a16:creationId xmlns:a16="http://schemas.microsoft.com/office/drawing/2014/main" id="{E5DAFF57-AA70-3E0D-1013-CEEEC43F496E}"/>
              </a:ext>
            </a:extLst>
          </p:cNvPr>
          <p:cNvSpPr>
            <a:spLocks noGrp="1"/>
          </p:cNvSpPr>
          <p:nvPr/>
        </p:nvSpPr>
        <p:spPr>
          <a:xfrm>
            <a:off x="194515" y="937789"/>
            <a:ext cx="6722869" cy="210378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hangingPunct="0"/>
            <a:r>
              <a:rPr lang="zh-TW" altLang="en-US" sz="3200" dirty="0">
                <a:ea typeface="標楷體" panose="03000509000000000000" pitchFamily="65" charset="-120"/>
              </a:rPr>
              <a:t>在某些情況下會需要用到高層 </a:t>
            </a:r>
            <a:r>
              <a:rPr lang="en-US" altLang="zh-TW" sz="3200" dirty="0">
                <a:ea typeface="標楷體" panose="03000509000000000000" pitchFamily="65" charset="-120"/>
              </a:rPr>
              <a:t>Metal</a:t>
            </a:r>
            <a:r>
              <a:rPr lang="zh-TW" altLang="en-US" sz="3200" dirty="0">
                <a:ea typeface="標楷體" panose="03000509000000000000" pitchFamily="65" charset="-120"/>
              </a:rPr>
              <a:t> 來接線，這時就需要在各層 </a:t>
            </a:r>
            <a:r>
              <a:rPr lang="en-US" altLang="zh-TW" sz="3200" dirty="0">
                <a:ea typeface="標楷體" panose="03000509000000000000" pitchFamily="65" charset="-120"/>
              </a:rPr>
              <a:t>Metal </a:t>
            </a:r>
            <a:r>
              <a:rPr lang="zh-TW" altLang="en-US" sz="3200" dirty="0">
                <a:ea typeface="標楷體" panose="03000509000000000000" pitchFamily="65" charset="-120"/>
              </a:rPr>
              <a:t>之間打上 </a:t>
            </a:r>
            <a:r>
              <a:rPr lang="en-US" altLang="zh-TW" sz="3200" dirty="0">
                <a:ea typeface="標楷體" panose="03000509000000000000" pitchFamily="65" charset="-120"/>
              </a:rPr>
              <a:t>VIA </a:t>
            </a:r>
            <a:r>
              <a:rPr lang="zh-TW" altLang="en-US" sz="3200" dirty="0">
                <a:ea typeface="標楷體" panose="03000509000000000000" pitchFamily="65" charset="-120"/>
              </a:rPr>
              <a:t>使相鄰層的 </a:t>
            </a:r>
            <a:r>
              <a:rPr lang="en-US" altLang="zh-TW" sz="3200" dirty="0">
                <a:ea typeface="標楷體" panose="03000509000000000000" pitchFamily="65" charset="-120"/>
              </a:rPr>
              <a:t>Metal </a:t>
            </a:r>
            <a:r>
              <a:rPr lang="zh-TW" altLang="en-US" sz="3200" dirty="0">
                <a:ea typeface="標楷體" panose="03000509000000000000" pitchFamily="65" charset="-120"/>
              </a:rPr>
              <a:t>導通 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(</a:t>
            </a:r>
            <a:r>
              <a:rPr lang="zh-TW" altLang="en-US" sz="3200" dirty="0">
                <a:solidFill>
                  <a:srgbClr val="FF0000"/>
                </a:solidFill>
                <a:ea typeface="標楷體" panose="03000509000000000000" pitchFamily="65" charset="-120"/>
              </a:rPr>
              <a:t>此次作業可以用到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)</a:t>
            </a:r>
          </a:p>
        </p:txBody>
      </p:sp>
      <p:grpSp>
        <p:nvGrpSpPr>
          <p:cNvPr id="8" name="object 6">
            <a:extLst>
              <a:ext uri="{FF2B5EF4-FFF2-40B4-BE49-F238E27FC236}">
                <a16:creationId xmlns:a16="http://schemas.microsoft.com/office/drawing/2014/main" id="{09A2A6CB-01E6-AE4F-6FD3-B03CDCA0B926}"/>
              </a:ext>
            </a:extLst>
          </p:cNvPr>
          <p:cNvGrpSpPr/>
          <p:nvPr/>
        </p:nvGrpSpPr>
        <p:grpSpPr>
          <a:xfrm>
            <a:off x="6347459" y="5748528"/>
            <a:ext cx="5412105" cy="866140"/>
            <a:chOff x="6347459" y="5748528"/>
            <a:chExt cx="5412105" cy="866140"/>
          </a:xfrm>
        </p:grpSpPr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22D6C971-A609-F63E-C47E-64820F25E070}"/>
                </a:ext>
              </a:extLst>
            </p:cNvPr>
            <p:cNvSpPr/>
            <p:nvPr/>
          </p:nvSpPr>
          <p:spPr>
            <a:xfrm>
              <a:off x="6347459" y="5829300"/>
              <a:ext cx="5071872" cy="7848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15C9B504-F14E-6D2E-7BBA-964CE603D440}"/>
                </a:ext>
              </a:extLst>
            </p:cNvPr>
            <p:cNvSpPr/>
            <p:nvPr/>
          </p:nvSpPr>
          <p:spPr>
            <a:xfrm>
              <a:off x="8880347" y="6313932"/>
              <a:ext cx="1592579" cy="23774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3D4E6CFC-24B2-A238-9371-3B96F8AB2757}"/>
                </a:ext>
              </a:extLst>
            </p:cNvPr>
            <p:cNvSpPr/>
            <p:nvPr/>
          </p:nvSpPr>
          <p:spPr>
            <a:xfrm>
              <a:off x="6525767" y="5748528"/>
              <a:ext cx="1455420" cy="23774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77B63951-B5B2-8DAC-54C0-9E726B5433B8}"/>
                </a:ext>
              </a:extLst>
            </p:cNvPr>
            <p:cNvSpPr/>
            <p:nvPr/>
          </p:nvSpPr>
          <p:spPr>
            <a:xfrm>
              <a:off x="10303763" y="5748528"/>
              <a:ext cx="1455420" cy="23774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4">
            <a:extLst>
              <a:ext uri="{FF2B5EF4-FFF2-40B4-BE49-F238E27FC236}">
                <a16:creationId xmlns:a16="http://schemas.microsoft.com/office/drawing/2014/main" id="{E6149F8E-7B92-6E09-CFF5-758F97AA0E85}"/>
              </a:ext>
            </a:extLst>
          </p:cNvPr>
          <p:cNvSpPr txBox="1"/>
          <p:nvPr/>
        </p:nvSpPr>
        <p:spPr>
          <a:xfrm>
            <a:off x="8346634" y="5427752"/>
            <a:ext cx="159257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000" b="0" dirty="0">
                <a:solidFill>
                  <a:srgbClr val="00AF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CJK JP Medium"/>
              </a:rPr>
              <a:t>中間有重</a:t>
            </a:r>
            <a:r>
              <a:rPr sz="2000" b="0" spc="-10" dirty="0">
                <a:solidFill>
                  <a:srgbClr val="00AF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CJK JP Medium"/>
              </a:rPr>
              <a:t>疊</a:t>
            </a:r>
            <a:r>
              <a:rPr sz="2000" spc="-20" dirty="0">
                <a:solidFill>
                  <a:srgbClr val="00AF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!</a:t>
            </a:r>
            <a:endParaRPr sz="2000" dirty="0">
              <a:latin typeface="標楷體" panose="03000509000000000000" pitchFamily="65" charset="-120"/>
              <a:ea typeface="標楷體" panose="03000509000000000000" pitchFamily="65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8552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12420376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Virtuoso (Layout 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規定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7FFDA200-697E-443F-262D-1A534EA0D187}"/>
              </a:ext>
            </a:extLst>
          </p:cNvPr>
          <p:cNvSpPr>
            <a:spLocks noGrp="1"/>
          </p:cNvSpPr>
          <p:nvPr/>
        </p:nvSpPr>
        <p:spPr>
          <a:xfrm>
            <a:off x="92671" y="880020"/>
            <a:ext cx="12420376" cy="230425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400" spc="-5" dirty="0">
                <a:ea typeface="標楷體" panose="03000509000000000000" pitchFamily="65" charset="-120"/>
              </a:rPr>
              <a:t>務必畫上 </a:t>
            </a:r>
            <a:r>
              <a:rPr lang="en-US" altLang="zh-TW" sz="2400" spc="-5" dirty="0" err="1">
                <a:ea typeface="標楷體" panose="03000509000000000000" pitchFamily="65" charset="-120"/>
              </a:rPr>
              <a:t>prboundary</a:t>
            </a:r>
            <a:r>
              <a:rPr lang="en-US" altLang="zh-TW" sz="2400" spc="-5" dirty="0">
                <a:ea typeface="標楷體" panose="03000509000000000000" pitchFamily="65" charset="-120"/>
              </a:rPr>
              <a:t>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(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高固定為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5.04 um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，寬度比照之前的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HW2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 務必為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0.66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 的倍數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)</a:t>
            </a:r>
          </a:p>
          <a:p>
            <a:pPr algn="just"/>
            <a:r>
              <a:rPr lang="en-US" altLang="zh-TW" sz="2400" spc="-5" dirty="0">
                <a:ea typeface="標楷體" panose="03000509000000000000" pitchFamily="65" charset="-120"/>
              </a:rPr>
              <a:t>NWELL</a:t>
            </a:r>
            <a:r>
              <a:rPr lang="zh-TW" altLang="en-US" sz="2400" spc="-5" dirty="0">
                <a:ea typeface="標楷體" panose="03000509000000000000" pitchFamily="65" charset="-120"/>
              </a:rPr>
              <a:t> 的高度只能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2.52 um </a:t>
            </a:r>
            <a:r>
              <a:rPr lang="en-US" altLang="zh-TW" sz="2400" spc="-5" dirty="0">
                <a:ea typeface="標楷體" panose="03000509000000000000" pitchFamily="65" charset="-120"/>
              </a:rPr>
              <a:t>(</a:t>
            </a:r>
            <a:r>
              <a:rPr lang="zh-TW" altLang="en-US" sz="2400" spc="-5" dirty="0">
                <a:ea typeface="標楷體" panose="03000509000000000000" pitchFamily="65" charset="-120"/>
              </a:rPr>
              <a:t>也就是 </a:t>
            </a:r>
            <a:r>
              <a:rPr lang="en-US" altLang="zh-TW" sz="2400" spc="-5" dirty="0">
                <a:ea typeface="標楷體" panose="03000509000000000000" pitchFamily="65" charset="-120"/>
              </a:rPr>
              <a:t>PMOS </a:t>
            </a:r>
            <a:r>
              <a:rPr lang="zh-TW" altLang="en-US" sz="2400" spc="-5" dirty="0">
                <a:ea typeface="標楷體" panose="03000509000000000000" pitchFamily="65" charset="-120"/>
              </a:rPr>
              <a:t>及 </a:t>
            </a:r>
            <a:r>
              <a:rPr lang="en-US" altLang="zh-TW" sz="2400" spc="-5" dirty="0">
                <a:ea typeface="標楷體" panose="03000509000000000000" pitchFamily="65" charset="-120"/>
              </a:rPr>
              <a:t>NMOS </a:t>
            </a:r>
            <a:r>
              <a:rPr lang="zh-TW" altLang="en-US" sz="2400" spc="-5" dirty="0">
                <a:ea typeface="標楷體" panose="03000509000000000000" pitchFamily="65" charset="-120"/>
              </a:rPr>
              <a:t>各占一半</a:t>
            </a:r>
            <a:r>
              <a:rPr lang="en-US" altLang="zh-TW" sz="2400" spc="-5" dirty="0">
                <a:ea typeface="標楷體" panose="03000509000000000000" pitchFamily="65" charset="-120"/>
              </a:rPr>
              <a:t>)</a:t>
            </a:r>
            <a:r>
              <a:rPr lang="zh-TW" altLang="en-US" sz="2400" spc="-5" dirty="0">
                <a:ea typeface="標楷體" panose="03000509000000000000" pitchFamily="65" charset="-120"/>
              </a:rPr>
              <a:t>，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因此如果沒使用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Folding technique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，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PMOS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Diffusion 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將會超出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NWELL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，導致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DRC Violation</a:t>
            </a:r>
          </a:p>
          <a:p>
            <a:pPr algn="just"/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Pin Text 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的規定與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HW2 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相同</a:t>
            </a:r>
            <a:endParaRPr lang="en-US" altLang="zh-TW" sz="2400" spc="-5" dirty="0">
              <a:solidFill>
                <a:srgbClr val="FF0000"/>
              </a:solidFill>
              <a:ea typeface="標楷體" panose="03000509000000000000" pitchFamily="65" charset="-120"/>
            </a:endParaRPr>
          </a:p>
          <a:p>
            <a:pPr algn="just"/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務必使用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Euler Path 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及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Folding technique </a:t>
            </a:r>
            <a:r>
              <a:rPr lang="zh-TW" altLang="en-US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進行 </a:t>
            </a:r>
            <a:r>
              <a:rPr lang="en-US" altLang="zh-TW" sz="2400" spc="-5" dirty="0">
                <a:solidFill>
                  <a:srgbClr val="FF0000"/>
                </a:solidFill>
                <a:ea typeface="標楷體" panose="03000509000000000000" pitchFamily="65" charset="-120"/>
              </a:rPr>
              <a:t>Layout</a:t>
            </a:r>
          </a:p>
          <a:p>
            <a:pPr algn="just"/>
            <a:endParaRPr lang="en-US" altLang="zh-TW" sz="2400" spc="-5" dirty="0">
              <a:ea typeface="標楷體" panose="03000509000000000000" pitchFamily="65" charset="-120"/>
            </a:endParaRPr>
          </a:p>
        </p:txBody>
      </p:sp>
      <p:pic>
        <p:nvPicPr>
          <p:cNvPr id="2" name="圖片 1" descr="一張含有 文字, 計分板, 陳列 的圖片&#10;&#10;自動產生的描述">
            <a:extLst>
              <a:ext uri="{FF2B5EF4-FFF2-40B4-BE49-F238E27FC236}">
                <a16:creationId xmlns:a16="http://schemas.microsoft.com/office/drawing/2014/main" id="{B5023EDA-082B-E5B0-09A5-AE59E193B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12" y="3256285"/>
            <a:ext cx="12230325" cy="396044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FF06E38-25CD-6E48-A058-F08245652EAD}"/>
              </a:ext>
            </a:extLst>
          </p:cNvPr>
          <p:cNvSpPr txBox="1"/>
          <p:nvPr/>
        </p:nvSpPr>
        <p:spPr>
          <a:xfrm>
            <a:off x="10101783" y="2259945"/>
            <a:ext cx="2176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Mirror FA 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參考圖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Height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5.04 um</a:t>
            </a:r>
          </a:p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Width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19.14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um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04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12420376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Virtuoso (DRC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/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LVS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/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PEX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and Pre/Post </a:t>
            </a:r>
            <a:r>
              <a:rPr lang="en-US" altLang="zh-TW" sz="3200" b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Layout Simulation)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92199A0E-73F8-E2FF-D1EE-84BAF9D6797C}"/>
              </a:ext>
            </a:extLst>
          </p:cNvPr>
          <p:cNvSpPr>
            <a:spLocks noGrp="1"/>
          </p:cNvSpPr>
          <p:nvPr/>
        </p:nvSpPr>
        <p:spPr>
          <a:xfrm>
            <a:off x="92671" y="880021"/>
            <a:ext cx="12601400" cy="1728192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800" spc="-5" dirty="0">
                <a:ea typeface="標楷體" panose="03000509000000000000" pitchFamily="65" charset="-120"/>
              </a:rPr>
              <a:t>DRC / LVS / PEX </a:t>
            </a:r>
            <a:r>
              <a:rPr lang="zh-TW" altLang="en-US" sz="2800" spc="-5" dirty="0">
                <a:ea typeface="標楷體" panose="03000509000000000000" pitchFamily="65" charset="-120"/>
              </a:rPr>
              <a:t>的步驟方法與之前作業一模一樣</a:t>
            </a:r>
            <a:endParaRPr lang="en-US" altLang="zh-TW" sz="2800" spc="-5" dirty="0">
              <a:ea typeface="標楷體" panose="03000509000000000000" pitchFamily="65" charset="-120"/>
            </a:endParaRPr>
          </a:p>
          <a:p>
            <a:pPr algn="just"/>
            <a:r>
              <a:rPr lang="zh-TW" altLang="en-US" sz="2800" spc="-5" dirty="0">
                <a:ea typeface="標楷體" panose="03000509000000000000" pitchFamily="65" charset="-120"/>
              </a:rPr>
              <a:t>於 </a:t>
            </a:r>
            <a:r>
              <a:rPr lang="en-US" altLang="zh-TW" sz="2800" spc="-5" dirty="0" err="1">
                <a:ea typeface="標楷體" panose="03000509000000000000" pitchFamily="65" charset="-120"/>
              </a:rPr>
              <a:t>sp</a:t>
            </a:r>
            <a:r>
              <a:rPr lang="en-US" altLang="zh-TW" sz="2800" spc="-5" dirty="0">
                <a:ea typeface="標楷體" panose="03000509000000000000" pitchFamily="65" charset="-120"/>
              </a:rPr>
              <a:t> </a:t>
            </a:r>
            <a:r>
              <a:rPr lang="zh-TW" altLang="en-US" sz="2800" spc="-5" dirty="0">
                <a:ea typeface="標楷體" panose="03000509000000000000" pitchFamily="65" charset="-120"/>
              </a:rPr>
              <a:t>檔內加入相關量測資訊</a:t>
            </a:r>
            <a:endParaRPr lang="en-US" altLang="zh-TW" sz="2800" spc="-5" dirty="0">
              <a:ea typeface="標楷體" panose="03000509000000000000" pitchFamily="65" charset="-120"/>
            </a:endParaRPr>
          </a:p>
          <a:p>
            <a:pPr algn="just"/>
            <a:r>
              <a:rPr lang="zh-TW" altLang="en-US" sz="2800" spc="-5" dirty="0">
                <a:ea typeface="標楷體" panose="03000509000000000000" pitchFamily="65" charset="-120"/>
              </a:rPr>
              <a:t>於 </a:t>
            </a:r>
            <a:r>
              <a:rPr lang="en-US" altLang="zh-TW" sz="2800" spc="-5" dirty="0">
                <a:ea typeface="標楷體" panose="03000509000000000000" pitchFamily="65" charset="-120"/>
              </a:rPr>
              <a:t>Pre/Post-Layout Simulation </a:t>
            </a:r>
            <a:r>
              <a:rPr lang="zh-TW" altLang="en-US" sz="2800" spc="-5" dirty="0">
                <a:ea typeface="標楷體" panose="03000509000000000000" pitchFamily="65" charset="-120"/>
              </a:rPr>
              <a:t>如何量測 </a:t>
            </a:r>
            <a:r>
              <a:rPr lang="en-US" altLang="zh-TW" sz="2800" spc="-5" dirty="0">
                <a:ea typeface="標楷體" panose="03000509000000000000" pitchFamily="65" charset="-120"/>
              </a:rPr>
              <a:t>Delay </a:t>
            </a:r>
            <a:r>
              <a:rPr lang="zh-TW" altLang="en-US" sz="2800" spc="-5" dirty="0">
                <a:ea typeface="標楷體" panose="03000509000000000000" pitchFamily="65" charset="-120"/>
              </a:rPr>
              <a:t>數據，請參照 </a:t>
            </a:r>
            <a:r>
              <a:rPr lang="en-US" altLang="zh-TW" sz="2800" spc="-5" dirty="0">
                <a:ea typeface="標楷體" panose="03000509000000000000" pitchFamily="65" charset="-120"/>
              </a:rPr>
              <a:t>HW4 </a:t>
            </a:r>
            <a:r>
              <a:rPr lang="zh-TW" altLang="en-US" sz="2800" spc="-5" dirty="0">
                <a:ea typeface="標楷體" panose="03000509000000000000" pitchFamily="65" charset="-120"/>
              </a:rPr>
              <a:t>表格來加入測量資訊，即可得到 </a:t>
            </a:r>
            <a:r>
              <a:rPr lang="en-US" altLang="zh-TW" sz="2800" spc="-5" dirty="0">
                <a:ea typeface="標楷體" panose="03000509000000000000" pitchFamily="65" charset="-120"/>
              </a:rPr>
              <a:t>Propagation Delay (</a:t>
            </a:r>
            <a:r>
              <a:rPr lang="zh-TW" altLang="en-US" sz="2800" spc="-5" dirty="0">
                <a:ea typeface="標楷體" panose="03000509000000000000" pitchFamily="65" charset="-120"/>
              </a:rPr>
              <a:t>如下圖為 </a:t>
            </a:r>
            <a:r>
              <a:rPr lang="en-US" altLang="zh-TW" sz="2800" spc="-5" dirty="0">
                <a:ea typeface="標楷體" panose="03000509000000000000" pitchFamily="65" charset="-120"/>
              </a:rPr>
              <a:t>FA </a:t>
            </a:r>
            <a:r>
              <a:rPr lang="zh-TW" altLang="en-US" sz="2800" spc="-5" dirty="0">
                <a:ea typeface="標楷體" panose="03000509000000000000" pitchFamily="65" charset="-120"/>
              </a:rPr>
              <a:t>測量範例</a:t>
            </a:r>
            <a:r>
              <a:rPr lang="en-US" altLang="zh-TW" sz="2800" spc="-5" dirty="0">
                <a:ea typeface="標楷體" panose="03000509000000000000" pitchFamily="65" charset="-120"/>
              </a:rPr>
              <a:t>)</a:t>
            </a:r>
          </a:p>
          <a:p>
            <a:pPr algn="just"/>
            <a:endParaRPr lang="en-US" altLang="zh-TW" sz="2800" spc="-5" dirty="0">
              <a:ea typeface="標楷體" panose="03000509000000000000" pitchFamily="65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76844D9-7DD3-6AF5-E3DF-4068FA14E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582" y="2500238"/>
            <a:ext cx="7133586" cy="464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75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12420376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C18 vs T18 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比較方法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(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以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FA 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為例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內容版面配置區 3">
            <a:extLst>
              <a:ext uri="{FF2B5EF4-FFF2-40B4-BE49-F238E27FC236}">
                <a16:creationId xmlns:a16="http://schemas.microsoft.com/office/drawing/2014/main" id="{BE2A65C8-5CC4-5366-E4BF-B7C242FBE57D}"/>
              </a:ext>
            </a:extLst>
          </p:cNvPr>
          <p:cNvSpPr>
            <a:spLocks noGrp="1"/>
          </p:cNvSpPr>
          <p:nvPr/>
        </p:nvSpPr>
        <p:spPr>
          <a:xfrm>
            <a:off x="92671" y="880020"/>
            <a:ext cx="12601400" cy="222122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800" spc="-5" dirty="0">
                <a:ea typeface="標楷體" panose="03000509000000000000" pitchFamily="65" charset="-120"/>
              </a:rPr>
              <a:t>拿之前 </a:t>
            </a:r>
            <a:r>
              <a:rPr lang="en-US" altLang="zh-TW" sz="2800" spc="-5" dirty="0">
                <a:ea typeface="標楷體" panose="03000509000000000000" pitchFamily="65" charset="-120"/>
              </a:rPr>
              <a:t>HW3 </a:t>
            </a:r>
            <a:r>
              <a:rPr lang="zh-TW" altLang="en-US" sz="2800" spc="-5" dirty="0">
                <a:ea typeface="標楷體" panose="03000509000000000000" pitchFamily="65" charset="-120"/>
              </a:rPr>
              <a:t>的數據即可填入部分表格內</a:t>
            </a:r>
            <a:endParaRPr lang="en-US" altLang="zh-TW" sz="2800" spc="-5" dirty="0">
              <a:ea typeface="標楷體" panose="03000509000000000000" pitchFamily="65" charset="-120"/>
            </a:endParaRPr>
          </a:p>
          <a:p>
            <a:pPr algn="just"/>
            <a:r>
              <a:rPr lang="en-US" altLang="zh-TW" sz="2800" spc="-5" dirty="0">
                <a:ea typeface="標楷體" panose="03000509000000000000" pitchFamily="65" charset="-120"/>
              </a:rPr>
              <a:t>FA_c18_cmos (post-layout) </a:t>
            </a:r>
            <a:r>
              <a:rPr lang="zh-TW" altLang="en-US" sz="2800" spc="-5" dirty="0">
                <a:ea typeface="標楷體" panose="03000509000000000000" pitchFamily="65" charset="-120"/>
              </a:rPr>
              <a:t>的 </a:t>
            </a:r>
            <a:r>
              <a:rPr lang="en-US" altLang="zh-TW" sz="2800" spc="-5" dirty="0" err="1">
                <a:ea typeface="標楷體" panose="03000509000000000000" pitchFamily="65" charset="-120"/>
              </a:rPr>
              <a:t>max.delay</a:t>
            </a:r>
            <a:r>
              <a:rPr lang="zh-TW" altLang="en-US" sz="2800" spc="-5" dirty="0">
                <a:ea typeface="標楷體" panose="03000509000000000000" pitchFamily="65" charset="-120"/>
              </a:rPr>
              <a:t> 為 </a:t>
            </a:r>
            <a:r>
              <a:rPr lang="en-US" altLang="zh-TW" sz="2800" spc="-5" dirty="0">
                <a:ea typeface="標楷體" panose="03000509000000000000" pitchFamily="65" charset="-120"/>
              </a:rPr>
              <a:t>PEX</a:t>
            </a:r>
            <a:r>
              <a:rPr lang="zh-TW" altLang="en-US" sz="2800" spc="-5" dirty="0">
                <a:ea typeface="標楷體" panose="03000509000000000000" pitchFamily="65" charset="-120"/>
              </a:rPr>
              <a:t> 後經由 </a:t>
            </a:r>
            <a:r>
              <a:rPr lang="en-US" altLang="zh-TW" sz="2800" spc="-5" dirty="0" err="1">
                <a:ea typeface="標楷體" panose="03000509000000000000" pitchFamily="65" charset="-120"/>
              </a:rPr>
              <a:t>hspice</a:t>
            </a:r>
            <a:r>
              <a:rPr lang="en-US" altLang="zh-TW" sz="2800" spc="-5" dirty="0">
                <a:ea typeface="標楷體" panose="03000509000000000000" pitchFamily="65" charset="-120"/>
              </a:rPr>
              <a:t> </a:t>
            </a:r>
            <a:r>
              <a:rPr lang="zh-TW" altLang="en-US" sz="2800" spc="-5" dirty="0">
                <a:ea typeface="標楷體" panose="03000509000000000000" pitchFamily="65" charset="-120"/>
              </a:rPr>
              <a:t>測量出的 </a:t>
            </a:r>
            <a:r>
              <a:rPr lang="en-US" altLang="zh-TW" sz="2800" spc="-5" dirty="0">
                <a:ea typeface="標楷體" panose="03000509000000000000" pitchFamily="65" charset="-120"/>
              </a:rPr>
              <a:t>worse-case rise/fall delay</a:t>
            </a:r>
          </a:p>
          <a:p>
            <a:pPr algn="just"/>
            <a:r>
              <a:rPr lang="en-US" altLang="zh-TW" sz="2800" spc="-5" dirty="0">
                <a:ea typeface="標楷體" panose="03000509000000000000" pitchFamily="65" charset="-120"/>
              </a:rPr>
              <a:t>FA_c18_cmos (post-layout)</a:t>
            </a:r>
            <a:r>
              <a:rPr lang="zh-TW" altLang="en-US" sz="2800" spc="-5" dirty="0">
                <a:ea typeface="標楷體" panose="03000509000000000000" pitchFamily="65" charset="-120"/>
              </a:rPr>
              <a:t> 的 </a:t>
            </a:r>
            <a:r>
              <a:rPr lang="en-US" altLang="zh-TW" sz="2800" spc="-5" dirty="0">
                <a:ea typeface="標楷體" panose="03000509000000000000" pitchFamily="65" charset="-120"/>
              </a:rPr>
              <a:t>area </a:t>
            </a:r>
            <a:r>
              <a:rPr lang="zh-TW" altLang="en-US" sz="2800" spc="-5" dirty="0">
                <a:ea typeface="標楷體" panose="03000509000000000000" pitchFamily="65" charset="-120"/>
              </a:rPr>
              <a:t>請填入畫 </a:t>
            </a:r>
            <a:r>
              <a:rPr lang="en-US" altLang="zh-TW" sz="2800" spc="-5" dirty="0">
                <a:ea typeface="標楷體" panose="03000509000000000000" pitchFamily="65" charset="-120"/>
              </a:rPr>
              <a:t>Layout </a:t>
            </a:r>
            <a:r>
              <a:rPr lang="zh-TW" altLang="en-US" sz="2800" spc="-5" dirty="0">
                <a:ea typeface="標楷體" panose="03000509000000000000" pitchFamily="65" charset="-120"/>
              </a:rPr>
              <a:t>時的 </a:t>
            </a:r>
            <a:r>
              <a:rPr lang="en-US" altLang="zh-TW" sz="2800" spc="-5" dirty="0" err="1">
                <a:ea typeface="標楷體" panose="03000509000000000000" pitchFamily="65" charset="-120"/>
              </a:rPr>
              <a:t>prboundary</a:t>
            </a:r>
            <a:r>
              <a:rPr lang="en-US" altLang="zh-TW" sz="2800" spc="-5" dirty="0">
                <a:ea typeface="標楷體" panose="03000509000000000000" pitchFamily="65" charset="-120"/>
              </a:rPr>
              <a:t> </a:t>
            </a:r>
            <a:r>
              <a:rPr lang="zh-TW" altLang="en-US" sz="2800" spc="-5" dirty="0">
                <a:ea typeface="標楷體" panose="03000509000000000000" pitchFamily="65" charset="-120"/>
              </a:rPr>
              <a:t>面積</a:t>
            </a:r>
            <a:endParaRPr lang="en-US" altLang="zh-TW" sz="2800" spc="-5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FCA6CE-E7C6-4F5E-0DDD-CC6F76B7F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124" y="3184277"/>
            <a:ext cx="10455835" cy="3672408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58AD7453-FC86-618A-1281-DDB813D7AF90}"/>
              </a:ext>
            </a:extLst>
          </p:cNvPr>
          <p:cNvSpPr txBox="1"/>
          <p:nvPr/>
        </p:nvSpPr>
        <p:spPr>
          <a:xfrm>
            <a:off x="6196027" y="390512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HW3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9FE8FE3-144F-67B9-92F8-FFDCF12F553C}"/>
              </a:ext>
            </a:extLst>
          </p:cNvPr>
          <p:cNvSpPr txBox="1"/>
          <p:nvPr/>
        </p:nvSpPr>
        <p:spPr>
          <a:xfrm>
            <a:off x="9381703" y="3904309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HW3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019F8DE-A6E3-10A6-0FBA-6B891938EDDD}"/>
              </a:ext>
            </a:extLst>
          </p:cNvPr>
          <p:cNvSpPr txBox="1"/>
          <p:nvPr/>
        </p:nvSpPr>
        <p:spPr>
          <a:xfrm>
            <a:off x="6199450" y="4468965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HW3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0C4E322-A9B9-4E62-0D9B-C53B47D8B71F}"/>
              </a:ext>
            </a:extLst>
          </p:cNvPr>
          <p:cNvSpPr txBox="1"/>
          <p:nvPr/>
        </p:nvSpPr>
        <p:spPr>
          <a:xfrm>
            <a:off x="9385126" y="446815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HW3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512F5CD-DC71-4A11-AFEE-E635B645B8D1}"/>
              </a:ext>
            </a:extLst>
          </p:cNvPr>
          <p:cNvSpPr txBox="1"/>
          <p:nvPr/>
        </p:nvSpPr>
        <p:spPr>
          <a:xfrm>
            <a:off x="6196027" y="5089705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HW3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C621AF1-38E9-4B2D-6CFB-1E5DB4BDED4A}"/>
              </a:ext>
            </a:extLst>
          </p:cNvPr>
          <p:cNvSpPr txBox="1"/>
          <p:nvPr/>
        </p:nvSpPr>
        <p:spPr>
          <a:xfrm>
            <a:off x="9381703" y="508889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HW3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DA57D21-BC4B-4028-5A53-BE016A484AB3}"/>
              </a:ext>
            </a:extLst>
          </p:cNvPr>
          <p:cNvSpPr txBox="1"/>
          <p:nvPr/>
        </p:nvSpPr>
        <p:spPr>
          <a:xfrm>
            <a:off x="6196027" y="5653548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HW3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4397AF3-4BB4-5C73-7F12-A3DA48D58F2D}"/>
              </a:ext>
            </a:extLst>
          </p:cNvPr>
          <p:cNvSpPr txBox="1"/>
          <p:nvPr/>
        </p:nvSpPr>
        <p:spPr>
          <a:xfrm>
            <a:off x="9381703" y="5652735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HW3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06E903F-3A74-0645-C13C-7BF135381668}"/>
              </a:ext>
            </a:extLst>
          </p:cNvPr>
          <p:cNvSpPr txBox="1"/>
          <p:nvPr/>
        </p:nvSpPr>
        <p:spPr>
          <a:xfrm>
            <a:off x="8115299" y="6235169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 area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A510459-5267-7FFD-C556-2A19B64CAA29}"/>
              </a:ext>
            </a:extLst>
          </p:cNvPr>
          <p:cNvSpPr txBox="1"/>
          <p:nvPr/>
        </p:nvSpPr>
        <p:spPr>
          <a:xfrm>
            <a:off x="5274177" y="6064598"/>
            <a:ext cx="28061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Hspice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Simulation</a:t>
            </a:r>
          </a:p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worse-case delay (PEX)</a:t>
            </a:r>
          </a:p>
        </p:txBody>
      </p:sp>
    </p:spTree>
    <p:extLst>
      <p:ext uri="{BB962C8B-B14F-4D97-AF65-F5344CB8AC3E}">
        <p14:creationId xmlns:p14="http://schemas.microsoft.com/office/powerpoint/2010/main" val="3248157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Homework 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需求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8B89CDDB-5E1E-2983-5EFE-0DC114D60647}"/>
              </a:ext>
            </a:extLst>
          </p:cNvPr>
          <p:cNvSpPr>
            <a:spLocks noGrp="1"/>
          </p:cNvSpPr>
          <p:nvPr/>
        </p:nvSpPr>
        <p:spPr>
          <a:xfrm>
            <a:off x="90494" y="736005"/>
            <a:ext cx="12677761" cy="576064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800" dirty="0">
                <a:ea typeface="標楷體" panose="03000509000000000000" pitchFamily="65" charset="-120"/>
              </a:rPr>
              <a:t>將所需檔案壓縮上傳至網路大學，</a:t>
            </a:r>
            <a:r>
              <a:rPr lang="en-US" altLang="zh-TW" sz="2800" dirty="0">
                <a:ea typeface="標楷體" panose="03000509000000000000" pitchFamily="65" charset="-120"/>
              </a:rPr>
              <a:t>Word </a:t>
            </a:r>
            <a:r>
              <a:rPr lang="zh-TW" altLang="en-US" sz="2800" dirty="0">
                <a:ea typeface="標楷體" panose="03000509000000000000" pitchFamily="65" charset="-120"/>
              </a:rPr>
              <a:t>及壓縮檔命名格式皆為：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r>
              <a:rPr lang="zh-TW" altLang="en-US" sz="2800" dirty="0">
                <a:ea typeface="標楷體" panose="03000509000000000000" pitchFamily="65" charset="-120"/>
              </a:rPr>
              <a:t>   </a:t>
            </a:r>
            <a:r>
              <a:rPr lang="en-US" altLang="zh-TW" sz="2800" dirty="0">
                <a:ea typeface="標楷體" panose="03000509000000000000" pitchFamily="65" charset="-120"/>
              </a:rPr>
              <a:t>2023VLSI_HW4_</a:t>
            </a:r>
            <a:r>
              <a:rPr lang="zh-TW" altLang="en-US" sz="2800" dirty="0">
                <a:ea typeface="標楷體" panose="03000509000000000000" pitchFamily="65" charset="-120"/>
              </a:rPr>
              <a:t>學號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 algn="just"/>
            <a:r>
              <a:rPr lang="zh-TW" altLang="en-US" sz="2800" dirty="0">
                <a:ea typeface="標楷體" panose="03000509000000000000" pitchFamily="65" charset="-120"/>
              </a:rPr>
              <a:t>壓縮檔內需附上：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r>
              <a:rPr lang="zh-TW" altLang="en-US" sz="2800" dirty="0">
                <a:ea typeface="標楷體" panose="03000509000000000000" pitchFamily="65" charset="-120"/>
              </a:rPr>
              <a:t>   </a:t>
            </a:r>
            <a:r>
              <a:rPr lang="en-US" altLang="zh-TW" sz="2800" dirty="0">
                <a:ea typeface="標楷體" panose="03000509000000000000" pitchFamily="65" charset="-120"/>
              </a:rPr>
              <a:t>1.</a:t>
            </a:r>
            <a:r>
              <a:rPr lang="zh-TW" altLang="en-US" sz="2800" dirty="0">
                <a:ea typeface="標楷體" panose="03000509000000000000" pitchFamily="65" charset="-120"/>
              </a:rPr>
              <a:t> </a:t>
            </a:r>
            <a:r>
              <a:rPr lang="en-US" altLang="zh-TW" sz="2800" dirty="0">
                <a:ea typeface="標楷體" panose="03000509000000000000" pitchFamily="65" charset="-120"/>
              </a:rPr>
              <a:t>Word</a:t>
            </a:r>
            <a:r>
              <a:rPr lang="zh-TW" altLang="en-US" sz="2800" dirty="0">
                <a:ea typeface="標楷體" panose="03000509000000000000" pitchFamily="65" charset="-120"/>
              </a:rPr>
              <a:t> 報告 </a:t>
            </a:r>
            <a:r>
              <a:rPr lang="en-US" altLang="zh-TW" sz="2800" dirty="0">
                <a:ea typeface="標楷體" panose="03000509000000000000" pitchFamily="65" charset="-120"/>
              </a:rPr>
              <a:t>(T18</a:t>
            </a:r>
            <a:r>
              <a:rPr lang="zh-TW" altLang="en-US" sz="2800" dirty="0">
                <a:ea typeface="標楷體" panose="03000509000000000000" pitchFamily="65" charset="-120"/>
              </a:rPr>
              <a:t> 與 </a:t>
            </a:r>
            <a:r>
              <a:rPr lang="en-US" altLang="zh-TW" sz="2800" dirty="0">
                <a:ea typeface="標楷體" panose="03000509000000000000" pitchFamily="65" charset="-120"/>
              </a:rPr>
              <a:t>C18</a:t>
            </a:r>
            <a:r>
              <a:rPr lang="zh-TW" altLang="en-US" sz="2800" dirty="0">
                <a:ea typeface="標楷體" panose="03000509000000000000" pitchFamily="65" charset="-120"/>
              </a:rPr>
              <a:t> 的 </a:t>
            </a:r>
            <a:r>
              <a:rPr lang="en-US" altLang="zh-TW" sz="2800" dirty="0">
                <a:ea typeface="標楷體" panose="03000509000000000000" pitchFamily="65" charset="-120"/>
              </a:rPr>
              <a:t>FA</a:t>
            </a:r>
            <a:r>
              <a:rPr lang="zh-TW" altLang="en-US" sz="2800" dirty="0">
                <a:ea typeface="標楷體" panose="03000509000000000000" pitchFamily="65" charset="-120"/>
              </a:rPr>
              <a:t> 各項數據量測及比較</a:t>
            </a:r>
            <a:r>
              <a:rPr lang="en-US" altLang="zh-TW" sz="2800" dirty="0">
                <a:ea typeface="標楷體" panose="03000509000000000000" pitchFamily="65" charset="-120"/>
              </a:rPr>
              <a:t>)</a:t>
            </a:r>
          </a:p>
          <a:p>
            <a:pPr marL="0" indent="0" algn="just">
              <a:buNone/>
            </a:pPr>
            <a:r>
              <a:rPr lang="zh-TW" altLang="en-US" sz="2800" dirty="0">
                <a:ea typeface="標楷體" panose="03000509000000000000" pitchFamily="65" charset="-120"/>
              </a:rPr>
              <a:t>   </a:t>
            </a:r>
            <a:r>
              <a:rPr lang="en-US" altLang="zh-TW" sz="2800" dirty="0">
                <a:ea typeface="標楷體" panose="03000509000000000000" pitchFamily="65" charset="-120"/>
              </a:rPr>
              <a:t>2.</a:t>
            </a:r>
            <a:r>
              <a:rPr lang="zh-TW" altLang="en-US" sz="2800" dirty="0">
                <a:ea typeface="標楷體" panose="03000509000000000000" pitchFamily="65" charset="-120"/>
              </a:rPr>
              <a:t> </a:t>
            </a:r>
            <a:r>
              <a:rPr lang="en-US" altLang="zh-TW" sz="2800" dirty="0" err="1">
                <a:ea typeface="標楷體" panose="03000509000000000000" pitchFamily="65" charset="-120"/>
              </a:rPr>
              <a:t>gds</a:t>
            </a:r>
            <a:r>
              <a:rPr lang="en-US" altLang="zh-TW" sz="2800" dirty="0">
                <a:ea typeface="標楷體" panose="03000509000000000000" pitchFamily="65" charset="-120"/>
              </a:rPr>
              <a:t> </a:t>
            </a:r>
            <a:r>
              <a:rPr lang="zh-TW" altLang="en-US" sz="2800" dirty="0">
                <a:ea typeface="標楷體" panose="03000509000000000000" pitchFamily="65" charset="-120"/>
              </a:rPr>
              <a:t>檔 </a:t>
            </a:r>
            <a:r>
              <a:rPr lang="en-US" altLang="zh-TW" sz="2800" dirty="0">
                <a:ea typeface="標楷體" panose="03000509000000000000" pitchFamily="65" charset="-120"/>
              </a:rPr>
              <a:t>(</a:t>
            </a:r>
            <a:r>
              <a:rPr lang="zh-TW" altLang="en-US" sz="2800" dirty="0">
                <a:ea typeface="標楷體" panose="03000509000000000000" pitchFamily="65" charset="-120"/>
              </a:rPr>
              <a:t>*</a:t>
            </a:r>
            <a:r>
              <a:rPr lang="en-US" altLang="zh-TW" sz="2800" dirty="0">
                <a:ea typeface="標楷體" panose="03000509000000000000" pitchFamily="65" charset="-120"/>
              </a:rPr>
              <a:t>.</a:t>
            </a:r>
            <a:r>
              <a:rPr lang="en-US" altLang="zh-TW" sz="2800" dirty="0" err="1">
                <a:ea typeface="標楷體" panose="03000509000000000000" pitchFamily="65" charset="-120"/>
              </a:rPr>
              <a:t>gds</a:t>
            </a:r>
            <a:r>
              <a:rPr lang="en-US" altLang="zh-TW" sz="2800" dirty="0">
                <a:ea typeface="標楷體" panose="03000509000000000000" pitchFamily="65" charset="-120"/>
              </a:rPr>
              <a:t> file)</a:t>
            </a:r>
          </a:p>
          <a:p>
            <a:pPr marL="0" indent="0" algn="just">
              <a:buNone/>
            </a:pPr>
            <a:r>
              <a:rPr lang="en-US" altLang="zh-TW" sz="2800" dirty="0">
                <a:ea typeface="標楷體" panose="03000509000000000000" pitchFamily="65" charset="-120"/>
              </a:rPr>
              <a:t>   3. DRC </a:t>
            </a:r>
            <a:r>
              <a:rPr lang="zh-TW" altLang="en-US" sz="2800" dirty="0">
                <a:ea typeface="標楷體" panose="03000509000000000000" pitchFamily="65" charset="-120"/>
              </a:rPr>
              <a:t>及 </a:t>
            </a:r>
            <a:r>
              <a:rPr lang="en-US" altLang="zh-TW" sz="2800" dirty="0">
                <a:ea typeface="標楷體" panose="03000509000000000000" pitchFamily="65" charset="-120"/>
              </a:rPr>
              <a:t>LVS </a:t>
            </a:r>
            <a:r>
              <a:rPr lang="zh-TW" altLang="en-US" sz="2800" dirty="0">
                <a:ea typeface="標楷體" panose="03000509000000000000" pitchFamily="65" charset="-120"/>
              </a:rPr>
              <a:t>截圖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r>
              <a:rPr lang="zh-TW" altLang="en-US" sz="2800" dirty="0">
                <a:ea typeface="標楷體" panose="03000509000000000000" pitchFamily="65" charset="-120"/>
              </a:rPr>
              <a:t>   </a:t>
            </a:r>
            <a:r>
              <a:rPr lang="en-US" altLang="zh-TW" sz="2800" dirty="0">
                <a:ea typeface="標楷體" panose="03000509000000000000" pitchFamily="65" charset="-120"/>
              </a:rPr>
              <a:t>4.</a:t>
            </a:r>
            <a:r>
              <a:rPr lang="zh-TW" altLang="en-US" sz="2800" dirty="0">
                <a:ea typeface="標楷體" panose="03000509000000000000" pitchFamily="65" charset="-120"/>
              </a:rPr>
              <a:t> </a:t>
            </a:r>
            <a:r>
              <a:rPr lang="en-US" altLang="zh-TW" sz="2800" dirty="0">
                <a:ea typeface="標楷體" panose="03000509000000000000" pitchFamily="65" charset="-120"/>
              </a:rPr>
              <a:t>pre-layout spice </a:t>
            </a:r>
            <a:r>
              <a:rPr lang="zh-TW" altLang="en-US" sz="2800" dirty="0">
                <a:ea typeface="標楷體" panose="03000509000000000000" pitchFamily="65" charset="-120"/>
              </a:rPr>
              <a:t>檔 </a:t>
            </a:r>
            <a:r>
              <a:rPr lang="en-US" altLang="zh-TW" sz="2800" dirty="0">
                <a:ea typeface="標楷體" panose="03000509000000000000" pitchFamily="65" charset="-120"/>
              </a:rPr>
              <a:t>(*.</a:t>
            </a:r>
            <a:r>
              <a:rPr lang="en-US" altLang="zh-TW" sz="2800" dirty="0" err="1">
                <a:ea typeface="標楷體" panose="03000509000000000000" pitchFamily="65" charset="-120"/>
              </a:rPr>
              <a:t>sp</a:t>
            </a:r>
            <a:r>
              <a:rPr lang="en-US" altLang="zh-TW" sz="2800" dirty="0">
                <a:ea typeface="標楷體" panose="03000509000000000000" pitchFamily="65" charset="-120"/>
              </a:rPr>
              <a:t> file)</a:t>
            </a:r>
          </a:p>
          <a:p>
            <a:pPr marL="0" indent="0" algn="just">
              <a:buNone/>
            </a:pPr>
            <a:r>
              <a:rPr lang="en-US" altLang="zh-TW" sz="2800" dirty="0">
                <a:ea typeface="標楷體" panose="03000509000000000000" pitchFamily="65" charset="-120"/>
              </a:rPr>
              <a:t>   5. post-layout spice </a:t>
            </a:r>
            <a:r>
              <a:rPr lang="zh-TW" altLang="en-US" sz="2800" dirty="0">
                <a:ea typeface="標楷體" panose="03000509000000000000" pitchFamily="65" charset="-120"/>
              </a:rPr>
              <a:t>檔 </a:t>
            </a:r>
            <a:r>
              <a:rPr lang="en-US" altLang="zh-TW" sz="2800" dirty="0">
                <a:ea typeface="標楷體" panose="03000509000000000000" pitchFamily="65" charset="-120"/>
              </a:rPr>
              <a:t>(</a:t>
            </a:r>
            <a:r>
              <a:rPr lang="zh-TW" altLang="en-US" sz="2800" dirty="0">
                <a:ea typeface="標楷體" panose="03000509000000000000" pitchFamily="65" charset="-120"/>
              </a:rPr>
              <a:t>*</a:t>
            </a:r>
            <a:r>
              <a:rPr lang="en-US" altLang="zh-TW" sz="2800" dirty="0">
                <a:ea typeface="標楷體" panose="03000509000000000000" pitchFamily="65" charset="-120"/>
              </a:rPr>
              <a:t>.</a:t>
            </a:r>
            <a:r>
              <a:rPr lang="en-US" altLang="zh-TW" sz="2800" dirty="0" err="1">
                <a:ea typeface="標楷體" panose="03000509000000000000" pitchFamily="65" charset="-120"/>
              </a:rPr>
              <a:t>sp</a:t>
            </a:r>
            <a:r>
              <a:rPr lang="en-US" altLang="zh-TW" sz="2800" dirty="0">
                <a:ea typeface="標楷體" panose="03000509000000000000" pitchFamily="65" charset="-120"/>
              </a:rPr>
              <a:t> file)</a:t>
            </a:r>
          </a:p>
          <a:p>
            <a:pPr marL="0" indent="0" algn="just">
              <a:buNone/>
            </a:pPr>
            <a:r>
              <a:rPr lang="en-US" altLang="zh-TW" sz="2800" dirty="0">
                <a:ea typeface="標楷體" panose="03000509000000000000" pitchFamily="65" charset="-120"/>
              </a:rPr>
              <a:t>   6. </a:t>
            </a:r>
            <a:r>
              <a:rPr lang="en-US" altLang="zh-TW" sz="2800" dirty="0" err="1">
                <a:ea typeface="標楷體" panose="03000509000000000000" pitchFamily="65" charset="-120"/>
              </a:rPr>
              <a:t>pex</a:t>
            </a:r>
            <a:r>
              <a:rPr lang="en-US" altLang="zh-TW" sz="2800" dirty="0">
                <a:ea typeface="標楷體" panose="03000509000000000000" pitchFamily="65" charset="-120"/>
              </a:rPr>
              <a:t> </a:t>
            </a:r>
            <a:r>
              <a:rPr lang="zh-TW" altLang="en-US" sz="2800" dirty="0">
                <a:ea typeface="標楷體" panose="03000509000000000000" pitchFamily="65" charset="-120"/>
              </a:rPr>
              <a:t>及 </a:t>
            </a:r>
            <a:r>
              <a:rPr lang="en-US" altLang="zh-TW" sz="2800" dirty="0" err="1">
                <a:ea typeface="標楷體" panose="03000509000000000000" pitchFamily="65" charset="-120"/>
              </a:rPr>
              <a:t>pxi</a:t>
            </a:r>
            <a:r>
              <a:rPr lang="en-US" altLang="zh-TW" sz="2800" dirty="0">
                <a:ea typeface="標楷體" panose="03000509000000000000" pitchFamily="65" charset="-120"/>
              </a:rPr>
              <a:t> </a:t>
            </a:r>
            <a:r>
              <a:rPr lang="zh-TW" altLang="en-US" sz="2800" dirty="0">
                <a:ea typeface="標楷體" panose="03000509000000000000" pitchFamily="65" charset="-120"/>
              </a:rPr>
              <a:t>檔 </a:t>
            </a:r>
            <a:r>
              <a:rPr lang="en-US" altLang="zh-TW" sz="2800" dirty="0">
                <a:ea typeface="標楷體" panose="03000509000000000000" pitchFamily="65" charset="-120"/>
              </a:rPr>
              <a:t>(*.</a:t>
            </a:r>
            <a:r>
              <a:rPr lang="en-US" altLang="zh-TW" sz="2800" dirty="0" err="1">
                <a:ea typeface="標楷體" panose="03000509000000000000" pitchFamily="65" charset="-120"/>
              </a:rPr>
              <a:t>pex</a:t>
            </a:r>
            <a:r>
              <a:rPr lang="en-US" altLang="zh-TW" sz="2800" dirty="0">
                <a:ea typeface="標楷體" panose="03000509000000000000" pitchFamily="65" charset="-120"/>
              </a:rPr>
              <a:t> file and *.</a:t>
            </a:r>
            <a:r>
              <a:rPr lang="en-US" altLang="zh-TW" sz="2800" dirty="0" err="1">
                <a:ea typeface="標楷體" panose="03000509000000000000" pitchFamily="65" charset="-120"/>
              </a:rPr>
              <a:t>pxi</a:t>
            </a:r>
            <a:r>
              <a:rPr lang="en-US" altLang="zh-TW" sz="2800" dirty="0">
                <a:ea typeface="標楷體" panose="03000509000000000000" pitchFamily="65" charset="-120"/>
              </a:rPr>
              <a:t> file)</a:t>
            </a:r>
          </a:p>
          <a:p>
            <a:pPr marL="0" indent="0" algn="just">
              <a:buNone/>
            </a:pPr>
            <a:r>
              <a:rPr lang="en-US" altLang="zh-TW" sz="2800" dirty="0">
                <a:ea typeface="標楷體" panose="03000509000000000000" pitchFamily="65" charset="-120"/>
              </a:rPr>
              <a:t>   7. load capacitance </a:t>
            </a:r>
            <a:r>
              <a:rPr lang="zh-TW" altLang="en-US" sz="2800" dirty="0">
                <a:ea typeface="標楷體" panose="03000509000000000000" pitchFamily="65" charset="-120"/>
              </a:rPr>
              <a:t>只需做 </a:t>
            </a:r>
            <a:r>
              <a:rPr lang="en-US" altLang="zh-TW" sz="2800" dirty="0">
                <a:ea typeface="標楷體" panose="03000509000000000000" pitchFamily="65" charset="-120"/>
              </a:rPr>
              <a:t>0pf </a:t>
            </a:r>
            <a:r>
              <a:rPr lang="zh-TW" altLang="en-US" sz="2800" dirty="0">
                <a:ea typeface="標楷體" panose="03000509000000000000" pitchFamily="65" charset="-120"/>
              </a:rPr>
              <a:t>即可 </a:t>
            </a:r>
            <a:r>
              <a:rPr lang="en-US" altLang="zh-TW" sz="2800" dirty="0">
                <a:ea typeface="標楷體" panose="03000509000000000000" pitchFamily="65" charset="-120"/>
              </a:rPr>
              <a:t>(</a:t>
            </a:r>
            <a:r>
              <a:rPr lang="zh-TW" altLang="en-US" sz="2800" dirty="0">
                <a:ea typeface="標楷體" panose="03000509000000000000" pitchFamily="65" charset="-120"/>
              </a:rPr>
              <a:t>也就是不用負載電容</a:t>
            </a:r>
            <a:r>
              <a:rPr lang="en-US" altLang="zh-TW" sz="2800" dirty="0">
                <a:ea typeface="標楷體" panose="03000509000000000000" pitchFamily="65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9411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1971288" y="303957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www.1ppt.com/jiaoan/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论坛：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354" y="5187510"/>
            <a:ext cx="9453357" cy="2045141"/>
          </a:xfrm>
          <a:custGeom>
            <a:avLst/>
            <a:gdLst>
              <a:gd name="T0" fmla="*/ 2 w 4183"/>
              <a:gd name="T1" fmla="*/ 0 h 904"/>
              <a:gd name="T2" fmla="*/ 4183 w 4183"/>
              <a:gd name="T3" fmla="*/ 902 h 904"/>
              <a:gd name="T4" fmla="*/ 0 w 4183"/>
              <a:gd name="T5" fmla="*/ 904 h 904"/>
              <a:gd name="T6" fmla="*/ 2 w 4183"/>
              <a:gd name="T7" fmla="*/ 0 h 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83" h="904">
                <a:moveTo>
                  <a:pt x="2" y="0"/>
                </a:moveTo>
                <a:lnTo>
                  <a:pt x="4183" y="902"/>
                </a:lnTo>
                <a:lnTo>
                  <a:pt x="0" y="904"/>
                </a:lnTo>
                <a:lnTo>
                  <a:pt x="2" y="0"/>
                </a:lnTo>
                <a:close/>
              </a:path>
            </a:pathLst>
          </a:custGeom>
          <a:solidFill>
            <a:srgbClr val="1F4C6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354" y="1"/>
            <a:ext cx="12858043" cy="2081338"/>
          </a:xfrm>
          <a:custGeom>
            <a:avLst/>
            <a:gdLst>
              <a:gd name="T0" fmla="*/ 0 w 5687"/>
              <a:gd name="T1" fmla="*/ 0 h 920"/>
              <a:gd name="T2" fmla="*/ 5687 w 5687"/>
              <a:gd name="T3" fmla="*/ 0 h 920"/>
              <a:gd name="T4" fmla="*/ 5687 w 5687"/>
              <a:gd name="T5" fmla="*/ 920 h 920"/>
              <a:gd name="T6" fmla="*/ 0 w 5687"/>
              <a:gd name="T7" fmla="*/ 0 h 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87" h="920">
                <a:moveTo>
                  <a:pt x="0" y="0"/>
                </a:moveTo>
                <a:lnTo>
                  <a:pt x="5687" y="0"/>
                </a:lnTo>
                <a:lnTo>
                  <a:pt x="5687" y="920"/>
                </a:lnTo>
                <a:lnTo>
                  <a:pt x="0" y="0"/>
                </a:lnTo>
                <a:close/>
              </a:path>
            </a:pathLst>
          </a:custGeom>
          <a:solidFill>
            <a:srgbClr val="1F4C6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354" y="1"/>
            <a:ext cx="12858043" cy="2081338"/>
          </a:xfrm>
          <a:custGeom>
            <a:avLst/>
            <a:gdLst>
              <a:gd name="T0" fmla="*/ 0 w 5687"/>
              <a:gd name="T1" fmla="*/ 0 h 920"/>
              <a:gd name="T2" fmla="*/ 5687 w 5687"/>
              <a:gd name="T3" fmla="*/ 920 h 920"/>
              <a:gd name="T4" fmla="*/ 0 w 5687"/>
              <a:gd name="T5" fmla="*/ 320 h 920"/>
              <a:gd name="T6" fmla="*/ 0 w 5687"/>
              <a:gd name="T7" fmla="*/ 0 h 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87" h="920">
                <a:moveTo>
                  <a:pt x="0" y="0"/>
                </a:moveTo>
                <a:lnTo>
                  <a:pt x="5687" y="920"/>
                </a:lnTo>
                <a:lnTo>
                  <a:pt x="0" y="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矩形 259"/>
          <p:cNvSpPr>
            <a:spLocks noChangeArrowheads="1"/>
          </p:cNvSpPr>
          <p:nvPr/>
        </p:nvSpPr>
        <p:spPr bwMode="auto">
          <a:xfrm>
            <a:off x="2234295" y="2846333"/>
            <a:ext cx="839016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9600" b="1" cap="all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zh-CN" altLang="en-US" sz="9600" b="1" cap="all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259"/>
          <p:cNvSpPr>
            <a:spLocks noChangeArrowheads="1"/>
          </p:cNvSpPr>
          <p:nvPr/>
        </p:nvSpPr>
        <p:spPr bwMode="auto">
          <a:xfrm>
            <a:off x="4668871" y="4336405"/>
            <a:ext cx="352100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TW" altLang="en-US" sz="2800" dirty="0">
                <a:solidFill>
                  <a:schemeClr val="bg1">
                    <a:lumMod val="6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感謝大家的聆聽</a:t>
            </a:r>
            <a:endParaRPr lang="zh-CN" altLang="en-US" sz="2800" dirty="0">
              <a:solidFill>
                <a:schemeClr val="bg1">
                  <a:lumMod val="6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1396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043"/>
</p:tagLst>
</file>

<file path=ppt/theme/theme1.xml><?xml version="1.0" encoding="utf-8"?>
<a:theme xmlns:a="http://schemas.openxmlformats.org/drawingml/2006/main" name="第一PPT，www.1ppt.com">
  <a:themeElements>
    <a:clrScheme name="自定义 2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4C6B"/>
      </a:accent1>
      <a:accent2>
        <a:srgbClr val="D14E5B"/>
      </a:accent2>
      <a:accent3>
        <a:srgbClr val="1F4C6B"/>
      </a:accent3>
      <a:accent4>
        <a:srgbClr val="D14E5B"/>
      </a:accent4>
      <a:accent5>
        <a:srgbClr val="1F4C6B"/>
      </a:accent5>
      <a:accent6>
        <a:srgbClr val="D14E5B"/>
      </a:accent6>
      <a:hlink>
        <a:srgbClr val="1F4C6B"/>
      </a:hlink>
      <a:folHlink>
        <a:srgbClr val="D14E5B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1027</Words>
  <Application>Microsoft Office PowerPoint</Application>
  <PresentationFormat>自訂</PresentationFormat>
  <Paragraphs>154</Paragraphs>
  <Slides>12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標楷體</vt:lpstr>
      <vt:lpstr>Arial</vt:lpstr>
      <vt:lpstr>Calibri</vt:lpstr>
      <vt:lpstr>Calibri Light</vt:lpstr>
      <vt:lpstr>Times New Roman</vt:lpstr>
      <vt:lpstr>Wingdings 3</vt:lpstr>
      <vt:lpstr>第一PPT，www.1ppt.com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subject>https://www.ypppt.com/</dc:subject>
  <dc:creator/>
  <cp:keywords/>
  <cp:lastModifiedBy/>
  <cp:revision>1</cp:revision>
  <dcterms:created xsi:type="dcterms:W3CDTF">2016-10-31T14:24:29Z</dcterms:created>
  <dcterms:modified xsi:type="dcterms:W3CDTF">2023-04-11T05:19:51Z</dcterms:modified>
</cp:coreProperties>
</file>